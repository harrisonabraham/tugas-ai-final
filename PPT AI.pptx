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1" r:id="rId18"/>
    <p:sldId id="270" r:id="rId19"/>
  </p:sldIdLst>
  <p:sldSz cx="12192000" cy="6858000"/>
  <p:notesSz cx="6858000" cy="9144000"/>
  <p:embeddedFontLst>
    <p:embeddedFont>
      <p:font typeface="Calibri" panose="020F0502020204030204"/>
      <p:regular r:id="rId23"/>
      <p:bold r:id="rId24"/>
      <p:italic r:id="rId25"/>
      <p:boldItalic r:id="rId26"/>
    </p:embeddedFont>
    <p:embeddedFont>
      <p:font typeface="Roboto" panose="0200000000000000000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505D6F2-9F4E-442A-A93D-EE256C943408}" styleName="Table_0">
    <a:wholeTbl>
      <a:tcTxStyle>
        <a:font>
          <a:latin typeface="Calibri"/>
          <a:ea typeface="Calibri"/>
          <a:cs typeface="Calibri"/>
        </a:font>
        <a:schemeClr val="dk1"/>
      </a:tcTxStyle>
      <a:tcStyle>
        <a:tcBdr>
          <a:left>
            <a:ln w="12700" cap="flat" cmpd="sng">
              <a:solidFill>
                <a:schemeClr val="accent5"/>
              </a:solidFill>
              <a:prstDash val="solid"/>
              <a:round/>
              <a:headEnd type="none" w="sm" len="sm"/>
              <a:tailEnd type="none" w="sm" len="sm"/>
            </a:ln>
          </a:left>
          <a:right>
            <a:ln w="12700" cap="flat" cmpd="sng">
              <a:solidFill>
                <a:schemeClr val="accent5"/>
              </a:solidFill>
              <a:prstDash val="solid"/>
              <a:round/>
              <a:headEnd type="none" w="sm" len="sm"/>
              <a:tailEnd type="none" w="sm" len="sm"/>
            </a:ln>
          </a:right>
          <a:top>
            <a:ln w="12700" cap="flat" cmpd="sng">
              <a:solidFill>
                <a:schemeClr val="accent5"/>
              </a:solidFill>
              <a:prstDash val="solid"/>
              <a:round/>
              <a:headEnd type="none" w="sm" len="sm"/>
              <a:tailEnd type="none" w="sm" len="sm"/>
            </a:ln>
          </a:top>
          <a:bottom>
            <a:ln w="12700" cap="flat" cmpd="sng">
              <a:solidFill>
                <a:schemeClr val="accent5"/>
              </a:solidFill>
              <a:prstDash val="solid"/>
              <a:round/>
              <a:headEnd type="none" w="sm" len="sm"/>
              <a:tailEnd type="none" w="sm" len="sm"/>
            </a:ln>
          </a:bottom>
          <a:insideH>
            <a:ln w="12700" cap="flat" cmpd="sng">
              <a:solidFill>
                <a:schemeClr val="accent5"/>
              </a:solidFill>
              <a:prstDash val="solid"/>
              <a:round/>
              <a:headEnd type="none" w="sm" len="sm"/>
              <a:tailEnd type="none" w="sm" len="sm"/>
            </a:ln>
          </a:insideH>
          <a:insideV>
            <a:ln w="12700" cap="flat" cmpd="sng">
              <a:solidFill>
                <a:schemeClr val="accent5"/>
              </a:solidFill>
              <a:prstDash val="solid"/>
              <a:round/>
              <a:headEnd type="none" w="sm" len="sm"/>
              <a:tailEnd type="none" w="sm" len="sm"/>
            </a:ln>
          </a:insideV>
        </a:tcBdr>
        <a:fill>
          <a:solidFill>
            <a:srgbClr val="FFFFFF">
              <a:alpha val="0"/>
            </a:srgbClr>
          </a:solid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band2V>
      <a:tcStyle>
        <a:tcBdr/>
      </a:tcStyle>
    </a:band2V>
    <a:lastCol>
      <a:tcTxStyle b="on"/>
      <a:tcStyle>
        <a:tcBdr/>
      </a:tcStyle>
    </a:lastCol>
    <a:firstCol>
      <a:tcTxStyle b="on"/>
      <a:tcStyle>
        <a:tcBdr/>
      </a:tcStyle>
    </a:firstCol>
    <a:lastRow>
      <a:tcTxStyle b="on"/>
      <a:tcStyle>
        <a:tcBdr>
          <a:top>
            <a:ln w="50800" cap="flat" cmpd="sng">
              <a:solidFill>
                <a:schemeClr val="accent5"/>
              </a:solidFill>
              <a:prstDash val="solid"/>
              <a:round/>
              <a:headEnd type="none" w="sm" len="sm"/>
              <a:tailEnd type="none" w="sm" len="sm"/>
            </a:ln>
          </a:top>
        </a:tcBdr>
        <a:fill>
          <a:solidFill>
            <a:srgbClr val="FFFFFF">
              <a:alpha val="0"/>
            </a:srgbClr>
          </a:solidFill>
        </a:fill>
      </a:tcStyle>
    </a:lastRow>
    <a:seCell>
      <a:tcStyle>
        <a:tcBdr/>
      </a:tcStyle>
    </a:seCell>
    <a:swCell>
      <a:tcStyle>
        <a:tcBdr/>
      </a:tcStyle>
    </a:swCell>
    <a:firstRow>
      <a:tcTxStyle b="on"/>
      <a:tcStyle>
        <a:tcBdr>
          <a:bottom>
            <a:ln w="25400" cap="flat" cmpd="sng">
              <a:solidFill>
                <a:schemeClr val="accent5"/>
              </a:solidFill>
              <a:prstDash val="solid"/>
              <a:round/>
              <a:headEnd type="none" w="sm" len="sm"/>
              <a:tailEnd type="none" w="sm" len="sm"/>
            </a:ln>
          </a:bottom>
        </a:tcBdr>
        <a:fill>
          <a:solidFill>
            <a:srgbClr val="FFFFFF">
              <a:alpha val="0"/>
            </a:srgbClr>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0" Type="http://schemas.openxmlformats.org/officeDocument/2006/relationships/font" Target="fonts/font8.fntdata"/><Relationship Id="rId3" Type="http://schemas.openxmlformats.org/officeDocument/2006/relationships/slide" Target="slides/slide1.xml"/><Relationship Id="rId29" Type="http://schemas.openxmlformats.org/officeDocument/2006/relationships/font" Target="fonts/font7.fntdata"/><Relationship Id="rId28" Type="http://schemas.openxmlformats.org/officeDocument/2006/relationships/font" Target="fonts/font6.fntdata"/><Relationship Id="rId27" Type="http://schemas.openxmlformats.org/officeDocument/2006/relationships/font" Target="fonts/font5.fntdata"/><Relationship Id="rId26" Type="http://schemas.openxmlformats.org/officeDocument/2006/relationships/font" Target="fonts/font4.fntdata"/><Relationship Id="rId25" Type="http://schemas.openxmlformats.org/officeDocument/2006/relationships/font" Target="fonts/font3.fntdata"/><Relationship Id="rId24" Type="http://schemas.openxmlformats.org/officeDocument/2006/relationships/font" Target="fonts/font2.fntdata"/><Relationship Id="rId23" Type="http://schemas.openxmlformats.org/officeDocument/2006/relationships/font" Target="fonts/font1.fntdata"/><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0" name="Shape 80"/>
        <p:cNvGrpSpPr/>
        <p:nvPr/>
      </p:nvGrpSpPr>
      <p:grpSpPr>
        <a:xfrm>
          <a:off x="0" y="0"/>
          <a:ext cx="0" cy="0"/>
          <a:chOff x="0" y="0"/>
          <a:chExt cx="0" cy="0"/>
        </a:xfrm>
      </p:grpSpPr>
      <p:sp>
        <p:nvSpPr>
          <p:cNvPr id="81" name="Google Shape;81;p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2" name="Google Shape;82;p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90" name="Shape 90"/>
        <p:cNvGrpSpPr/>
        <p:nvPr/>
      </p:nvGrpSpPr>
      <p:grpSpPr>
        <a:xfrm>
          <a:off x="0" y="0"/>
          <a:ext cx="0" cy="0"/>
          <a:chOff x="0" y="0"/>
          <a:chExt cx="0" cy="0"/>
        </a:xfrm>
      </p:grpSpPr>
      <p:sp>
        <p:nvSpPr>
          <p:cNvPr id="91" name="Google Shape;91;p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2" name="Google Shape;92;p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96" name="Shape 96"/>
        <p:cNvGrpSpPr/>
        <p:nvPr/>
      </p:nvGrpSpPr>
      <p:grpSpPr>
        <a:xfrm>
          <a:off x="0" y="0"/>
          <a:ext cx="0" cy="0"/>
          <a:chOff x="0" y="0"/>
          <a:chExt cx="0" cy="0"/>
        </a:xfrm>
      </p:grpSpPr>
      <p:sp>
        <p:nvSpPr>
          <p:cNvPr id="97" name="Google Shape;97;p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8" name="Google Shape;98;p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0" name="Shape 120"/>
        <p:cNvGrpSpPr/>
        <p:nvPr/>
      </p:nvGrpSpPr>
      <p:grpSpPr>
        <a:xfrm>
          <a:off x="0" y="0"/>
          <a:ext cx="0" cy="0"/>
          <a:chOff x="0" y="0"/>
          <a:chExt cx="0" cy="0"/>
        </a:xfrm>
      </p:grpSpPr>
      <p:sp>
        <p:nvSpPr>
          <p:cNvPr id="121" name="Google Shape;121;p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22" name="Google Shape;122;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6" name="Shape 126"/>
        <p:cNvGrpSpPr/>
        <p:nvPr/>
      </p:nvGrpSpPr>
      <p:grpSpPr>
        <a:xfrm>
          <a:off x="0" y="0"/>
          <a:ext cx="0" cy="0"/>
          <a:chOff x="0" y="0"/>
          <a:chExt cx="0" cy="0"/>
        </a:xfrm>
      </p:grpSpPr>
      <p:sp>
        <p:nvSpPr>
          <p:cNvPr id="127" name="Google Shape;127;p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28" name="Google Shape;128;p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2" name="Shape 132"/>
        <p:cNvGrpSpPr/>
        <p:nvPr/>
      </p:nvGrpSpPr>
      <p:grpSpPr>
        <a:xfrm>
          <a:off x="0" y="0"/>
          <a:ext cx="0" cy="0"/>
          <a:chOff x="0" y="0"/>
          <a:chExt cx="0" cy="0"/>
        </a:xfrm>
      </p:grpSpPr>
      <p:sp>
        <p:nvSpPr>
          <p:cNvPr id="133" name="Google Shape;133;p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34" name="Google Shape;134;p6: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8" name="Shape 138"/>
        <p:cNvGrpSpPr/>
        <p:nvPr/>
      </p:nvGrpSpPr>
      <p:grpSpPr>
        <a:xfrm>
          <a:off x="0" y="0"/>
          <a:ext cx="0" cy="0"/>
          <a:chOff x="0" y="0"/>
          <a:chExt cx="0" cy="0"/>
        </a:xfrm>
      </p:grpSpPr>
      <p:sp>
        <p:nvSpPr>
          <p:cNvPr id="139" name="Google Shape;139;p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0" name="Google Shape;140;p7: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5" name="Shape 145"/>
        <p:cNvGrpSpPr/>
        <p:nvPr/>
      </p:nvGrpSpPr>
      <p:grpSpPr>
        <a:xfrm>
          <a:off x="0" y="0"/>
          <a:ext cx="0" cy="0"/>
          <a:chOff x="0" y="0"/>
          <a:chExt cx="0" cy="0"/>
        </a:xfrm>
      </p:grpSpPr>
      <p:sp>
        <p:nvSpPr>
          <p:cNvPr id="146" name="Google Shape;146;p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7" name="Google Shape;147;p8: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2" name="Shape 152"/>
        <p:cNvGrpSpPr/>
        <p:nvPr/>
      </p:nvGrpSpPr>
      <p:grpSpPr>
        <a:xfrm>
          <a:off x="0" y="0"/>
          <a:ext cx="0" cy="0"/>
          <a:chOff x="0" y="0"/>
          <a:chExt cx="0" cy="0"/>
        </a:xfrm>
      </p:grpSpPr>
      <p:sp>
        <p:nvSpPr>
          <p:cNvPr id="153" name="Google Shape;153;p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54" name="Google Shape;154;p9: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5" name="Shape 175"/>
        <p:cNvGrpSpPr/>
        <p:nvPr/>
      </p:nvGrpSpPr>
      <p:grpSpPr>
        <a:xfrm>
          <a:off x="0" y="0"/>
          <a:ext cx="0" cy="0"/>
          <a:chOff x="0" y="0"/>
          <a:chExt cx="0" cy="0"/>
        </a:xfrm>
      </p:grpSpPr>
      <p:sp>
        <p:nvSpPr>
          <p:cNvPr id="176" name="Google Shape;176;p1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77" name="Google Shape;177;p10: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1" name="Shape 181"/>
        <p:cNvGrpSpPr/>
        <p:nvPr/>
      </p:nvGrpSpPr>
      <p:grpSpPr>
        <a:xfrm>
          <a:off x="0" y="0"/>
          <a:ext cx="0" cy="0"/>
          <a:chOff x="0" y="0"/>
          <a:chExt cx="0" cy="0"/>
        </a:xfrm>
      </p:grpSpPr>
      <p:sp>
        <p:nvSpPr>
          <p:cNvPr id="182" name="Google Shape;182;p1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83" name="Google Shape;183;p1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7" name="Shape 187"/>
        <p:cNvGrpSpPr/>
        <p:nvPr/>
      </p:nvGrpSpPr>
      <p:grpSpPr>
        <a:xfrm>
          <a:off x="0" y="0"/>
          <a:ext cx="0" cy="0"/>
          <a:chOff x="0" y="0"/>
          <a:chExt cx="0" cy="0"/>
        </a:xfrm>
      </p:grpSpPr>
      <p:sp>
        <p:nvSpPr>
          <p:cNvPr id="188" name="Google Shape;188;p1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89" name="Google Shape;189;p1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3" name="Shape 193"/>
        <p:cNvGrpSpPr/>
        <p:nvPr/>
      </p:nvGrpSpPr>
      <p:grpSpPr>
        <a:xfrm>
          <a:off x="0" y="0"/>
          <a:ext cx="0" cy="0"/>
          <a:chOff x="0" y="0"/>
          <a:chExt cx="0" cy="0"/>
        </a:xfrm>
      </p:grpSpPr>
      <p:sp>
        <p:nvSpPr>
          <p:cNvPr id="194" name="Google Shape;194;p1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5" name="Google Shape;195;p1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9" name="Shape 199"/>
        <p:cNvGrpSpPr/>
        <p:nvPr/>
      </p:nvGrpSpPr>
      <p:grpSpPr>
        <a:xfrm>
          <a:off x="0" y="0"/>
          <a:ext cx="0" cy="0"/>
          <a:chOff x="0" y="0"/>
          <a:chExt cx="0" cy="0"/>
        </a:xfrm>
      </p:grpSpPr>
      <p:sp>
        <p:nvSpPr>
          <p:cNvPr id="200" name="Google Shape;200;p1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01" name="Google Shape;201;p1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5" name="Shape 205"/>
        <p:cNvGrpSpPr/>
        <p:nvPr/>
      </p:nvGrpSpPr>
      <p:grpSpPr>
        <a:xfrm>
          <a:off x="0" y="0"/>
          <a:ext cx="0" cy="0"/>
          <a:chOff x="0" y="0"/>
          <a:chExt cx="0" cy="0"/>
        </a:xfrm>
      </p:grpSpPr>
      <p:sp>
        <p:nvSpPr>
          <p:cNvPr id="206" name="Google Shape;206;p1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07" name="Google Shape;207;p1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D"/>
            </a:fld>
            <a:endParaRPr lang="en-I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0" name="Google Shape;20;p3"/>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D"/>
            </a:fld>
            <a:endParaRPr lang="en-I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4"/>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D"/>
            </a:fld>
            <a:endParaRPr lang="en-I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29" name="Shape 29"/>
        <p:cNvGrpSpPr/>
        <p:nvPr/>
      </p:nvGrpSpPr>
      <p:grpSpPr>
        <a:xfrm>
          <a:off x="0" y="0"/>
          <a:ext cx="0" cy="0"/>
          <a:chOff x="0" y="0"/>
          <a:chExt cx="0" cy="0"/>
        </a:xfrm>
      </p:grpSpPr>
      <p:sp>
        <p:nvSpPr>
          <p:cNvPr id="30" name="Google Shape;30;p5"/>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2" name="Google Shape;32;p5"/>
          <p:cNvSpPr txBox="1"/>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3" name="Google Shape;33;p5"/>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D"/>
            </a:fld>
            <a:endParaRPr lang="en-I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36" name="Shape 36"/>
        <p:cNvGrpSpPr/>
        <p:nvPr/>
      </p:nvGrpSpPr>
      <p:grpSpPr>
        <a:xfrm>
          <a:off x="0" y="0"/>
          <a:ext cx="0" cy="0"/>
          <a:chOff x="0" y="0"/>
          <a:chExt cx="0" cy="0"/>
        </a:xfrm>
      </p:grpSpPr>
      <p:sp>
        <p:nvSpPr>
          <p:cNvPr id="37" name="Google Shape;37;p6"/>
          <p:cNvSpPr txBox="1"/>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39" name="Google Shape;39;p6"/>
          <p:cNvSpPr txBox="1"/>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0" name="Google Shape;40;p6"/>
          <p:cNvSpPr txBox="1"/>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1" name="Google Shape;41;p6"/>
          <p:cNvSpPr txBox="1"/>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2" name="Google Shape;42;p6"/>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D"/>
            </a:fld>
            <a:endParaRPr lang="en-ID"/>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D"/>
            </a:fld>
            <a:endParaRPr lang="en-ID"/>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50" name="Shape 50"/>
        <p:cNvGrpSpPr/>
        <p:nvPr/>
      </p:nvGrpSpPr>
      <p:grpSpPr>
        <a:xfrm>
          <a:off x="0" y="0"/>
          <a:ext cx="0" cy="0"/>
          <a:chOff x="0" y="0"/>
          <a:chExt cx="0" cy="0"/>
        </a:xfrm>
      </p:grpSpPr>
      <p:sp>
        <p:nvSpPr>
          <p:cNvPr id="51" name="Google Shape;51;p8"/>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D"/>
            </a:fld>
            <a:endParaRPr lang="en-ID"/>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57" name="Google Shape;57;p9"/>
          <p:cNvSpPr txBox="1"/>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58" name="Google Shape;58;p9"/>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D"/>
            </a:fld>
            <a:endParaRPr lang="en-ID"/>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type="pic" idx="2"/>
          </p:nvPr>
        </p:nvSpPr>
        <p:spPr>
          <a:xfrm>
            <a:off x="5183188" y="987425"/>
            <a:ext cx="6172200" cy="4873625"/>
          </a:xfrm>
          <a:prstGeom prst="rect">
            <a:avLst/>
          </a:prstGeom>
          <a:noFill/>
          <a:ln>
            <a:noFill/>
          </a:ln>
        </p:spPr>
      </p:sp>
      <p:sp>
        <p:nvSpPr>
          <p:cNvPr id="64" name="Google Shape;64;p10"/>
          <p:cNvSpPr txBox="1"/>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5" name="Google Shape;65;p10"/>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D"/>
            </a:fld>
            <a:endParaRPr lang="en-ID"/>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1" name="Google Shape;71;p11"/>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D"/>
            </a:fld>
            <a:endParaRPr lang="en-ID"/>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7" name="Google Shape;77;p12"/>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D"/>
            </a:fld>
            <a:endParaRPr lang="en-ID"/>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p1"/>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9" name="Google Shape;9;p1"/>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 name="Google Shape;10;p1"/>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D"/>
            </a:fld>
            <a:endParaRPr lang="en-ID"/>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83" name="Shape 83"/>
        <p:cNvGrpSpPr/>
        <p:nvPr/>
      </p:nvGrpSpPr>
      <p:grpSpPr>
        <a:xfrm>
          <a:off x="0" y="0"/>
          <a:ext cx="0" cy="0"/>
          <a:chOff x="0" y="0"/>
          <a:chExt cx="0" cy="0"/>
        </a:xfrm>
      </p:grpSpPr>
      <p:sp>
        <p:nvSpPr>
          <p:cNvPr id="84" name="Google Shape;84;p13"/>
          <p:cNvSpPr txBox="1"/>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chemeClr val="dk1"/>
              </a:buClr>
              <a:buSzPct val="100000"/>
              <a:buFont typeface="Calibri" panose="020F0502020204030204"/>
              <a:buNone/>
            </a:pPr>
            <a:r>
              <a:rPr lang="en-ID"/>
              <a:t>&lt;&lt;</a:t>
            </a:r>
            <a:r>
              <a:rPr lang="en-ID" sz="3375"/>
              <a:t>Perancangan Sistem Rekomendasi Buku Pembelajaran Berbasis Content-Based Filtering untuk Meningkatkan Kualitas Belajar Siswa SMA”</a:t>
            </a:r>
            <a:r>
              <a:rPr lang="en-ID"/>
              <a:t>&gt;&gt;</a:t>
            </a:r>
            <a:endParaRPr lang="en-ID"/>
          </a:p>
        </p:txBody>
      </p:sp>
      <p:sp>
        <p:nvSpPr>
          <p:cNvPr id="85" name="Google Shape;85;p13"/>
          <p:cNvSpPr txBox="1"/>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ID"/>
              <a:t>&lt;&lt;Jochelino Felix Kurniawan - 71241156 &gt;&gt;</a:t>
            </a:r>
            <a:endParaRPr lang="en-ID"/>
          </a:p>
          <a:p>
            <a:pPr marL="0" lvl="0" indent="0" algn="ctr" rtl="0">
              <a:lnSpc>
                <a:spcPct val="90000"/>
              </a:lnSpc>
              <a:spcBef>
                <a:spcPts val="1000"/>
              </a:spcBef>
              <a:spcAft>
                <a:spcPts val="0"/>
              </a:spcAft>
              <a:buClr>
                <a:schemeClr val="dk1"/>
              </a:buClr>
              <a:buSzPts val="2400"/>
              <a:buNone/>
            </a:pPr>
            <a:r>
              <a:rPr lang="en-ID"/>
              <a:t>&lt;&lt;Harrison Abraham Pribadi – 71241151&gt;&gt;</a:t>
            </a:r>
            <a:endParaRPr lang="en-ID"/>
          </a:p>
          <a:p>
            <a:pPr marL="0" lvl="0" indent="0" algn="ctr" rtl="0">
              <a:lnSpc>
                <a:spcPct val="90000"/>
              </a:lnSpc>
              <a:spcBef>
                <a:spcPts val="1000"/>
              </a:spcBef>
              <a:spcAft>
                <a:spcPts val="0"/>
              </a:spcAft>
              <a:buClr>
                <a:schemeClr val="dk1"/>
              </a:buClr>
              <a:buSzPts val="2400"/>
              <a:buNone/>
            </a:pPr>
            <a:r>
              <a:rPr lang="en-ID"/>
              <a:t>&lt;&lt;Samuel Varabu Djahimo – 71241125&gt;&gt;</a:t>
            </a:r>
            <a:endParaRPr lang="en-ID"/>
          </a:p>
        </p:txBody>
      </p:sp>
      <p:sp>
        <p:nvSpPr>
          <p:cNvPr id="86" name="Google Shape;86;p13"/>
          <p:cNvSpPr txBox="1"/>
          <p:nvPr/>
        </p:nvSpPr>
        <p:spPr>
          <a:xfrm>
            <a:off x="9932894" y="242047"/>
            <a:ext cx="1913963" cy="1018335"/>
          </a:xfrm>
          <a:prstGeom prst="rect">
            <a:avLst/>
          </a:prstGeom>
          <a:noFill/>
          <a:ln>
            <a:noFill/>
          </a:ln>
        </p:spPr>
        <p:txBody>
          <a:bodyPr spcFirstLastPara="1" wrap="square" lIns="91425" tIns="45700" rIns="91425" bIns="45700" anchor="b" anchorCtr="0">
            <a:normAutofit lnSpcReduction="10000"/>
          </a:bodyPr>
          <a:lstStyle/>
          <a:p>
            <a:pPr marL="0" marR="0" lvl="0" indent="0" algn="ctr" rtl="0">
              <a:lnSpc>
                <a:spcPct val="90000"/>
              </a:lnSpc>
              <a:spcBef>
                <a:spcPts val="0"/>
              </a:spcBef>
              <a:spcAft>
                <a:spcPts val="0"/>
              </a:spcAft>
              <a:buClr>
                <a:schemeClr val="dk1"/>
              </a:buClr>
              <a:buSzPts val="3600"/>
              <a:buFont typeface="Calibri" panose="020F0502020204030204"/>
              <a:buNone/>
            </a:pPr>
            <a:r>
              <a:rPr lang="en-ID" sz="3600" b="0" i="0" u="none" strike="noStrike" cap="none">
                <a:solidFill>
                  <a:schemeClr val="dk1"/>
                </a:solidFill>
                <a:latin typeface="Calibri" panose="020F0502020204030204"/>
                <a:ea typeface="Calibri" panose="020F0502020204030204"/>
                <a:cs typeface="Calibri" panose="020F0502020204030204"/>
                <a:sym typeface="Calibri" panose="020F0502020204030204"/>
              </a:rPr>
              <a:t>Capstone Project</a:t>
            </a:r>
            <a:endParaRPr sz="3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87" name="Google Shape;87;p13" descr="Logo UKDW (Universitas Kristen Duta Wacana) - rekreartive"/>
          <p:cNvPicPr preferRelativeResize="0"/>
          <p:nvPr/>
        </p:nvPicPr>
        <p:blipFill rotWithShape="1">
          <a:blip r:embed="rId1"/>
          <a:srcRect/>
          <a:stretch>
            <a:fillRect/>
          </a:stretch>
        </p:blipFill>
        <p:spPr>
          <a:xfrm>
            <a:off x="345143" y="120081"/>
            <a:ext cx="896403" cy="1140301"/>
          </a:xfrm>
          <a:prstGeom prst="rect">
            <a:avLst/>
          </a:prstGeom>
          <a:noFill/>
          <a:ln>
            <a:noFill/>
          </a:ln>
        </p:spPr>
      </p:pic>
      <p:pic>
        <p:nvPicPr>
          <p:cNvPr id="88" name="Google Shape;88;p13" descr="Fakultas Teknologi Informasi | UKDW"/>
          <p:cNvPicPr preferRelativeResize="0"/>
          <p:nvPr/>
        </p:nvPicPr>
        <p:blipFill rotWithShape="1">
          <a:blip r:embed="rId2"/>
          <a:srcRect/>
          <a:stretch>
            <a:fillRect/>
          </a:stretch>
        </p:blipFill>
        <p:spPr>
          <a:xfrm>
            <a:off x="1396180" y="141242"/>
            <a:ext cx="1697256" cy="1166863"/>
          </a:xfrm>
          <a:prstGeom prst="rect">
            <a:avLst/>
          </a:prstGeom>
          <a:noFill/>
          <a:ln>
            <a:noFill/>
          </a:ln>
        </p:spPr>
      </p:pic>
      <p:pic>
        <p:nvPicPr>
          <p:cNvPr id="89" name="Google Shape;89;p13" descr="Informatika | UKDW"/>
          <p:cNvPicPr preferRelativeResize="0"/>
          <p:nvPr/>
        </p:nvPicPr>
        <p:blipFill rotWithShape="1">
          <a:blip r:embed="rId3"/>
          <a:srcRect/>
          <a:stretch>
            <a:fillRect/>
          </a:stretch>
        </p:blipFill>
        <p:spPr>
          <a:xfrm>
            <a:off x="3221256" y="17188"/>
            <a:ext cx="2045110" cy="141497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93" name="Shape 93"/>
        <p:cNvGrpSpPr/>
        <p:nvPr/>
      </p:nvGrpSpPr>
      <p:grpSpPr>
        <a:xfrm>
          <a:off x="0" y="0"/>
          <a:ext cx="0" cy="0"/>
          <a:chOff x="0" y="0"/>
          <a:chExt cx="0" cy="0"/>
        </a:xfrm>
      </p:grpSpPr>
      <p:sp>
        <p:nvSpPr>
          <p:cNvPr id="94" name="Google Shape;94;p14"/>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panose="020F0502020204030204"/>
              <a:buNone/>
            </a:pPr>
            <a:r>
              <a:rPr lang="en-ID"/>
              <a:t>Petunjuk Pengisian</a:t>
            </a:r>
            <a:endParaRPr lang="en-ID"/>
          </a:p>
        </p:txBody>
      </p:sp>
      <p:sp>
        <p:nvSpPr>
          <p:cNvPr id="95" name="Google Shape;95;p14"/>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ID"/>
              <a:t>Gunakan Template ini untuk mengisi slideck capstone project</a:t>
            </a:r>
            <a:endParaRPr lang="en-ID"/>
          </a:p>
          <a:p>
            <a:pPr marL="228600" lvl="0" indent="-228600" algn="l" rtl="0">
              <a:lnSpc>
                <a:spcPct val="90000"/>
              </a:lnSpc>
              <a:spcBef>
                <a:spcPts val="1000"/>
              </a:spcBef>
              <a:spcAft>
                <a:spcPts val="0"/>
              </a:spcAft>
              <a:buClr>
                <a:schemeClr val="dk1"/>
              </a:buClr>
              <a:buSzPts val="2800"/>
              <a:buChar char="•"/>
            </a:pPr>
            <a:r>
              <a:rPr lang="en-ID"/>
              <a:t>Template dapat diisi sesuai dengan project yang diangkat dalam kasus</a:t>
            </a:r>
            <a:endParaRPr lang="en-ID"/>
          </a:p>
          <a:p>
            <a:pPr marL="228600" lvl="0" indent="-228600" algn="l" rtl="0">
              <a:lnSpc>
                <a:spcPct val="90000"/>
              </a:lnSpc>
              <a:spcBef>
                <a:spcPts val="1000"/>
              </a:spcBef>
              <a:spcAft>
                <a:spcPts val="0"/>
              </a:spcAft>
              <a:buClr>
                <a:schemeClr val="dk1"/>
              </a:buClr>
              <a:buSzPts val="2800"/>
              <a:buChar char="•"/>
            </a:pPr>
            <a:r>
              <a:rPr lang="en-ID"/>
              <a:t>Jumlah halaman bisa disesuaikan dengan scope / ruang lingkup dari project</a:t>
            </a:r>
            <a:endParaRPr lang="en-ID"/>
          </a:p>
          <a:p>
            <a:pPr marL="228600" lvl="0" indent="-228600" algn="l" rtl="0">
              <a:lnSpc>
                <a:spcPct val="90000"/>
              </a:lnSpc>
              <a:spcBef>
                <a:spcPts val="1000"/>
              </a:spcBef>
              <a:spcAft>
                <a:spcPts val="0"/>
              </a:spcAft>
              <a:buClr>
                <a:schemeClr val="dk1"/>
              </a:buClr>
              <a:buSzPts val="2800"/>
              <a:buChar char="•"/>
            </a:pPr>
            <a:r>
              <a:rPr lang="en-ID"/>
              <a:t>Anda dapat menambahkan bagian lain jika dirasa perlu </a:t>
            </a:r>
            <a:endParaRPr lang="en-ID"/>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99" name="Shape 99"/>
        <p:cNvGrpSpPr/>
        <p:nvPr/>
      </p:nvGrpSpPr>
      <p:grpSpPr>
        <a:xfrm>
          <a:off x="0" y="0"/>
          <a:ext cx="0" cy="0"/>
          <a:chOff x="0" y="0"/>
          <a:chExt cx="0" cy="0"/>
        </a:xfrm>
      </p:grpSpPr>
      <p:sp>
        <p:nvSpPr>
          <p:cNvPr id="100" name="Google Shape;100;p15"/>
          <p:cNvSpPr txBox="1"/>
          <p:nvPr>
            <p:ph type="title"/>
          </p:nvPr>
        </p:nvSpPr>
        <p:spPr>
          <a:xfrm>
            <a:off x="838200" y="329266"/>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panose="020F0502020204030204"/>
              <a:buNone/>
            </a:pPr>
            <a:r>
              <a:rPr lang="en-ID"/>
              <a:t>AI Project Cycle</a:t>
            </a:r>
            <a:endParaRPr lang="en-ID"/>
          </a:p>
        </p:txBody>
      </p:sp>
      <p:grpSp>
        <p:nvGrpSpPr>
          <p:cNvPr id="101" name="Google Shape;101;p15"/>
          <p:cNvGrpSpPr/>
          <p:nvPr/>
        </p:nvGrpSpPr>
        <p:grpSpPr>
          <a:xfrm>
            <a:off x="1373563" y="1960313"/>
            <a:ext cx="8638050" cy="2730332"/>
            <a:chOff x="1504171" y="2114125"/>
            <a:chExt cx="8638050" cy="2730332"/>
          </a:xfrm>
        </p:grpSpPr>
        <p:sp>
          <p:nvSpPr>
            <p:cNvPr id="102" name="Google Shape;102;p15"/>
            <p:cNvSpPr/>
            <p:nvPr/>
          </p:nvSpPr>
          <p:spPr>
            <a:xfrm>
              <a:off x="1504171" y="2114125"/>
              <a:ext cx="1440180" cy="1412240"/>
            </a:xfrm>
            <a:custGeom>
              <a:avLst/>
              <a:gdLst/>
              <a:ahLst/>
              <a:cxnLst/>
              <a:rect l="l" t="t" r="r" b="b"/>
              <a:pathLst>
                <a:path w="1080135" h="1059180" extrusionOk="0">
                  <a:moveTo>
                    <a:pt x="539762" y="0"/>
                  </a:moveTo>
                  <a:lnTo>
                    <a:pt x="490638" y="2163"/>
                  </a:lnTo>
                  <a:lnTo>
                    <a:pt x="442748" y="8527"/>
                  </a:lnTo>
                  <a:lnTo>
                    <a:pt x="396284" y="18907"/>
                  </a:lnTo>
                  <a:lnTo>
                    <a:pt x="351435" y="33115"/>
                  </a:lnTo>
                  <a:lnTo>
                    <a:pt x="308393" y="50964"/>
                  </a:lnTo>
                  <a:lnTo>
                    <a:pt x="267349" y="72267"/>
                  </a:lnTo>
                  <a:lnTo>
                    <a:pt x="228492" y="96838"/>
                  </a:lnTo>
                  <a:lnTo>
                    <a:pt x="192014" y="124489"/>
                  </a:lnTo>
                  <a:lnTo>
                    <a:pt x="158105" y="155035"/>
                  </a:lnTo>
                  <a:lnTo>
                    <a:pt x="126956" y="188287"/>
                  </a:lnTo>
                  <a:lnTo>
                    <a:pt x="98758" y="224059"/>
                  </a:lnTo>
                  <a:lnTo>
                    <a:pt x="73700" y="262165"/>
                  </a:lnTo>
                  <a:lnTo>
                    <a:pt x="51975" y="302417"/>
                  </a:lnTo>
                  <a:lnTo>
                    <a:pt x="33772" y="344629"/>
                  </a:lnTo>
                  <a:lnTo>
                    <a:pt x="19283" y="388614"/>
                  </a:lnTo>
                  <a:lnTo>
                    <a:pt x="8697" y="434184"/>
                  </a:lnTo>
                  <a:lnTo>
                    <a:pt x="2206" y="481154"/>
                  </a:lnTo>
                  <a:lnTo>
                    <a:pt x="0" y="529335"/>
                  </a:lnTo>
                  <a:lnTo>
                    <a:pt x="2206" y="577517"/>
                  </a:lnTo>
                  <a:lnTo>
                    <a:pt x="8697" y="624487"/>
                  </a:lnTo>
                  <a:lnTo>
                    <a:pt x="19283" y="670057"/>
                  </a:lnTo>
                  <a:lnTo>
                    <a:pt x="33772" y="714042"/>
                  </a:lnTo>
                  <a:lnTo>
                    <a:pt x="51975" y="756254"/>
                  </a:lnTo>
                  <a:lnTo>
                    <a:pt x="73700" y="796506"/>
                  </a:lnTo>
                  <a:lnTo>
                    <a:pt x="98758" y="834612"/>
                  </a:lnTo>
                  <a:lnTo>
                    <a:pt x="126956" y="870384"/>
                  </a:lnTo>
                  <a:lnTo>
                    <a:pt x="158105" y="903636"/>
                  </a:lnTo>
                  <a:lnTo>
                    <a:pt x="192014" y="934182"/>
                  </a:lnTo>
                  <a:lnTo>
                    <a:pt x="228492" y="961833"/>
                  </a:lnTo>
                  <a:lnTo>
                    <a:pt x="267349" y="986404"/>
                  </a:lnTo>
                  <a:lnTo>
                    <a:pt x="308393" y="1007707"/>
                  </a:lnTo>
                  <a:lnTo>
                    <a:pt x="351435" y="1025556"/>
                  </a:lnTo>
                  <a:lnTo>
                    <a:pt x="396284" y="1039764"/>
                  </a:lnTo>
                  <a:lnTo>
                    <a:pt x="442748" y="1050144"/>
                  </a:lnTo>
                  <a:lnTo>
                    <a:pt x="490638" y="1056508"/>
                  </a:lnTo>
                  <a:lnTo>
                    <a:pt x="539762" y="1058671"/>
                  </a:lnTo>
                  <a:lnTo>
                    <a:pt x="588905" y="1056508"/>
                  </a:lnTo>
                  <a:lnTo>
                    <a:pt x="636809" y="1050144"/>
                  </a:lnTo>
                  <a:lnTo>
                    <a:pt x="683284" y="1039764"/>
                  </a:lnTo>
                  <a:lnTo>
                    <a:pt x="728139" y="1025556"/>
                  </a:lnTo>
                  <a:lnTo>
                    <a:pt x="771184" y="1007707"/>
                  </a:lnTo>
                  <a:lnTo>
                    <a:pt x="812229" y="986404"/>
                  </a:lnTo>
                  <a:lnTo>
                    <a:pt x="851084" y="961833"/>
                  </a:lnTo>
                  <a:lnTo>
                    <a:pt x="887558" y="934182"/>
                  </a:lnTo>
                  <a:lnTo>
                    <a:pt x="921461" y="903636"/>
                  </a:lnTo>
                  <a:lnTo>
                    <a:pt x="952603" y="870384"/>
                  </a:lnTo>
                  <a:lnTo>
                    <a:pt x="980794" y="834612"/>
                  </a:lnTo>
                  <a:lnTo>
                    <a:pt x="1005843" y="796506"/>
                  </a:lnTo>
                  <a:lnTo>
                    <a:pt x="1027560" y="756254"/>
                  </a:lnTo>
                  <a:lnTo>
                    <a:pt x="1045756" y="714042"/>
                  </a:lnTo>
                  <a:lnTo>
                    <a:pt x="1060239" y="670057"/>
                  </a:lnTo>
                  <a:lnTo>
                    <a:pt x="1070819" y="624487"/>
                  </a:lnTo>
                  <a:lnTo>
                    <a:pt x="1077307" y="577517"/>
                  </a:lnTo>
                  <a:lnTo>
                    <a:pt x="1079512" y="529335"/>
                  </a:lnTo>
                  <a:lnTo>
                    <a:pt x="1077307" y="481154"/>
                  </a:lnTo>
                  <a:lnTo>
                    <a:pt x="1070819" y="434184"/>
                  </a:lnTo>
                  <a:lnTo>
                    <a:pt x="1060239" y="388614"/>
                  </a:lnTo>
                  <a:lnTo>
                    <a:pt x="1045756" y="344629"/>
                  </a:lnTo>
                  <a:lnTo>
                    <a:pt x="1027560" y="302417"/>
                  </a:lnTo>
                  <a:lnTo>
                    <a:pt x="1005843" y="262165"/>
                  </a:lnTo>
                  <a:lnTo>
                    <a:pt x="980794" y="224059"/>
                  </a:lnTo>
                  <a:lnTo>
                    <a:pt x="952603" y="188287"/>
                  </a:lnTo>
                  <a:lnTo>
                    <a:pt x="921461" y="155035"/>
                  </a:lnTo>
                  <a:lnTo>
                    <a:pt x="887558" y="124489"/>
                  </a:lnTo>
                  <a:lnTo>
                    <a:pt x="851084" y="96838"/>
                  </a:lnTo>
                  <a:lnTo>
                    <a:pt x="812229" y="72267"/>
                  </a:lnTo>
                  <a:lnTo>
                    <a:pt x="771184" y="50964"/>
                  </a:lnTo>
                  <a:lnTo>
                    <a:pt x="728139" y="33115"/>
                  </a:lnTo>
                  <a:lnTo>
                    <a:pt x="683284" y="18907"/>
                  </a:lnTo>
                  <a:lnTo>
                    <a:pt x="636809" y="8527"/>
                  </a:lnTo>
                  <a:lnTo>
                    <a:pt x="588905" y="2163"/>
                  </a:lnTo>
                  <a:lnTo>
                    <a:pt x="539762" y="0"/>
                  </a:lnTo>
                  <a:close/>
                </a:path>
              </a:pathLst>
            </a:custGeom>
            <a:solidFill>
              <a:srgbClr val="202020"/>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2400"/>
                <a:buFont typeface="Calibri" panose="020F0502020204030204"/>
                <a:buNone/>
              </a:pPr>
              <a:endParaRPr sz="2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3" name="Google Shape;103;p15"/>
            <p:cNvSpPr/>
            <p:nvPr/>
          </p:nvSpPr>
          <p:spPr>
            <a:xfrm>
              <a:off x="2944367" y="3432217"/>
              <a:ext cx="1440180" cy="1412240"/>
            </a:xfrm>
            <a:custGeom>
              <a:avLst/>
              <a:gdLst/>
              <a:ahLst/>
              <a:cxnLst/>
              <a:rect l="l" t="t" r="r" b="b"/>
              <a:pathLst>
                <a:path w="1080135" h="1059179" extrusionOk="0">
                  <a:moveTo>
                    <a:pt x="539750" y="0"/>
                  </a:moveTo>
                  <a:lnTo>
                    <a:pt x="490625" y="2163"/>
                  </a:lnTo>
                  <a:lnTo>
                    <a:pt x="442736" y="8527"/>
                  </a:lnTo>
                  <a:lnTo>
                    <a:pt x="396272" y="18907"/>
                  </a:lnTo>
                  <a:lnTo>
                    <a:pt x="351424" y="33115"/>
                  </a:lnTo>
                  <a:lnTo>
                    <a:pt x="308383" y="50964"/>
                  </a:lnTo>
                  <a:lnTo>
                    <a:pt x="267339" y="72267"/>
                  </a:lnTo>
                  <a:lnTo>
                    <a:pt x="228483" y="96838"/>
                  </a:lnTo>
                  <a:lnTo>
                    <a:pt x="192006" y="124489"/>
                  </a:lnTo>
                  <a:lnTo>
                    <a:pt x="158099" y="155035"/>
                  </a:lnTo>
                  <a:lnTo>
                    <a:pt x="126951" y="188287"/>
                  </a:lnTo>
                  <a:lnTo>
                    <a:pt x="98753" y="224059"/>
                  </a:lnTo>
                  <a:lnTo>
                    <a:pt x="73697" y="262165"/>
                  </a:lnTo>
                  <a:lnTo>
                    <a:pt x="51973" y="302417"/>
                  </a:lnTo>
                  <a:lnTo>
                    <a:pt x="33771" y="344629"/>
                  </a:lnTo>
                  <a:lnTo>
                    <a:pt x="19282" y="388614"/>
                  </a:lnTo>
                  <a:lnTo>
                    <a:pt x="8696" y="434184"/>
                  </a:lnTo>
                  <a:lnTo>
                    <a:pt x="2206" y="481154"/>
                  </a:lnTo>
                  <a:lnTo>
                    <a:pt x="0" y="529336"/>
                  </a:lnTo>
                  <a:lnTo>
                    <a:pt x="2206" y="577517"/>
                  </a:lnTo>
                  <a:lnTo>
                    <a:pt x="8696" y="624487"/>
                  </a:lnTo>
                  <a:lnTo>
                    <a:pt x="19282" y="670057"/>
                  </a:lnTo>
                  <a:lnTo>
                    <a:pt x="33771" y="714042"/>
                  </a:lnTo>
                  <a:lnTo>
                    <a:pt x="51973" y="756254"/>
                  </a:lnTo>
                  <a:lnTo>
                    <a:pt x="73697" y="796506"/>
                  </a:lnTo>
                  <a:lnTo>
                    <a:pt x="98753" y="834612"/>
                  </a:lnTo>
                  <a:lnTo>
                    <a:pt x="126951" y="870384"/>
                  </a:lnTo>
                  <a:lnTo>
                    <a:pt x="158099" y="903636"/>
                  </a:lnTo>
                  <a:lnTo>
                    <a:pt x="192006" y="934182"/>
                  </a:lnTo>
                  <a:lnTo>
                    <a:pt x="228483" y="961833"/>
                  </a:lnTo>
                  <a:lnTo>
                    <a:pt x="267339" y="986404"/>
                  </a:lnTo>
                  <a:lnTo>
                    <a:pt x="308383" y="1007707"/>
                  </a:lnTo>
                  <a:lnTo>
                    <a:pt x="351424" y="1025556"/>
                  </a:lnTo>
                  <a:lnTo>
                    <a:pt x="396272" y="1039764"/>
                  </a:lnTo>
                  <a:lnTo>
                    <a:pt x="442736" y="1050144"/>
                  </a:lnTo>
                  <a:lnTo>
                    <a:pt x="490625" y="1056508"/>
                  </a:lnTo>
                  <a:lnTo>
                    <a:pt x="539750" y="1058672"/>
                  </a:lnTo>
                  <a:lnTo>
                    <a:pt x="588894" y="1056508"/>
                  </a:lnTo>
                  <a:lnTo>
                    <a:pt x="636801" y="1050144"/>
                  </a:lnTo>
                  <a:lnTo>
                    <a:pt x="683281" y="1039764"/>
                  </a:lnTo>
                  <a:lnTo>
                    <a:pt x="728142" y="1025556"/>
                  </a:lnTo>
                  <a:lnTo>
                    <a:pt x="771195" y="1007707"/>
                  </a:lnTo>
                  <a:lnTo>
                    <a:pt x="812249" y="986404"/>
                  </a:lnTo>
                  <a:lnTo>
                    <a:pt x="851114" y="961833"/>
                  </a:lnTo>
                  <a:lnTo>
                    <a:pt x="887598" y="934182"/>
                  </a:lnTo>
                  <a:lnTo>
                    <a:pt x="921511" y="903636"/>
                  </a:lnTo>
                  <a:lnTo>
                    <a:pt x="952664" y="870384"/>
                  </a:lnTo>
                  <a:lnTo>
                    <a:pt x="980865" y="834612"/>
                  </a:lnTo>
                  <a:lnTo>
                    <a:pt x="1005924" y="796506"/>
                  </a:lnTo>
                  <a:lnTo>
                    <a:pt x="1027651" y="756254"/>
                  </a:lnTo>
                  <a:lnTo>
                    <a:pt x="1045854" y="714042"/>
                  </a:lnTo>
                  <a:lnTo>
                    <a:pt x="1060344" y="670057"/>
                  </a:lnTo>
                  <a:lnTo>
                    <a:pt x="1070929" y="624487"/>
                  </a:lnTo>
                  <a:lnTo>
                    <a:pt x="1077420" y="577517"/>
                  </a:lnTo>
                  <a:lnTo>
                    <a:pt x="1079627" y="529336"/>
                  </a:lnTo>
                  <a:lnTo>
                    <a:pt x="1077420" y="481154"/>
                  </a:lnTo>
                  <a:lnTo>
                    <a:pt x="1070929" y="434184"/>
                  </a:lnTo>
                  <a:lnTo>
                    <a:pt x="1060344" y="388614"/>
                  </a:lnTo>
                  <a:lnTo>
                    <a:pt x="1045854" y="344629"/>
                  </a:lnTo>
                  <a:lnTo>
                    <a:pt x="1027651" y="302417"/>
                  </a:lnTo>
                  <a:lnTo>
                    <a:pt x="1005924" y="262165"/>
                  </a:lnTo>
                  <a:lnTo>
                    <a:pt x="980865" y="224059"/>
                  </a:lnTo>
                  <a:lnTo>
                    <a:pt x="952664" y="188287"/>
                  </a:lnTo>
                  <a:lnTo>
                    <a:pt x="921512" y="155035"/>
                  </a:lnTo>
                  <a:lnTo>
                    <a:pt x="887598" y="124489"/>
                  </a:lnTo>
                  <a:lnTo>
                    <a:pt x="851114" y="96838"/>
                  </a:lnTo>
                  <a:lnTo>
                    <a:pt x="812249" y="72267"/>
                  </a:lnTo>
                  <a:lnTo>
                    <a:pt x="771195" y="50964"/>
                  </a:lnTo>
                  <a:lnTo>
                    <a:pt x="728142" y="33115"/>
                  </a:lnTo>
                  <a:lnTo>
                    <a:pt x="683281" y="18907"/>
                  </a:lnTo>
                  <a:lnTo>
                    <a:pt x="636801" y="8527"/>
                  </a:lnTo>
                  <a:lnTo>
                    <a:pt x="588894" y="2163"/>
                  </a:lnTo>
                  <a:lnTo>
                    <a:pt x="539750" y="0"/>
                  </a:lnTo>
                  <a:close/>
                </a:path>
              </a:pathLst>
            </a:custGeom>
            <a:solidFill>
              <a:srgbClr val="202020"/>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2400"/>
                <a:buFont typeface="Calibri" panose="020F0502020204030204"/>
                <a:buNone/>
              </a:pPr>
              <a:endParaRPr sz="2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 name="Google Shape;104;p15"/>
            <p:cNvSpPr/>
            <p:nvPr/>
          </p:nvSpPr>
          <p:spPr>
            <a:xfrm>
              <a:off x="4353390" y="2114125"/>
              <a:ext cx="1440180" cy="1412240"/>
            </a:xfrm>
            <a:custGeom>
              <a:avLst/>
              <a:gdLst/>
              <a:ahLst/>
              <a:cxnLst/>
              <a:rect l="l" t="t" r="r" b="b"/>
              <a:pathLst>
                <a:path w="1080135" h="1059180" extrusionOk="0">
                  <a:moveTo>
                    <a:pt x="539750" y="0"/>
                  </a:moveTo>
                  <a:lnTo>
                    <a:pt x="490625" y="2163"/>
                  </a:lnTo>
                  <a:lnTo>
                    <a:pt x="442736" y="8527"/>
                  </a:lnTo>
                  <a:lnTo>
                    <a:pt x="396272" y="18907"/>
                  </a:lnTo>
                  <a:lnTo>
                    <a:pt x="351424" y="33115"/>
                  </a:lnTo>
                  <a:lnTo>
                    <a:pt x="308383" y="50964"/>
                  </a:lnTo>
                  <a:lnTo>
                    <a:pt x="267339" y="72267"/>
                  </a:lnTo>
                  <a:lnTo>
                    <a:pt x="228483" y="96838"/>
                  </a:lnTo>
                  <a:lnTo>
                    <a:pt x="192006" y="124489"/>
                  </a:lnTo>
                  <a:lnTo>
                    <a:pt x="158099" y="155035"/>
                  </a:lnTo>
                  <a:lnTo>
                    <a:pt x="126951" y="188287"/>
                  </a:lnTo>
                  <a:lnTo>
                    <a:pt x="98753" y="224059"/>
                  </a:lnTo>
                  <a:lnTo>
                    <a:pt x="73697" y="262165"/>
                  </a:lnTo>
                  <a:lnTo>
                    <a:pt x="51973" y="302417"/>
                  </a:lnTo>
                  <a:lnTo>
                    <a:pt x="33771" y="344629"/>
                  </a:lnTo>
                  <a:lnTo>
                    <a:pt x="19282" y="388614"/>
                  </a:lnTo>
                  <a:lnTo>
                    <a:pt x="8696" y="434184"/>
                  </a:lnTo>
                  <a:lnTo>
                    <a:pt x="2206" y="481154"/>
                  </a:lnTo>
                  <a:lnTo>
                    <a:pt x="0" y="529335"/>
                  </a:lnTo>
                  <a:lnTo>
                    <a:pt x="2206" y="577517"/>
                  </a:lnTo>
                  <a:lnTo>
                    <a:pt x="8696" y="624487"/>
                  </a:lnTo>
                  <a:lnTo>
                    <a:pt x="19282" y="670057"/>
                  </a:lnTo>
                  <a:lnTo>
                    <a:pt x="33771" y="714042"/>
                  </a:lnTo>
                  <a:lnTo>
                    <a:pt x="51973" y="756254"/>
                  </a:lnTo>
                  <a:lnTo>
                    <a:pt x="73697" y="796506"/>
                  </a:lnTo>
                  <a:lnTo>
                    <a:pt x="98753" y="834612"/>
                  </a:lnTo>
                  <a:lnTo>
                    <a:pt x="126951" y="870384"/>
                  </a:lnTo>
                  <a:lnTo>
                    <a:pt x="158099" y="903636"/>
                  </a:lnTo>
                  <a:lnTo>
                    <a:pt x="192006" y="934182"/>
                  </a:lnTo>
                  <a:lnTo>
                    <a:pt x="228483" y="961833"/>
                  </a:lnTo>
                  <a:lnTo>
                    <a:pt x="267339" y="986404"/>
                  </a:lnTo>
                  <a:lnTo>
                    <a:pt x="308383" y="1007707"/>
                  </a:lnTo>
                  <a:lnTo>
                    <a:pt x="351424" y="1025556"/>
                  </a:lnTo>
                  <a:lnTo>
                    <a:pt x="396272" y="1039764"/>
                  </a:lnTo>
                  <a:lnTo>
                    <a:pt x="442736" y="1050144"/>
                  </a:lnTo>
                  <a:lnTo>
                    <a:pt x="490625" y="1056508"/>
                  </a:lnTo>
                  <a:lnTo>
                    <a:pt x="539750" y="1058671"/>
                  </a:lnTo>
                  <a:lnTo>
                    <a:pt x="588894" y="1056508"/>
                  </a:lnTo>
                  <a:lnTo>
                    <a:pt x="636801" y="1050144"/>
                  </a:lnTo>
                  <a:lnTo>
                    <a:pt x="683281" y="1039764"/>
                  </a:lnTo>
                  <a:lnTo>
                    <a:pt x="728142" y="1025556"/>
                  </a:lnTo>
                  <a:lnTo>
                    <a:pt x="771195" y="1007707"/>
                  </a:lnTo>
                  <a:lnTo>
                    <a:pt x="812249" y="986404"/>
                  </a:lnTo>
                  <a:lnTo>
                    <a:pt x="851114" y="961833"/>
                  </a:lnTo>
                  <a:lnTo>
                    <a:pt x="887598" y="934182"/>
                  </a:lnTo>
                  <a:lnTo>
                    <a:pt x="921511" y="903636"/>
                  </a:lnTo>
                  <a:lnTo>
                    <a:pt x="952664" y="870384"/>
                  </a:lnTo>
                  <a:lnTo>
                    <a:pt x="980865" y="834612"/>
                  </a:lnTo>
                  <a:lnTo>
                    <a:pt x="1005924" y="796506"/>
                  </a:lnTo>
                  <a:lnTo>
                    <a:pt x="1027651" y="756254"/>
                  </a:lnTo>
                  <a:lnTo>
                    <a:pt x="1045854" y="714042"/>
                  </a:lnTo>
                  <a:lnTo>
                    <a:pt x="1060344" y="670057"/>
                  </a:lnTo>
                  <a:lnTo>
                    <a:pt x="1070929" y="624487"/>
                  </a:lnTo>
                  <a:lnTo>
                    <a:pt x="1077420" y="577517"/>
                  </a:lnTo>
                  <a:lnTo>
                    <a:pt x="1079627" y="529335"/>
                  </a:lnTo>
                  <a:lnTo>
                    <a:pt x="1077420" y="481154"/>
                  </a:lnTo>
                  <a:lnTo>
                    <a:pt x="1070929" y="434184"/>
                  </a:lnTo>
                  <a:lnTo>
                    <a:pt x="1060344" y="388614"/>
                  </a:lnTo>
                  <a:lnTo>
                    <a:pt x="1045854" y="344629"/>
                  </a:lnTo>
                  <a:lnTo>
                    <a:pt x="1027651" y="302417"/>
                  </a:lnTo>
                  <a:lnTo>
                    <a:pt x="1005924" y="262165"/>
                  </a:lnTo>
                  <a:lnTo>
                    <a:pt x="980865" y="224059"/>
                  </a:lnTo>
                  <a:lnTo>
                    <a:pt x="952664" y="188287"/>
                  </a:lnTo>
                  <a:lnTo>
                    <a:pt x="921512" y="155035"/>
                  </a:lnTo>
                  <a:lnTo>
                    <a:pt x="887598" y="124489"/>
                  </a:lnTo>
                  <a:lnTo>
                    <a:pt x="851114" y="96838"/>
                  </a:lnTo>
                  <a:lnTo>
                    <a:pt x="812249" y="72267"/>
                  </a:lnTo>
                  <a:lnTo>
                    <a:pt x="771195" y="50964"/>
                  </a:lnTo>
                  <a:lnTo>
                    <a:pt x="728142" y="33115"/>
                  </a:lnTo>
                  <a:lnTo>
                    <a:pt x="683281" y="18907"/>
                  </a:lnTo>
                  <a:lnTo>
                    <a:pt x="636801" y="8527"/>
                  </a:lnTo>
                  <a:lnTo>
                    <a:pt x="588894" y="2163"/>
                  </a:lnTo>
                  <a:lnTo>
                    <a:pt x="539750" y="0"/>
                  </a:lnTo>
                  <a:close/>
                </a:path>
              </a:pathLst>
            </a:custGeom>
            <a:solidFill>
              <a:srgbClr val="202020"/>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2400"/>
                <a:buFont typeface="Calibri" panose="020F0502020204030204"/>
                <a:buNone/>
              </a:pPr>
              <a:endParaRPr sz="2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5" name="Google Shape;105;p15"/>
            <p:cNvSpPr/>
            <p:nvPr/>
          </p:nvSpPr>
          <p:spPr>
            <a:xfrm>
              <a:off x="5793570" y="3432217"/>
              <a:ext cx="1440180" cy="1412240"/>
            </a:xfrm>
            <a:custGeom>
              <a:avLst/>
              <a:gdLst/>
              <a:ahLst/>
              <a:cxnLst/>
              <a:rect l="l" t="t" r="r" b="b"/>
              <a:pathLst>
                <a:path w="1080135" h="1059179" extrusionOk="0">
                  <a:moveTo>
                    <a:pt x="539750" y="0"/>
                  </a:moveTo>
                  <a:lnTo>
                    <a:pt x="490625" y="2163"/>
                  </a:lnTo>
                  <a:lnTo>
                    <a:pt x="442736" y="8527"/>
                  </a:lnTo>
                  <a:lnTo>
                    <a:pt x="396272" y="18907"/>
                  </a:lnTo>
                  <a:lnTo>
                    <a:pt x="351424" y="33115"/>
                  </a:lnTo>
                  <a:lnTo>
                    <a:pt x="308383" y="50964"/>
                  </a:lnTo>
                  <a:lnTo>
                    <a:pt x="267339" y="72267"/>
                  </a:lnTo>
                  <a:lnTo>
                    <a:pt x="228483" y="96838"/>
                  </a:lnTo>
                  <a:lnTo>
                    <a:pt x="192006" y="124489"/>
                  </a:lnTo>
                  <a:lnTo>
                    <a:pt x="158099" y="155035"/>
                  </a:lnTo>
                  <a:lnTo>
                    <a:pt x="126951" y="188287"/>
                  </a:lnTo>
                  <a:lnTo>
                    <a:pt x="98753" y="224059"/>
                  </a:lnTo>
                  <a:lnTo>
                    <a:pt x="73697" y="262165"/>
                  </a:lnTo>
                  <a:lnTo>
                    <a:pt x="51973" y="302417"/>
                  </a:lnTo>
                  <a:lnTo>
                    <a:pt x="33771" y="344629"/>
                  </a:lnTo>
                  <a:lnTo>
                    <a:pt x="19282" y="388614"/>
                  </a:lnTo>
                  <a:lnTo>
                    <a:pt x="8696" y="434184"/>
                  </a:lnTo>
                  <a:lnTo>
                    <a:pt x="2206" y="481154"/>
                  </a:lnTo>
                  <a:lnTo>
                    <a:pt x="0" y="529336"/>
                  </a:lnTo>
                  <a:lnTo>
                    <a:pt x="2206" y="577517"/>
                  </a:lnTo>
                  <a:lnTo>
                    <a:pt x="8696" y="624487"/>
                  </a:lnTo>
                  <a:lnTo>
                    <a:pt x="19282" y="670057"/>
                  </a:lnTo>
                  <a:lnTo>
                    <a:pt x="33771" y="714042"/>
                  </a:lnTo>
                  <a:lnTo>
                    <a:pt x="51973" y="756254"/>
                  </a:lnTo>
                  <a:lnTo>
                    <a:pt x="73697" y="796506"/>
                  </a:lnTo>
                  <a:lnTo>
                    <a:pt x="98753" y="834612"/>
                  </a:lnTo>
                  <a:lnTo>
                    <a:pt x="126951" y="870384"/>
                  </a:lnTo>
                  <a:lnTo>
                    <a:pt x="158099" y="903636"/>
                  </a:lnTo>
                  <a:lnTo>
                    <a:pt x="192006" y="934182"/>
                  </a:lnTo>
                  <a:lnTo>
                    <a:pt x="228483" y="961833"/>
                  </a:lnTo>
                  <a:lnTo>
                    <a:pt x="267339" y="986404"/>
                  </a:lnTo>
                  <a:lnTo>
                    <a:pt x="308383" y="1007707"/>
                  </a:lnTo>
                  <a:lnTo>
                    <a:pt x="351424" y="1025556"/>
                  </a:lnTo>
                  <a:lnTo>
                    <a:pt x="396272" y="1039764"/>
                  </a:lnTo>
                  <a:lnTo>
                    <a:pt x="442736" y="1050144"/>
                  </a:lnTo>
                  <a:lnTo>
                    <a:pt x="490625" y="1056508"/>
                  </a:lnTo>
                  <a:lnTo>
                    <a:pt x="539750" y="1058672"/>
                  </a:lnTo>
                  <a:lnTo>
                    <a:pt x="588894" y="1056508"/>
                  </a:lnTo>
                  <a:lnTo>
                    <a:pt x="636801" y="1050144"/>
                  </a:lnTo>
                  <a:lnTo>
                    <a:pt x="683281" y="1039764"/>
                  </a:lnTo>
                  <a:lnTo>
                    <a:pt x="728142" y="1025556"/>
                  </a:lnTo>
                  <a:lnTo>
                    <a:pt x="771195" y="1007707"/>
                  </a:lnTo>
                  <a:lnTo>
                    <a:pt x="812249" y="986404"/>
                  </a:lnTo>
                  <a:lnTo>
                    <a:pt x="851114" y="961833"/>
                  </a:lnTo>
                  <a:lnTo>
                    <a:pt x="887598" y="934182"/>
                  </a:lnTo>
                  <a:lnTo>
                    <a:pt x="921512" y="903636"/>
                  </a:lnTo>
                  <a:lnTo>
                    <a:pt x="952664" y="870384"/>
                  </a:lnTo>
                  <a:lnTo>
                    <a:pt x="980865" y="834612"/>
                  </a:lnTo>
                  <a:lnTo>
                    <a:pt x="1005924" y="796506"/>
                  </a:lnTo>
                  <a:lnTo>
                    <a:pt x="1027651" y="756254"/>
                  </a:lnTo>
                  <a:lnTo>
                    <a:pt x="1045854" y="714042"/>
                  </a:lnTo>
                  <a:lnTo>
                    <a:pt x="1060344" y="670057"/>
                  </a:lnTo>
                  <a:lnTo>
                    <a:pt x="1070929" y="624487"/>
                  </a:lnTo>
                  <a:lnTo>
                    <a:pt x="1077420" y="577517"/>
                  </a:lnTo>
                  <a:lnTo>
                    <a:pt x="1079627" y="529336"/>
                  </a:lnTo>
                  <a:lnTo>
                    <a:pt x="1077420" y="481154"/>
                  </a:lnTo>
                  <a:lnTo>
                    <a:pt x="1070929" y="434184"/>
                  </a:lnTo>
                  <a:lnTo>
                    <a:pt x="1060344" y="388614"/>
                  </a:lnTo>
                  <a:lnTo>
                    <a:pt x="1045854" y="344629"/>
                  </a:lnTo>
                  <a:lnTo>
                    <a:pt x="1027651" y="302417"/>
                  </a:lnTo>
                  <a:lnTo>
                    <a:pt x="1005924" y="262165"/>
                  </a:lnTo>
                  <a:lnTo>
                    <a:pt x="980865" y="224059"/>
                  </a:lnTo>
                  <a:lnTo>
                    <a:pt x="952664" y="188287"/>
                  </a:lnTo>
                  <a:lnTo>
                    <a:pt x="921512" y="155035"/>
                  </a:lnTo>
                  <a:lnTo>
                    <a:pt x="887598" y="124489"/>
                  </a:lnTo>
                  <a:lnTo>
                    <a:pt x="851114" y="96838"/>
                  </a:lnTo>
                  <a:lnTo>
                    <a:pt x="812249" y="72267"/>
                  </a:lnTo>
                  <a:lnTo>
                    <a:pt x="771195" y="50964"/>
                  </a:lnTo>
                  <a:lnTo>
                    <a:pt x="728142" y="33115"/>
                  </a:lnTo>
                  <a:lnTo>
                    <a:pt x="683281" y="18907"/>
                  </a:lnTo>
                  <a:lnTo>
                    <a:pt x="636801" y="8527"/>
                  </a:lnTo>
                  <a:lnTo>
                    <a:pt x="588894" y="2163"/>
                  </a:lnTo>
                  <a:lnTo>
                    <a:pt x="539750" y="0"/>
                  </a:lnTo>
                  <a:close/>
                </a:path>
              </a:pathLst>
            </a:custGeom>
            <a:solidFill>
              <a:srgbClr val="202020"/>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2400"/>
                <a:buFont typeface="Calibri" panose="020F0502020204030204"/>
                <a:buNone/>
              </a:pPr>
              <a:endParaRPr sz="2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6" name="Google Shape;106;p15"/>
            <p:cNvSpPr/>
            <p:nvPr/>
          </p:nvSpPr>
          <p:spPr>
            <a:xfrm>
              <a:off x="7158914" y="2114125"/>
              <a:ext cx="1438434" cy="1411357"/>
            </a:xfrm>
            <a:custGeom>
              <a:avLst/>
              <a:gdLst/>
              <a:ahLst/>
              <a:cxnLst/>
              <a:rect l="l" t="t" r="r" b="b"/>
              <a:pathLst>
                <a:path w="1079500" h="1059180" extrusionOk="0">
                  <a:moveTo>
                    <a:pt x="539750" y="0"/>
                  </a:moveTo>
                  <a:lnTo>
                    <a:pt x="490625" y="2163"/>
                  </a:lnTo>
                  <a:lnTo>
                    <a:pt x="442736" y="8527"/>
                  </a:lnTo>
                  <a:lnTo>
                    <a:pt x="396272" y="18907"/>
                  </a:lnTo>
                  <a:lnTo>
                    <a:pt x="351424" y="33115"/>
                  </a:lnTo>
                  <a:lnTo>
                    <a:pt x="308383" y="50964"/>
                  </a:lnTo>
                  <a:lnTo>
                    <a:pt x="267339" y="72267"/>
                  </a:lnTo>
                  <a:lnTo>
                    <a:pt x="228483" y="96838"/>
                  </a:lnTo>
                  <a:lnTo>
                    <a:pt x="192006" y="124489"/>
                  </a:lnTo>
                  <a:lnTo>
                    <a:pt x="158099" y="155035"/>
                  </a:lnTo>
                  <a:lnTo>
                    <a:pt x="126951" y="188287"/>
                  </a:lnTo>
                  <a:lnTo>
                    <a:pt x="98753" y="224059"/>
                  </a:lnTo>
                  <a:lnTo>
                    <a:pt x="73697" y="262165"/>
                  </a:lnTo>
                  <a:lnTo>
                    <a:pt x="51973" y="302417"/>
                  </a:lnTo>
                  <a:lnTo>
                    <a:pt x="33771" y="344629"/>
                  </a:lnTo>
                  <a:lnTo>
                    <a:pt x="19282" y="388614"/>
                  </a:lnTo>
                  <a:lnTo>
                    <a:pt x="8696" y="434184"/>
                  </a:lnTo>
                  <a:lnTo>
                    <a:pt x="2206" y="481154"/>
                  </a:lnTo>
                  <a:lnTo>
                    <a:pt x="0" y="529335"/>
                  </a:lnTo>
                  <a:lnTo>
                    <a:pt x="2206" y="577517"/>
                  </a:lnTo>
                  <a:lnTo>
                    <a:pt x="8696" y="624487"/>
                  </a:lnTo>
                  <a:lnTo>
                    <a:pt x="19282" y="670057"/>
                  </a:lnTo>
                  <a:lnTo>
                    <a:pt x="33771" y="714042"/>
                  </a:lnTo>
                  <a:lnTo>
                    <a:pt x="51973" y="756254"/>
                  </a:lnTo>
                  <a:lnTo>
                    <a:pt x="73697" y="796506"/>
                  </a:lnTo>
                  <a:lnTo>
                    <a:pt x="98753" y="834612"/>
                  </a:lnTo>
                  <a:lnTo>
                    <a:pt x="126951" y="870384"/>
                  </a:lnTo>
                  <a:lnTo>
                    <a:pt x="158099" y="903636"/>
                  </a:lnTo>
                  <a:lnTo>
                    <a:pt x="192006" y="934182"/>
                  </a:lnTo>
                  <a:lnTo>
                    <a:pt x="228483" y="961833"/>
                  </a:lnTo>
                  <a:lnTo>
                    <a:pt x="267339" y="986404"/>
                  </a:lnTo>
                  <a:lnTo>
                    <a:pt x="308383" y="1007707"/>
                  </a:lnTo>
                  <a:lnTo>
                    <a:pt x="351424" y="1025556"/>
                  </a:lnTo>
                  <a:lnTo>
                    <a:pt x="396272" y="1039764"/>
                  </a:lnTo>
                  <a:lnTo>
                    <a:pt x="442736" y="1050144"/>
                  </a:lnTo>
                  <a:lnTo>
                    <a:pt x="490625" y="1056508"/>
                  </a:lnTo>
                  <a:lnTo>
                    <a:pt x="539750" y="1058671"/>
                  </a:lnTo>
                  <a:lnTo>
                    <a:pt x="588874" y="1056508"/>
                  </a:lnTo>
                  <a:lnTo>
                    <a:pt x="636763" y="1050144"/>
                  </a:lnTo>
                  <a:lnTo>
                    <a:pt x="683227" y="1039764"/>
                  </a:lnTo>
                  <a:lnTo>
                    <a:pt x="728075" y="1025556"/>
                  </a:lnTo>
                  <a:lnTo>
                    <a:pt x="771116" y="1007707"/>
                  </a:lnTo>
                  <a:lnTo>
                    <a:pt x="812160" y="986404"/>
                  </a:lnTo>
                  <a:lnTo>
                    <a:pt x="851016" y="961833"/>
                  </a:lnTo>
                  <a:lnTo>
                    <a:pt x="887493" y="934182"/>
                  </a:lnTo>
                  <a:lnTo>
                    <a:pt x="921400" y="903636"/>
                  </a:lnTo>
                  <a:lnTo>
                    <a:pt x="952548" y="870384"/>
                  </a:lnTo>
                  <a:lnTo>
                    <a:pt x="980746" y="834612"/>
                  </a:lnTo>
                  <a:lnTo>
                    <a:pt x="1005802" y="796506"/>
                  </a:lnTo>
                  <a:lnTo>
                    <a:pt x="1027526" y="756254"/>
                  </a:lnTo>
                  <a:lnTo>
                    <a:pt x="1045728" y="714042"/>
                  </a:lnTo>
                  <a:lnTo>
                    <a:pt x="1060217" y="670057"/>
                  </a:lnTo>
                  <a:lnTo>
                    <a:pt x="1070803" y="624487"/>
                  </a:lnTo>
                  <a:lnTo>
                    <a:pt x="1077293" y="577517"/>
                  </a:lnTo>
                  <a:lnTo>
                    <a:pt x="1079500" y="529335"/>
                  </a:lnTo>
                  <a:lnTo>
                    <a:pt x="1077293" y="481154"/>
                  </a:lnTo>
                  <a:lnTo>
                    <a:pt x="1070803" y="434184"/>
                  </a:lnTo>
                  <a:lnTo>
                    <a:pt x="1060217" y="388614"/>
                  </a:lnTo>
                  <a:lnTo>
                    <a:pt x="1045728" y="344629"/>
                  </a:lnTo>
                  <a:lnTo>
                    <a:pt x="1027526" y="302417"/>
                  </a:lnTo>
                  <a:lnTo>
                    <a:pt x="1005802" y="262165"/>
                  </a:lnTo>
                  <a:lnTo>
                    <a:pt x="980746" y="224059"/>
                  </a:lnTo>
                  <a:lnTo>
                    <a:pt x="952548" y="188287"/>
                  </a:lnTo>
                  <a:lnTo>
                    <a:pt x="921400" y="155035"/>
                  </a:lnTo>
                  <a:lnTo>
                    <a:pt x="887493" y="124489"/>
                  </a:lnTo>
                  <a:lnTo>
                    <a:pt x="851016" y="96838"/>
                  </a:lnTo>
                  <a:lnTo>
                    <a:pt x="812160" y="72267"/>
                  </a:lnTo>
                  <a:lnTo>
                    <a:pt x="771116" y="50964"/>
                  </a:lnTo>
                  <a:lnTo>
                    <a:pt x="728075" y="33115"/>
                  </a:lnTo>
                  <a:lnTo>
                    <a:pt x="683227" y="18907"/>
                  </a:lnTo>
                  <a:lnTo>
                    <a:pt x="636763" y="8527"/>
                  </a:lnTo>
                  <a:lnTo>
                    <a:pt x="588874" y="2163"/>
                  </a:lnTo>
                  <a:lnTo>
                    <a:pt x="539750" y="0"/>
                  </a:lnTo>
                  <a:close/>
                </a:path>
              </a:pathLst>
            </a:custGeom>
            <a:solidFill>
              <a:srgbClr val="202020"/>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2400"/>
                <a:buFont typeface="Calibri" panose="020F0502020204030204"/>
                <a:buNone/>
              </a:pPr>
              <a:endParaRPr sz="2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7" name="Google Shape;107;p15"/>
            <p:cNvSpPr txBox="1"/>
            <p:nvPr/>
          </p:nvSpPr>
          <p:spPr>
            <a:xfrm>
              <a:off x="1597123" y="2536571"/>
              <a:ext cx="1219500" cy="509700"/>
            </a:xfrm>
            <a:prstGeom prst="rect">
              <a:avLst/>
            </a:prstGeom>
            <a:noFill/>
            <a:ln>
              <a:noFill/>
            </a:ln>
          </p:spPr>
          <p:txBody>
            <a:bodyPr spcFirstLastPara="1" wrap="square" lIns="0" tIns="16925" rIns="0" bIns="0" anchor="t" anchorCtr="0">
              <a:spAutoFit/>
            </a:bodyPr>
            <a:lstStyle/>
            <a:p>
              <a:pPr marL="17145" marR="6985" lvl="0" indent="12065" algn="ctr" rtl="0">
                <a:spcBef>
                  <a:spcPts val="0"/>
                </a:spcBef>
                <a:spcAft>
                  <a:spcPts val="0"/>
                </a:spcAft>
                <a:buClr>
                  <a:srgbClr val="FFFFFF"/>
                </a:buClr>
                <a:buSzPts val="1600"/>
                <a:buFont typeface="Arial" panose="020B0604020202020204"/>
                <a:buNone/>
              </a:pPr>
              <a:r>
                <a:rPr lang="en-ID" sz="1600" b="0" i="0" u="none" strike="noStrike" cap="none">
                  <a:solidFill>
                    <a:srgbClr val="FFFFFF"/>
                  </a:solidFill>
                  <a:latin typeface="Arial" panose="020B0604020202020204"/>
                  <a:ea typeface="Arial" panose="020B0604020202020204"/>
                  <a:cs typeface="Arial" panose="020B0604020202020204"/>
                  <a:sym typeface="Arial" panose="020B0604020202020204"/>
                </a:rPr>
                <a:t>Pembatasan  Masalah</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8" name="Google Shape;108;p15"/>
            <p:cNvSpPr txBox="1"/>
            <p:nvPr/>
          </p:nvSpPr>
          <p:spPr>
            <a:xfrm>
              <a:off x="3126570" y="3948685"/>
              <a:ext cx="1040553" cy="509541"/>
            </a:xfrm>
            <a:prstGeom prst="rect">
              <a:avLst/>
            </a:prstGeom>
            <a:noFill/>
            <a:ln>
              <a:noFill/>
            </a:ln>
          </p:spPr>
          <p:txBody>
            <a:bodyPr spcFirstLastPara="1" wrap="square" lIns="0" tIns="16925" rIns="0" bIns="0" anchor="t" anchorCtr="0">
              <a:spAutoFit/>
            </a:bodyPr>
            <a:lstStyle/>
            <a:p>
              <a:pPr marL="17145" marR="0" lvl="0" indent="0" algn="ctr" rtl="0">
                <a:spcBef>
                  <a:spcPts val="0"/>
                </a:spcBef>
                <a:spcAft>
                  <a:spcPts val="0"/>
                </a:spcAft>
                <a:buClr>
                  <a:srgbClr val="FFFFFF"/>
                </a:buClr>
                <a:buSzPts val="1600"/>
                <a:buFont typeface="Arial" panose="020B0604020202020204"/>
                <a:buNone/>
              </a:pPr>
              <a:r>
                <a:rPr lang="en-ID" sz="1600" b="0" i="0" u="none" strike="noStrike" cap="none">
                  <a:solidFill>
                    <a:srgbClr val="FFFFFF"/>
                  </a:solidFill>
                  <a:latin typeface="Arial" panose="020B0604020202020204"/>
                  <a:ea typeface="Arial" panose="020B0604020202020204"/>
                  <a:cs typeface="Arial" panose="020B0604020202020204"/>
                  <a:sym typeface="Arial" panose="020B0604020202020204"/>
                </a:rPr>
                <a:t>Akuisisi Data</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9" name="Google Shape;109;p15"/>
            <p:cNvSpPr txBox="1"/>
            <p:nvPr/>
          </p:nvSpPr>
          <p:spPr>
            <a:xfrm>
              <a:off x="4607547" y="2545746"/>
              <a:ext cx="1040400" cy="509700"/>
            </a:xfrm>
            <a:prstGeom prst="rect">
              <a:avLst/>
            </a:prstGeom>
            <a:noFill/>
            <a:ln>
              <a:noFill/>
            </a:ln>
          </p:spPr>
          <p:txBody>
            <a:bodyPr spcFirstLastPara="1" wrap="square" lIns="0" tIns="16925" rIns="0" bIns="0" anchor="t" anchorCtr="0">
              <a:spAutoFit/>
            </a:bodyPr>
            <a:lstStyle/>
            <a:p>
              <a:pPr marL="271145" marR="6985" lvl="0" indent="-254000" algn="l" rtl="0">
                <a:spcBef>
                  <a:spcPts val="0"/>
                </a:spcBef>
                <a:spcAft>
                  <a:spcPts val="0"/>
                </a:spcAft>
                <a:buClr>
                  <a:srgbClr val="FFFFFF"/>
                </a:buClr>
                <a:buSzPts val="1600"/>
                <a:buFont typeface="Arial" panose="020B0604020202020204"/>
                <a:buNone/>
              </a:pPr>
              <a:r>
                <a:rPr lang="en-ID" sz="1600" b="0" i="0" u="none" strike="noStrike" cap="none">
                  <a:solidFill>
                    <a:srgbClr val="FFFFFF"/>
                  </a:solidFill>
                  <a:latin typeface="Arial" panose="020B0604020202020204"/>
                  <a:ea typeface="Arial" panose="020B0604020202020204"/>
                  <a:cs typeface="Arial" panose="020B0604020202020204"/>
                  <a:sym typeface="Arial" panose="020B0604020202020204"/>
                </a:rPr>
                <a:t>Eksplorasi  Data</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10" name="Google Shape;110;p15"/>
            <p:cNvSpPr txBox="1"/>
            <p:nvPr/>
          </p:nvSpPr>
          <p:spPr>
            <a:xfrm>
              <a:off x="5927513" y="3962316"/>
              <a:ext cx="1164505" cy="263320"/>
            </a:xfrm>
            <a:prstGeom prst="rect">
              <a:avLst/>
            </a:prstGeom>
            <a:noFill/>
            <a:ln>
              <a:noFill/>
            </a:ln>
          </p:spPr>
          <p:txBody>
            <a:bodyPr spcFirstLastPara="1" wrap="square" lIns="0" tIns="16925" rIns="0" bIns="0" anchor="t" anchorCtr="0">
              <a:spAutoFit/>
            </a:bodyPr>
            <a:lstStyle/>
            <a:p>
              <a:pPr marL="17145" marR="0" lvl="0" indent="0" algn="l" rtl="0">
                <a:spcBef>
                  <a:spcPts val="0"/>
                </a:spcBef>
                <a:spcAft>
                  <a:spcPts val="0"/>
                </a:spcAft>
                <a:buClr>
                  <a:srgbClr val="FFFFFF"/>
                </a:buClr>
                <a:buSzPts val="1600"/>
                <a:buFont typeface="Arial" panose="020B0604020202020204"/>
                <a:buNone/>
              </a:pPr>
              <a:r>
                <a:rPr lang="en-ID" sz="1600" b="0" i="0" u="none" strike="noStrike" cap="none">
                  <a:solidFill>
                    <a:srgbClr val="FFFFFF"/>
                  </a:solidFill>
                  <a:latin typeface="Arial" panose="020B0604020202020204"/>
                  <a:ea typeface="Arial" panose="020B0604020202020204"/>
                  <a:cs typeface="Arial" panose="020B0604020202020204"/>
                  <a:sym typeface="Arial" panose="020B0604020202020204"/>
                </a:rPr>
                <a:t>Pemodelan</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11" name="Google Shape;111;p15"/>
            <p:cNvSpPr txBox="1"/>
            <p:nvPr/>
          </p:nvSpPr>
          <p:spPr>
            <a:xfrm>
              <a:off x="7423296" y="2667671"/>
              <a:ext cx="897900" cy="263400"/>
            </a:xfrm>
            <a:prstGeom prst="rect">
              <a:avLst/>
            </a:prstGeom>
            <a:noFill/>
            <a:ln>
              <a:noFill/>
            </a:ln>
          </p:spPr>
          <p:txBody>
            <a:bodyPr spcFirstLastPara="1" wrap="square" lIns="0" tIns="16925" rIns="0" bIns="0" anchor="t" anchorCtr="0">
              <a:spAutoFit/>
            </a:bodyPr>
            <a:lstStyle/>
            <a:p>
              <a:pPr marL="17145" marR="0" lvl="0" indent="0" algn="l" rtl="0">
                <a:spcBef>
                  <a:spcPts val="0"/>
                </a:spcBef>
                <a:spcAft>
                  <a:spcPts val="0"/>
                </a:spcAft>
                <a:buClr>
                  <a:srgbClr val="FFFFFF"/>
                </a:buClr>
                <a:buSzPts val="1600"/>
                <a:buFont typeface="Arial" panose="020B0604020202020204"/>
                <a:buNone/>
              </a:pPr>
              <a:r>
                <a:rPr lang="en-ID" sz="1600" b="0" i="0" u="none" strike="noStrike" cap="none">
                  <a:solidFill>
                    <a:srgbClr val="FFFFFF"/>
                  </a:solidFill>
                  <a:latin typeface="Arial" panose="020B0604020202020204"/>
                  <a:ea typeface="Arial" panose="020B0604020202020204"/>
                  <a:cs typeface="Arial" panose="020B0604020202020204"/>
                  <a:sym typeface="Arial" panose="020B0604020202020204"/>
                </a:rPr>
                <a:t>Evaluasi</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12" name="Google Shape;112;p15"/>
            <p:cNvSpPr/>
            <p:nvPr/>
          </p:nvSpPr>
          <p:spPr>
            <a:xfrm>
              <a:off x="8702041" y="3318933"/>
              <a:ext cx="1440180" cy="1412240"/>
            </a:xfrm>
            <a:custGeom>
              <a:avLst/>
              <a:gdLst/>
              <a:ahLst/>
              <a:cxnLst/>
              <a:rect l="l" t="t" r="r" b="b"/>
              <a:pathLst>
                <a:path w="1080134" h="1059179" extrusionOk="0">
                  <a:moveTo>
                    <a:pt x="539750" y="0"/>
                  </a:moveTo>
                  <a:lnTo>
                    <a:pt x="490625" y="2163"/>
                  </a:lnTo>
                  <a:lnTo>
                    <a:pt x="442736" y="8527"/>
                  </a:lnTo>
                  <a:lnTo>
                    <a:pt x="396272" y="18907"/>
                  </a:lnTo>
                  <a:lnTo>
                    <a:pt x="351424" y="33115"/>
                  </a:lnTo>
                  <a:lnTo>
                    <a:pt x="308383" y="50964"/>
                  </a:lnTo>
                  <a:lnTo>
                    <a:pt x="267339" y="72267"/>
                  </a:lnTo>
                  <a:lnTo>
                    <a:pt x="228483" y="96838"/>
                  </a:lnTo>
                  <a:lnTo>
                    <a:pt x="192006" y="124489"/>
                  </a:lnTo>
                  <a:lnTo>
                    <a:pt x="158099" y="155035"/>
                  </a:lnTo>
                  <a:lnTo>
                    <a:pt x="126951" y="188287"/>
                  </a:lnTo>
                  <a:lnTo>
                    <a:pt x="98753" y="224059"/>
                  </a:lnTo>
                  <a:lnTo>
                    <a:pt x="73697" y="262165"/>
                  </a:lnTo>
                  <a:lnTo>
                    <a:pt x="51973" y="302417"/>
                  </a:lnTo>
                  <a:lnTo>
                    <a:pt x="33771" y="344629"/>
                  </a:lnTo>
                  <a:lnTo>
                    <a:pt x="19282" y="388614"/>
                  </a:lnTo>
                  <a:lnTo>
                    <a:pt x="8696" y="434184"/>
                  </a:lnTo>
                  <a:lnTo>
                    <a:pt x="2206" y="481154"/>
                  </a:lnTo>
                  <a:lnTo>
                    <a:pt x="0" y="529336"/>
                  </a:lnTo>
                  <a:lnTo>
                    <a:pt x="2206" y="577517"/>
                  </a:lnTo>
                  <a:lnTo>
                    <a:pt x="8696" y="624487"/>
                  </a:lnTo>
                  <a:lnTo>
                    <a:pt x="19282" y="670057"/>
                  </a:lnTo>
                  <a:lnTo>
                    <a:pt x="33771" y="714042"/>
                  </a:lnTo>
                  <a:lnTo>
                    <a:pt x="51973" y="756254"/>
                  </a:lnTo>
                  <a:lnTo>
                    <a:pt x="73697" y="796506"/>
                  </a:lnTo>
                  <a:lnTo>
                    <a:pt x="98753" y="834612"/>
                  </a:lnTo>
                  <a:lnTo>
                    <a:pt x="126951" y="870384"/>
                  </a:lnTo>
                  <a:lnTo>
                    <a:pt x="158099" y="903636"/>
                  </a:lnTo>
                  <a:lnTo>
                    <a:pt x="192006" y="934182"/>
                  </a:lnTo>
                  <a:lnTo>
                    <a:pt x="228483" y="961833"/>
                  </a:lnTo>
                  <a:lnTo>
                    <a:pt x="267339" y="986404"/>
                  </a:lnTo>
                  <a:lnTo>
                    <a:pt x="308383" y="1007707"/>
                  </a:lnTo>
                  <a:lnTo>
                    <a:pt x="351424" y="1025556"/>
                  </a:lnTo>
                  <a:lnTo>
                    <a:pt x="396272" y="1039764"/>
                  </a:lnTo>
                  <a:lnTo>
                    <a:pt x="442736" y="1050144"/>
                  </a:lnTo>
                  <a:lnTo>
                    <a:pt x="490625" y="1056508"/>
                  </a:lnTo>
                  <a:lnTo>
                    <a:pt x="539750" y="1058672"/>
                  </a:lnTo>
                  <a:lnTo>
                    <a:pt x="588894" y="1056508"/>
                  </a:lnTo>
                  <a:lnTo>
                    <a:pt x="636801" y="1050144"/>
                  </a:lnTo>
                  <a:lnTo>
                    <a:pt x="683281" y="1039764"/>
                  </a:lnTo>
                  <a:lnTo>
                    <a:pt x="728142" y="1025556"/>
                  </a:lnTo>
                  <a:lnTo>
                    <a:pt x="771195" y="1007707"/>
                  </a:lnTo>
                  <a:lnTo>
                    <a:pt x="812249" y="986404"/>
                  </a:lnTo>
                  <a:lnTo>
                    <a:pt x="851114" y="961833"/>
                  </a:lnTo>
                  <a:lnTo>
                    <a:pt x="887598" y="934182"/>
                  </a:lnTo>
                  <a:lnTo>
                    <a:pt x="921512" y="903636"/>
                  </a:lnTo>
                  <a:lnTo>
                    <a:pt x="952664" y="870384"/>
                  </a:lnTo>
                  <a:lnTo>
                    <a:pt x="980865" y="834612"/>
                  </a:lnTo>
                  <a:lnTo>
                    <a:pt x="1005924" y="796506"/>
                  </a:lnTo>
                  <a:lnTo>
                    <a:pt x="1027651" y="756254"/>
                  </a:lnTo>
                  <a:lnTo>
                    <a:pt x="1045854" y="714042"/>
                  </a:lnTo>
                  <a:lnTo>
                    <a:pt x="1060344" y="670057"/>
                  </a:lnTo>
                  <a:lnTo>
                    <a:pt x="1070929" y="624487"/>
                  </a:lnTo>
                  <a:lnTo>
                    <a:pt x="1077420" y="577517"/>
                  </a:lnTo>
                  <a:lnTo>
                    <a:pt x="1079627" y="529336"/>
                  </a:lnTo>
                  <a:lnTo>
                    <a:pt x="1077420" y="481154"/>
                  </a:lnTo>
                  <a:lnTo>
                    <a:pt x="1070929" y="434184"/>
                  </a:lnTo>
                  <a:lnTo>
                    <a:pt x="1060344" y="388614"/>
                  </a:lnTo>
                  <a:lnTo>
                    <a:pt x="1045854" y="344629"/>
                  </a:lnTo>
                  <a:lnTo>
                    <a:pt x="1027651" y="302417"/>
                  </a:lnTo>
                  <a:lnTo>
                    <a:pt x="1005924" y="262165"/>
                  </a:lnTo>
                  <a:lnTo>
                    <a:pt x="980865" y="224059"/>
                  </a:lnTo>
                  <a:lnTo>
                    <a:pt x="952664" y="188287"/>
                  </a:lnTo>
                  <a:lnTo>
                    <a:pt x="921512" y="155035"/>
                  </a:lnTo>
                  <a:lnTo>
                    <a:pt x="887598" y="124489"/>
                  </a:lnTo>
                  <a:lnTo>
                    <a:pt x="851114" y="96838"/>
                  </a:lnTo>
                  <a:lnTo>
                    <a:pt x="812249" y="72267"/>
                  </a:lnTo>
                  <a:lnTo>
                    <a:pt x="771195" y="50964"/>
                  </a:lnTo>
                  <a:lnTo>
                    <a:pt x="728142" y="33115"/>
                  </a:lnTo>
                  <a:lnTo>
                    <a:pt x="683281" y="18907"/>
                  </a:lnTo>
                  <a:lnTo>
                    <a:pt x="636801" y="8527"/>
                  </a:lnTo>
                  <a:lnTo>
                    <a:pt x="588894" y="2163"/>
                  </a:lnTo>
                  <a:lnTo>
                    <a:pt x="539750" y="0"/>
                  </a:lnTo>
                  <a:close/>
                </a:path>
              </a:pathLst>
            </a:custGeom>
            <a:solidFill>
              <a:srgbClr val="202020"/>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2400"/>
                <a:buFont typeface="Calibri" panose="020F0502020204030204"/>
                <a:buNone/>
              </a:pPr>
              <a:endParaRPr sz="2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13" name="Google Shape;113;p15"/>
            <p:cNvSpPr txBox="1"/>
            <p:nvPr/>
          </p:nvSpPr>
          <p:spPr>
            <a:xfrm>
              <a:off x="8845464" y="3860461"/>
              <a:ext cx="1154853" cy="263320"/>
            </a:xfrm>
            <a:prstGeom prst="rect">
              <a:avLst/>
            </a:prstGeom>
            <a:noFill/>
            <a:ln>
              <a:noFill/>
            </a:ln>
          </p:spPr>
          <p:txBody>
            <a:bodyPr spcFirstLastPara="1" wrap="square" lIns="0" tIns="16925" rIns="0" bIns="0" anchor="t" anchorCtr="0">
              <a:spAutoFit/>
            </a:bodyPr>
            <a:lstStyle/>
            <a:p>
              <a:pPr marL="17145" marR="0" lvl="0" indent="0" algn="l" rtl="0">
                <a:spcBef>
                  <a:spcPts val="0"/>
                </a:spcBef>
                <a:spcAft>
                  <a:spcPts val="0"/>
                </a:spcAft>
                <a:buClr>
                  <a:srgbClr val="FFFFFF"/>
                </a:buClr>
                <a:buSzPts val="1600"/>
                <a:buFont typeface="Arial" panose="020B0604020202020204"/>
                <a:buNone/>
              </a:pPr>
              <a:r>
                <a:rPr lang="en-ID" sz="1600" b="0" i="0" u="none" strike="noStrike" cap="none">
                  <a:solidFill>
                    <a:srgbClr val="FFFFFF"/>
                  </a:solidFill>
                  <a:latin typeface="Arial" panose="020B0604020202020204"/>
                  <a:ea typeface="Arial" panose="020B0604020202020204"/>
                  <a:cs typeface="Arial" panose="020B0604020202020204"/>
                  <a:sym typeface="Arial" panose="020B0604020202020204"/>
                </a:rPr>
                <a:t>Deployment</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14" name="Google Shape;114;p15"/>
            <p:cNvSpPr/>
            <p:nvPr/>
          </p:nvSpPr>
          <p:spPr>
            <a:xfrm>
              <a:off x="2760132" y="3331802"/>
              <a:ext cx="327151" cy="330877"/>
            </a:xfrm>
            <a:prstGeom prst="rect">
              <a:avLst/>
            </a:prstGeom>
            <a:blipFill rotWithShape="1">
              <a:blip r:embed="rId1"/>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2400"/>
                <a:buFont typeface="Calibri" panose="020F0502020204030204"/>
                <a:buNone/>
              </a:pPr>
              <a:endParaRPr sz="2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15" name="Google Shape;115;p15"/>
            <p:cNvSpPr/>
            <p:nvPr/>
          </p:nvSpPr>
          <p:spPr>
            <a:xfrm>
              <a:off x="5615939" y="3317578"/>
              <a:ext cx="327151" cy="331047"/>
            </a:xfrm>
            <a:prstGeom prst="rect">
              <a:avLst/>
            </a:prstGeom>
            <a:blipFill rotWithShape="1">
              <a:blip r:embed="rId2"/>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2400"/>
                <a:buFont typeface="Calibri" panose="020F0502020204030204"/>
                <a:buNone/>
              </a:pPr>
              <a:endParaRPr sz="2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16" name="Google Shape;116;p15"/>
            <p:cNvSpPr/>
            <p:nvPr/>
          </p:nvSpPr>
          <p:spPr>
            <a:xfrm>
              <a:off x="8412311" y="3289301"/>
              <a:ext cx="326983" cy="330876"/>
            </a:xfrm>
            <a:prstGeom prst="rect">
              <a:avLst/>
            </a:prstGeom>
            <a:blipFill rotWithShape="1">
              <a:blip r:embed="rId3"/>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2400"/>
                <a:buFont typeface="Calibri" panose="020F0502020204030204"/>
                <a:buNone/>
              </a:pPr>
              <a:endParaRPr sz="2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17" name="Google Shape;117;p15"/>
            <p:cNvSpPr/>
            <p:nvPr/>
          </p:nvSpPr>
          <p:spPr>
            <a:xfrm>
              <a:off x="4179483" y="3298443"/>
              <a:ext cx="331385" cy="326475"/>
            </a:xfrm>
            <a:prstGeom prst="rect">
              <a:avLst/>
            </a:prstGeom>
            <a:blipFill rotWithShape="1">
              <a:blip r:embed="rId4"/>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2400"/>
                <a:buFont typeface="Calibri" panose="020F0502020204030204"/>
                <a:buNone/>
              </a:pPr>
              <a:endParaRPr sz="2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18" name="Google Shape;118;p15"/>
            <p:cNvSpPr/>
            <p:nvPr/>
          </p:nvSpPr>
          <p:spPr>
            <a:xfrm>
              <a:off x="7027840" y="3326045"/>
              <a:ext cx="331555" cy="326305"/>
            </a:xfrm>
            <a:prstGeom prst="rect">
              <a:avLst/>
            </a:prstGeom>
            <a:blipFill rotWithShape="1">
              <a:blip r:embed="rId5"/>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2400"/>
                <a:buFont typeface="Calibri" panose="020F0502020204030204"/>
                <a:buNone/>
              </a:pPr>
              <a:endParaRPr sz="2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pSp>
      <p:sp>
        <p:nvSpPr>
          <p:cNvPr id="119" name="Google Shape;119;p15"/>
          <p:cNvSpPr txBox="1"/>
          <p:nvPr/>
        </p:nvSpPr>
        <p:spPr>
          <a:xfrm>
            <a:off x="1373563" y="5429752"/>
            <a:ext cx="8070577"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200"/>
              <a:buFont typeface="Roboto" panose="02000000000000000000"/>
              <a:buNone/>
            </a:pPr>
            <a:r>
              <a:rPr lang="en-ID" sz="1200" b="0" i="0" u="none" strike="noStrike" cap="none">
                <a:solidFill>
                  <a:schemeClr val="dk1"/>
                </a:solidFill>
                <a:latin typeface="Roboto" panose="02000000000000000000"/>
                <a:ea typeface="Roboto" panose="02000000000000000000"/>
                <a:cs typeface="Roboto" panose="02000000000000000000"/>
                <a:sym typeface="Roboto" panose="02000000000000000000"/>
              </a:rPr>
              <a:t>Reff: https://medium.com/@hannnfh/ai-project-cycle-ccd67c3dd21d</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23" name="Shape 123"/>
        <p:cNvGrpSpPr/>
        <p:nvPr/>
      </p:nvGrpSpPr>
      <p:grpSpPr>
        <a:xfrm>
          <a:off x="0" y="0"/>
          <a:ext cx="0" cy="0"/>
          <a:chOff x="0" y="0"/>
          <a:chExt cx="0" cy="0"/>
        </a:xfrm>
      </p:grpSpPr>
      <p:sp>
        <p:nvSpPr>
          <p:cNvPr id="124" name="Google Shape;124;p16"/>
          <p:cNvSpPr txBox="1"/>
          <p:nvPr>
            <p:ph type="title"/>
          </p:nvPr>
        </p:nvSpPr>
        <p:spPr>
          <a:xfrm>
            <a:off x="838200" y="365125"/>
            <a:ext cx="95409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panose="020F0502020204030204"/>
              <a:buNone/>
            </a:pPr>
            <a:r>
              <a:rPr lang="en-ID"/>
              <a:t>Pembatasan Masalah</a:t>
            </a:r>
            <a:endParaRPr lang="en-ID"/>
          </a:p>
        </p:txBody>
      </p:sp>
      <p:sp>
        <p:nvSpPr>
          <p:cNvPr id="125" name="Google Shape;125;p16"/>
          <p:cNvSpPr txBox="1"/>
          <p:nvPr>
            <p:ph type="body" idx="1"/>
          </p:nvPr>
        </p:nvSpPr>
        <p:spPr>
          <a:xfrm>
            <a:off x="495000" y="1595175"/>
            <a:ext cx="11202000" cy="5032500"/>
          </a:xfrm>
          <a:prstGeom prst="rect">
            <a:avLst/>
          </a:prstGeom>
          <a:noFill/>
          <a:ln>
            <a:noFill/>
          </a:ln>
        </p:spPr>
        <p:txBody>
          <a:bodyPr spcFirstLastPara="1" wrap="square" lIns="91425" tIns="45700" rIns="91425" bIns="45700" anchor="t" anchorCtr="0">
            <a:normAutofit fontScale="25000" lnSpcReduction="20000"/>
          </a:bodyPr>
          <a:lstStyle/>
          <a:p>
            <a:pPr marL="228600" marR="0" lvl="0" indent="-203200" algn="l" rtl="0">
              <a:lnSpc>
                <a:spcPct val="107000"/>
              </a:lnSpc>
              <a:spcBef>
                <a:spcPts val="0"/>
              </a:spcBef>
              <a:spcAft>
                <a:spcPts val="0"/>
              </a:spcAft>
              <a:buClr>
                <a:schemeClr val="dk1"/>
              </a:buClr>
              <a:buSzPct val="100000"/>
              <a:buChar char="•"/>
            </a:pPr>
            <a:r>
              <a:rPr lang="en-ID" sz="5600">
                <a:solidFill>
                  <a:schemeClr val="dk1"/>
                </a:solidFill>
                <a:latin typeface="Calibri" panose="020F0502020204030204"/>
                <a:ea typeface="Calibri" panose="020F0502020204030204"/>
                <a:cs typeface="Calibri" panose="020F0502020204030204"/>
                <a:sym typeface="Calibri" panose="020F0502020204030204"/>
              </a:rPr>
              <a:t>Masalah apa yang ingin Anda cari penyelesaiannya?</a:t>
            </a:r>
            <a:endParaRPr sz="5600"/>
          </a:p>
          <a:p>
            <a:pPr marL="228600" lvl="0" indent="0" algn="l" rtl="0">
              <a:lnSpc>
                <a:spcPct val="107000"/>
              </a:lnSpc>
              <a:spcBef>
                <a:spcPts val="800"/>
              </a:spcBef>
              <a:spcAft>
                <a:spcPts val="0"/>
              </a:spcAft>
              <a:buClr>
                <a:schemeClr val="dk1"/>
              </a:buClr>
              <a:buSzPct val="50000"/>
              <a:buNone/>
            </a:pPr>
            <a:r>
              <a:rPr lang="en-ID" sz="5600">
                <a:solidFill>
                  <a:schemeClr val="dk1"/>
                </a:solidFill>
                <a:latin typeface="Calibri" panose="020F0502020204030204"/>
                <a:ea typeface="Calibri" panose="020F0502020204030204"/>
                <a:cs typeface="Calibri" panose="020F0502020204030204"/>
                <a:sym typeface="Calibri" panose="020F0502020204030204"/>
              </a:rPr>
              <a:t>	&lt;</a:t>
            </a:r>
            <a:r>
              <a:rPr lang="en-ID" sz="5600"/>
              <a:t>Siswa SMA sering mengalami kesulitan dalam menemukan buku pembelajaran yang sesuai dengan:</a:t>
            </a:r>
            <a:endParaRPr sz="5600"/>
          </a:p>
          <a:p>
            <a:pPr marL="228600" lvl="0" indent="0" algn="l" rtl="0">
              <a:lnSpc>
                <a:spcPct val="107000"/>
              </a:lnSpc>
              <a:spcBef>
                <a:spcPts val="800"/>
              </a:spcBef>
              <a:spcAft>
                <a:spcPts val="0"/>
              </a:spcAft>
              <a:buClr>
                <a:schemeClr val="dk1"/>
              </a:buClr>
              <a:buSzPct val="50000"/>
              <a:buNone/>
            </a:pPr>
            <a:r>
              <a:rPr lang="en-ID" sz="5600"/>
              <a:t>1.Mata pelajaran yang dipelajari</a:t>
            </a:r>
            <a:endParaRPr sz="5600"/>
          </a:p>
          <a:p>
            <a:pPr marL="228600" lvl="0" indent="0" algn="l" rtl="0">
              <a:lnSpc>
                <a:spcPct val="107000"/>
              </a:lnSpc>
              <a:spcBef>
                <a:spcPts val="800"/>
              </a:spcBef>
              <a:spcAft>
                <a:spcPts val="0"/>
              </a:spcAft>
              <a:buClr>
                <a:schemeClr val="dk1"/>
              </a:buClr>
              <a:buSzPts val="275"/>
              <a:buFont typeface="Arial" panose="020B0604020202020204"/>
              <a:buNone/>
            </a:pPr>
            <a:r>
              <a:rPr lang="en-ID" sz="5600"/>
              <a:t>2.Tingkat kelas</a:t>
            </a:r>
            <a:endParaRPr sz="5600"/>
          </a:p>
          <a:p>
            <a:pPr marL="228600" lvl="0" indent="0" algn="l" rtl="0">
              <a:lnSpc>
                <a:spcPct val="107000"/>
              </a:lnSpc>
              <a:spcBef>
                <a:spcPts val="800"/>
              </a:spcBef>
              <a:spcAft>
                <a:spcPts val="0"/>
              </a:spcAft>
              <a:buClr>
                <a:schemeClr val="dk1"/>
              </a:buClr>
              <a:buSzPts val="275"/>
              <a:buFont typeface="Arial" panose="020B0604020202020204"/>
              <a:buNone/>
            </a:pPr>
            <a:r>
              <a:rPr lang="en-ID" sz="5600"/>
              <a:t>3.Minat belajar</a:t>
            </a:r>
            <a:endParaRPr sz="5600"/>
          </a:p>
          <a:p>
            <a:pPr marL="228600" lvl="0" indent="0" algn="l" rtl="0">
              <a:lnSpc>
                <a:spcPct val="107000"/>
              </a:lnSpc>
              <a:spcBef>
                <a:spcPts val="800"/>
              </a:spcBef>
              <a:spcAft>
                <a:spcPts val="0"/>
              </a:spcAft>
              <a:buClr>
                <a:schemeClr val="dk1"/>
              </a:buClr>
              <a:buSzPts val="275"/>
              <a:buNone/>
            </a:pPr>
            <a:r>
              <a:rPr lang="en-ID" sz="5600"/>
              <a:t>4.Tingkat kesulitan materi</a:t>
            </a:r>
            <a:endParaRPr lang="en-ID" sz="5600"/>
          </a:p>
          <a:p>
            <a:pPr marL="0" lvl="0" indent="0" algn="l" rtl="0">
              <a:lnSpc>
                <a:spcPct val="115000"/>
              </a:lnSpc>
              <a:spcBef>
                <a:spcPts val="1200"/>
              </a:spcBef>
              <a:spcAft>
                <a:spcPts val="0"/>
              </a:spcAft>
              <a:buClr>
                <a:schemeClr val="dk1"/>
              </a:buClr>
              <a:buSzPts val="275"/>
              <a:buFont typeface="Arial" panose="020B0604020202020204"/>
              <a:buNone/>
            </a:pPr>
            <a:r>
              <a:rPr lang="en-ID" sz="5600"/>
              <a:t>Saat ini pemilihan buku masih bersifat umum dan tidak personal.</a:t>
            </a:r>
            <a:endParaRPr sz="5600"/>
          </a:p>
          <a:p>
            <a:pPr marL="0" lvl="0" indent="0" algn="l" rtl="0">
              <a:lnSpc>
                <a:spcPct val="115000"/>
              </a:lnSpc>
              <a:spcBef>
                <a:spcPts val="1200"/>
              </a:spcBef>
              <a:spcAft>
                <a:spcPts val="0"/>
              </a:spcAft>
              <a:buClr>
                <a:schemeClr val="dk1"/>
              </a:buClr>
              <a:buSzPts val="275"/>
              <a:buFont typeface="Arial" panose="020B0604020202020204"/>
              <a:buNone/>
            </a:pPr>
            <a:r>
              <a:rPr lang="en-ID" sz="5600"/>
              <a:t>Akibatnya:</a:t>
            </a:r>
            <a:endParaRPr sz="5600"/>
          </a:p>
          <a:p>
            <a:pPr marL="457200" lvl="0" indent="-317500" algn="l" rtl="0">
              <a:lnSpc>
                <a:spcPct val="115000"/>
              </a:lnSpc>
              <a:spcBef>
                <a:spcPts val="1200"/>
              </a:spcBef>
              <a:spcAft>
                <a:spcPts val="0"/>
              </a:spcAft>
              <a:buSzPct val="100000"/>
              <a:buChar char="●"/>
            </a:pPr>
            <a:r>
              <a:rPr lang="en-ID" sz="5600"/>
              <a:t>Minat baca menjadi menurun </a:t>
            </a:r>
            <a:br>
              <a:rPr lang="en-ID" sz="5600"/>
            </a:br>
            <a:endParaRPr sz="5600"/>
          </a:p>
          <a:p>
            <a:pPr marL="457200" lvl="0" indent="-317500" algn="l" rtl="0">
              <a:lnSpc>
                <a:spcPct val="115000"/>
              </a:lnSpc>
              <a:spcBef>
                <a:spcPts val="0"/>
              </a:spcBef>
              <a:spcAft>
                <a:spcPts val="0"/>
              </a:spcAft>
              <a:buSzPct val="100000"/>
              <a:buChar char="●"/>
            </a:pPr>
            <a:r>
              <a:rPr lang="en-ID" sz="5600"/>
              <a:t>Pembelajaran tidak optimal</a:t>
            </a:r>
            <a:br>
              <a:rPr lang="en-ID" sz="5600"/>
            </a:br>
            <a:endParaRPr sz="5600"/>
          </a:p>
          <a:p>
            <a:pPr marL="457200" lvl="0" indent="-317500" algn="l" rtl="0">
              <a:lnSpc>
                <a:spcPct val="115000"/>
              </a:lnSpc>
              <a:spcBef>
                <a:spcPts val="0"/>
              </a:spcBef>
              <a:spcAft>
                <a:spcPts val="0"/>
              </a:spcAft>
              <a:buSzPct val="100000"/>
              <a:buChar char="●"/>
            </a:pPr>
            <a:r>
              <a:rPr lang="en-ID" sz="5600"/>
              <a:t>Tidak ada sistem personalisasi belajar</a:t>
            </a:r>
            <a:endParaRPr sz="3600">
              <a:solidFill>
                <a:schemeClr val="dk1"/>
              </a:solidFill>
              <a:latin typeface="Calibri" panose="020F0502020204030204"/>
              <a:ea typeface="Calibri" panose="020F0502020204030204"/>
              <a:cs typeface="Calibri" panose="020F0502020204030204"/>
              <a:sym typeface="Calibri" panose="020F0502020204030204"/>
            </a:endParaRPr>
          </a:p>
          <a:p>
            <a:pPr marL="228600" marR="0" lvl="0" indent="-189865" algn="l" rtl="0">
              <a:lnSpc>
                <a:spcPct val="107000"/>
              </a:lnSpc>
              <a:spcBef>
                <a:spcPts val="800"/>
              </a:spcBef>
              <a:spcAft>
                <a:spcPts val="0"/>
              </a:spcAft>
              <a:buClr>
                <a:schemeClr val="dk1"/>
              </a:buClr>
              <a:buSzPct val="85000"/>
              <a:buChar char="•"/>
            </a:pPr>
            <a:r>
              <a:rPr lang="en-ID" sz="5600">
                <a:solidFill>
                  <a:schemeClr val="dk1"/>
                </a:solidFill>
                <a:latin typeface="Calibri" panose="020F0502020204030204"/>
                <a:ea typeface="Calibri" panose="020F0502020204030204"/>
                <a:cs typeface="Calibri" panose="020F0502020204030204"/>
                <a:sym typeface="Calibri" panose="020F0502020204030204"/>
              </a:rPr>
              <a:t>Solusi yang ingin Anda hasilkan?</a:t>
            </a:r>
            <a:endParaRPr sz="5600"/>
          </a:p>
          <a:p>
            <a:pPr marL="228600" lvl="0" indent="0" algn="l" rtl="0">
              <a:lnSpc>
                <a:spcPct val="107000"/>
              </a:lnSpc>
              <a:spcBef>
                <a:spcPts val="800"/>
              </a:spcBef>
              <a:spcAft>
                <a:spcPts val="0"/>
              </a:spcAft>
              <a:buClr>
                <a:schemeClr val="dk1"/>
              </a:buClr>
              <a:buSzPct val="50000"/>
              <a:buNone/>
            </a:pPr>
            <a:r>
              <a:rPr lang="en-ID" sz="5600"/>
              <a:t>Merancang sistem rekomendasi buku pembelajaran berbasis Artificial Intelligence yang:</a:t>
            </a:r>
            <a:endParaRPr sz="5600"/>
          </a:p>
          <a:p>
            <a:pPr marL="228600" lvl="0" indent="0" algn="l" rtl="0">
              <a:lnSpc>
                <a:spcPct val="107000"/>
              </a:lnSpc>
              <a:spcBef>
                <a:spcPts val="800"/>
              </a:spcBef>
              <a:spcAft>
                <a:spcPts val="0"/>
              </a:spcAft>
              <a:buClr>
                <a:schemeClr val="dk1"/>
              </a:buClr>
              <a:buSzPct val="50000"/>
              <a:buNone/>
            </a:pPr>
            <a:r>
              <a:rPr lang="en-ID" sz="5600"/>
              <a:t>1.Memberikan rekomendasi buku sesuai profil siswa</a:t>
            </a:r>
            <a:br>
              <a:rPr lang="en-ID" sz="5600"/>
            </a:br>
            <a:r>
              <a:rPr lang="en-ID" sz="5600"/>
              <a:t>2.Menggunakan pendekatan Content-Based Filtering</a:t>
            </a:r>
            <a:br>
              <a:rPr lang="en-ID" sz="5600"/>
            </a:br>
            <a:r>
              <a:rPr lang="en-ID" sz="5600"/>
              <a:t>3.Membantu siswa menemukan referensi belajar yang relevan</a:t>
            </a:r>
            <a:br>
              <a:rPr lang="en-ID" sz="5600"/>
            </a:br>
            <a:r>
              <a:rPr lang="en-ID" sz="5600"/>
              <a:t>4.Mendukung peningkatan kualitas pendidikan (SDG 4)</a:t>
            </a:r>
            <a:endParaRPr sz="5600"/>
          </a:p>
          <a:p>
            <a:pPr marL="228600" lvl="0" indent="0" algn="l" rtl="0">
              <a:lnSpc>
                <a:spcPct val="107000"/>
              </a:lnSpc>
              <a:spcBef>
                <a:spcPts val="800"/>
              </a:spcBef>
              <a:spcAft>
                <a:spcPts val="0"/>
              </a:spcAft>
              <a:buClr>
                <a:schemeClr val="dk1"/>
              </a:buClr>
              <a:buSzPct val="100000"/>
              <a:buNone/>
            </a:pPr>
          </a:p>
          <a:p>
            <a:pPr marL="0" lvl="0" indent="0" algn="l" rtl="0">
              <a:lnSpc>
                <a:spcPct val="90000"/>
              </a:lnSpc>
              <a:spcBef>
                <a:spcPts val="1000"/>
              </a:spcBef>
              <a:spcAft>
                <a:spcPts val="0"/>
              </a:spcAft>
              <a:buClr>
                <a:schemeClr val="dk1"/>
              </a:buClr>
              <a:buSzPct val="100000"/>
              <a:buNone/>
            </a:p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29" name="Shape 129"/>
        <p:cNvGrpSpPr/>
        <p:nvPr/>
      </p:nvGrpSpPr>
      <p:grpSpPr>
        <a:xfrm>
          <a:off x="0" y="0"/>
          <a:ext cx="0" cy="0"/>
          <a:chOff x="0" y="0"/>
          <a:chExt cx="0" cy="0"/>
        </a:xfrm>
      </p:grpSpPr>
      <p:sp>
        <p:nvSpPr>
          <p:cNvPr id="130" name="Google Shape;130;p17"/>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panose="020F0502020204030204"/>
              <a:buNone/>
            </a:pPr>
            <a:r>
              <a:rPr lang="en-ID"/>
              <a:t>Metode 4W Canvas</a:t>
            </a:r>
            <a:endParaRPr lang="en-ID"/>
          </a:p>
        </p:txBody>
      </p:sp>
      <p:graphicFrame>
        <p:nvGraphicFramePr>
          <p:cNvPr id="131" name="Google Shape;131;p17"/>
          <p:cNvGraphicFramePr/>
          <p:nvPr/>
        </p:nvGraphicFramePr>
        <p:xfrm>
          <a:off x="340659" y="1790011"/>
          <a:ext cx="11609275" cy="4171500"/>
        </p:xfrm>
        <a:graphic>
          <a:graphicData uri="http://schemas.openxmlformats.org/drawingml/2006/table">
            <a:tbl>
              <a:tblPr>
                <a:noFill/>
                <a:tableStyleId>{E505D6F2-9F4E-442A-A93D-EE256C943408}</a:tableStyleId>
              </a:tblPr>
              <a:tblGrid>
                <a:gridCol w="2967325"/>
                <a:gridCol w="7232575"/>
                <a:gridCol w="1409375"/>
              </a:tblGrid>
              <a:tr h="1044450">
                <a:tc>
                  <a:txBody>
                    <a:bodyPr/>
                    <a:lstStyle/>
                    <a:p>
                      <a:pPr marL="0" marR="0" lvl="0" indent="0" algn="ctr" rtl="0">
                        <a:lnSpc>
                          <a:spcPct val="107000"/>
                        </a:lnSpc>
                        <a:spcBef>
                          <a:spcPts val="0"/>
                        </a:spcBef>
                        <a:spcAft>
                          <a:spcPts val="0"/>
                        </a:spcAft>
                        <a:buClr>
                          <a:srgbClr val="000000"/>
                        </a:buClr>
                        <a:buSzPts val="1800"/>
                        <a:buFont typeface="Calibri" panose="020F0502020204030204"/>
                        <a:buNone/>
                      </a:pPr>
                      <a:r>
                        <a:rPr lang="en-ID" sz="1800" u="none" strike="noStrike" cap="none">
                          <a:solidFill>
                            <a:srgbClr val="000000"/>
                          </a:solidFill>
                        </a:rPr>
                        <a:t>Para</a:t>
                      </a:r>
                      <a:br>
                        <a:rPr lang="en-ID" sz="1800" u="none" strike="noStrike" cap="none">
                          <a:solidFill>
                            <a:srgbClr val="000000"/>
                          </a:solidFill>
                        </a:rPr>
                      </a:br>
                      <a:r>
                        <a:rPr lang="en-ID" sz="1800" u="none" strike="noStrike" cap="none">
                          <a:solidFill>
                            <a:srgbClr val="000000"/>
                          </a:solidFill>
                        </a:rPr>
                        <a:t>[stakeholders]</a:t>
                      </a:r>
                      <a:endParaRPr sz="1800" u="none" strike="noStrike" cap="none">
                        <a:latin typeface="Calibri" panose="020F0502020204030204"/>
                        <a:ea typeface="Calibri" panose="020F0502020204030204"/>
                        <a:cs typeface="Calibri" panose="020F0502020204030204"/>
                        <a:sym typeface="Calibri" panose="020F0502020204030204"/>
                      </a:endParaRPr>
                    </a:p>
                  </a:txBody>
                  <a:tcPr marL="9525" marR="9525" marT="177175" marB="0" anchor="ctr"/>
                </a:tc>
                <a:tc>
                  <a:txBody>
                    <a:bodyPr/>
                    <a:lstStyle/>
                    <a:p>
                      <a:pPr marL="0" marR="0" lvl="0" indent="0" algn="l" rtl="0">
                        <a:spcBef>
                          <a:spcPts val="0"/>
                        </a:spcBef>
                        <a:spcAft>
                          <a:spcPts val="0"/>
                        </a:spcAft>
                        <a:buNone/>
                      </a:pPr>
                      <a:r>
                        <a:rPr lang="en-ID" sz="1800"/>
                        <a:t>Siswa SMA kelas 10–12</a:t>
                      </a:r>
                      <a:endParaRPr sz="1800"/>
                    </a:p>
                    <a:p>
                      <a:pPr marL="0" lvl="0" indent="0" algn="l" rtl="0">
                        <a:spcBef>
                          <a:spcPts val="0"/>
                        </a:spcBef>
                        <a:spcAft>
                          <a:spcPts val="0"/>
                        </a:spcAft>
                        <a:buClr>
                          <a:schemeClr val="dk1"/>
                        </a:buClr>
                        <a:buSzPts val="1100"/>
                        <a:buFont typeface="Arial" panose="020B0604020202020204"/>
                        <a:buNone/>
                      </a:pPr>
                      <a:r>
                        <a:rPr lang="en-ID" sz="1800"/>
                        <a:t>Guru</a:t>
                      </a:r>
                      <a:endParaRPr sz="1800"/>
                    </a:p>
                    <a:p>
                      <a:pPr marL="0" lvl="0" indent="0" algn="l" rtl="0">
                        <a:spcBef>
                          <a:spcPts val="0"/>
                        </a:spcBef>
                        <a:spcAft>
                          <a:spcPts val="0"/>
                        </a:spcAft>
                        <a:buClr>
                          <a:schemeClr val="dk1"/>
                        </a:buClr>
                        <a:buSzPts val="1100"/>
                        <a:buFont typeface="Arial" panose="020B0604020202020204"/>
                        <a:buNone/>
                      </a:pPr>
                      <a:r>
                        <a:rPr lang="en-ID" sz="1800"/>
                        <a:t>Pihak sekolah</a:t>
                      </a:r>
                      <a:endParaRPr sz="1800"/>
                    </a:p>
                    <a:p>
                      <a:pPr marL="0" marR="0" lvl="0" indent="0" algn="ctr" rtl="0">
                        <a:lnSpc>
                          <a:spcPct val="107000"/>
                        </a:lnSpc>
                        <a:spcBef>
                          <a:spcPts val="0"/>
                        </a:spcBef>
                        <a:spcAft>
                          <a:spcPts val="0"/>
                        </a:spcAft>
                        <a:buClr>
                          <a:schemeClr val="dk1"/>
                        </a:buClr>
                        <a:buSzPts val="1800"/>
                        <a:buFont typeface="Calibri" panose="020F0502020204030204"/>
                        <a:buNone/>
                      </a:pPr>
                      <a:endParaRPr sz="1800" u="none" strike="noStrike" cap="none">
                        <a:latin typeface="Calibri" panose="020F0502020204030204"/>
                        <a:ea typeface="Calibri" panose="020F0502020204030204"/>
                        <a:cs typeface="Calibri" panose="020F0502020204030204"/>
                        <a:sym typeface="Calibri" panose="020F0502020204030204"/>
                      </a:endParaRPr>
                    </a:p>
                  </a:txBody>
                  <a:tcPr marL="9525" marR="9525" marT="177175" marB="0"/>
                </a:tc>
                <a:tc>
                  <a:txBody>
                    <a:bodyPr/>
                    <a:lstStyle/>
                    <a:p>
                      <a:pPr marL="0" marR="0" lvl="0" indent="0" algn="ctr" rtl="0">
                        <a:lnSpc>
                          <a:spcPct val="107000"/>
                        </a:lnSpc>
                        <a:spcBef>
                          <a:spcPts val="0"/>
                        </a:spcBef>
                        <a:spcAft>
                          <a:spcPts val="0"/>
                        </a:spcAft>
                        <a:buClr>
                          <a:srgbClr val="000000"/>
                        </a:buClr>
                        <a:buSzPts val="1800"/>
                        <a:buFont typeface="Calibri" panose="020F0502020204030204"/>
                        <a:buNone/>
                      </a:pPr>
                      <a:r>
                        <a:rPr lang="en-ID" sz="1800" u="none" strike="noStrike" cap="none">
                          <a:solidFill>
                            <a:srgbClr val="000000"/>
                          </a:solidFill>
                        </a:rPr>
                        <a:t>WHO</a:t>
                      </a:r>
                      <a:endParaRPr sz="1800" u="none" strike="noStrike" cap="none">
                        <a:latin typeface="Calibri" panose="020F0502020204030204"/>
                        <a:ea typeface="Calibri" panose="020F0502020204030204"/>
                        <a:cs typeface="Calibri" panose="020F0502020204030204"/>
                        <a:sym typeface="Calibri" panose="020F0502020204030204"/>
                      </a:endParaRPr>
                    </a:p>
                  </a:txBody>
                  <a:tcPr marL="9525" marR="9525" marT="177175" marB="0" anchor="ctr"/>
                </a:tc>
              </a:tr>
              <a:tr h="1045650">
                <a:tc>
                  <a:txBody>
                    <a:bodyPr/>
                    <a:lstStyle/>
                    <a:p>
                      <a:pPr marL="0" marR="0" lvl="0" indent="0" algn="ctr" rtl="0">
                        <a:lnSpc>
                          <a:spcPct val="107000"/>
                        </a:lnSpc>
                        <a:spcBef>
                          <a:spcPts val="0"/>
                        </a:spcBef>
                        <a:spcAft>
                          <a:spcPts val="0"/>
                        </a:spcAft>
                        <a:buClr>
                          <a:srgbClr val="000000"/>
                        </a:buClr>
                        <a:buSzPts val="1800"/>
                        <a:buFont typeface="Calibri" panose="020F0502020204030204"/>
                        <a:buNone/>
                      </a:pPr>
                      <a:r>
                        <a:rPr lang="en-ID" sz="1800" u="none" strike="noStrike" cap="none">
                          <a:solidFill>
                            <a:srgbClr val="000000"/>
                          </a:solidFill>
                        </a:rPr>
                        <a:t>Masalah yang dihadapi</a:t>
                      </a:r>
                      <a:br>
                        <a:rPr lang="en-ID" sz="1800" u="none" strike="noStrike" cap="none">
                          <a:solidFill>
                            <a:srgbClr val="000000"/>
                          </a:solidFill>
                        </a:rPr>
                      </a:br>
                      <a:r>
                        <a:rPr lang="en-ID" sz="1800" u="none" strike="noStrike" cap="none">
                          <a:solidFill>
                            <a:srgbClr val="000000"/>
                          </a:solidFill>
                        </a:rPr>
                        <a:t>[isu, masalah, kebutuhan]</a:t>
                      </a:r>
                      <a:endParaRPr sz="1800" u="none" strike="noStrike" cap="none">
                        <a:latin typeface="Calibri" panose="020F0502020204030204"/>
                        <a:ea typeface="Calibri" panose="020F0502020204030204"/>
                        <a:cs typeface="Calibri" panose="020F0502020204030204"/>
                        <a:sym typeface="Calibri" panose="020F0502020204030204"/>
                      </a:endParaRPr>
                    </a:p>
                  </a:txBody>
                  <a:tcPr marL="9525" marR="9525" marT="177800" marB="0" anchor="ctr"/>
                </a:tc>
                <a:tc>
                  <a:txBody>
                    <a:bodyPr/>
                    <a:lstStyle/>
                    <a:p>
                      <a:pPr marL="0" marR="0" lvl="0" indent="0" algn="ctr" rtl="0">
                        <a:lnSpc>
                          <a:spcPct val="107000"/>
                        </a:lnSpc>
                        <a:spcBef>
                          <a:spcPts val="0"/>
                        </a:spcBef>
                        <a:spcAft>
                          <a:spcPts val="0"/>
                        </a:spcAft>
                        <a:buClr>
                          <a:schemeClr val="dk1"/>
                        </a:buClr>
                        <a:buSzPts val="1800"/>
                        <a:buFont typeface="Calibri" panose="020F0502020204030204"/>
                        <a:buNone/>
                      </a:pPr>
                      <a:r>
                        <a:rPr lang="en-ID" sz="1800"/>
                        <a:t>Kurangnya ada sebuah sistem untuk pencarian buku yang mencakup genre semua buku dan memiliki deskripsi singkat/sinopsis buku</a:t>
                      </a:r>
                      <a:endParaRPr sz="1800" u="none" strike="noStrike" cap="none">
                        <a:latin typeface="Calibri" panose="020F0502020204030204"/>
                        <a:ea typeface="Calibri" panose="020F0502020204030204"/>
                        <a:cs typeface="Calibri" panose="020F0502020204030204"/>
                        <a:sym typeface="Calibri" panose="020F0502020204030204"/>
                      </a:endParaRPr>
                    </a:p>
                  </a:txBody>
                  <a:tcPr marL="9525" marR="9525" marT="177800" marB="0"/>
                </a:tc>
                <a:tc>
                  <a:txBody>
                    <a:bodyPr/>
                    <a:lstStyle/>
                    <a:p>
                      <a:pPr marL="0" marR="0" lvl="0" indent="0" algn="ctr" rtl="0">
                        <a:lnSpc>
                          <a:spcPct val="107000"/>
                        </a:lnSpc>
                        <a:spcBef>
                          <a:spcPts val="0"/>
                        </a:spcBef>
                        <a:spcAft>
                          <a:spcPts val="0"/>
                        </a:spcAft>
                        <a:buClr>
                          <a:srgbClr val="000000"/>
                        </a:buClr>
                        <a:buSzPts val="1800"/>
                        <a:buFont typeface="Calibri" panose="020F0502020204030204"/>
                        <a:buNone/>
                      </a:pPr>
                      <a:r>
                        <a:rPr lang="en-ID" sz="1800" u="none" strike="noStrike" cap="none">
                          <a:solidFill>
                            <a:srgbClr val="000000"/>
                          </a:solidFill>
                        </a:rPr>
                        <a:t>WHAT</a:t>
                      </a:r>
                      <a:endParaRPr sz="1800" u="none" strike="noStrike" cap="none">
                        <a:latin typeface="Calibri" panose="020F0502020204030204"/>
                        <a:ea typeface="Calibri" panose="020F0502020204030204"/>
                        <a:cs typeface="Calibri" panose="020F0502020204030204"/>
                        <a:sym typeface="Calibri" panose="020F0502020204030204"/>
                      </a:endParaRPr>
                    </a:p>
                  </a:txBody>
                  <a:tcPr marL="9525" marR="9525" marT="177800" marB="0" anchor="ctr"/>
                </a:tc>
              </a:tr>
              <a:tr h="1045325">
                <a:tc>
                  <a:txBody>
                    <a:bodyPr/>
                    <a:lstStyle/>
                    <a:p>
                      <a:pPr marL="0" marR="0" lvl="0" indent="0" algn="ctr" rtl="0">
                        <a:lnSpc>
                          <a:spcPct val="107000"/>
                        </a:lnSpc>
                        <a:spcBef>
                          <a:spcPts val="0"/>
                        </a:spcBef>
                        <a:spcAft>
                          <a:spcPts val="0"/>
                        </a:spcAft>
                        <a:buClr>
                          <a:srgbClr val="000000"/>
                        </a:buClr>
                        <a:buSzPts val="1800"/>
                        <a:buFont typeface="Calibri" panose="020F0502020204030204"/>
                        <a:buNone/>
                      </a:pPr>
                      <a:r>
                        <a:rPr lang="en-ID" sz="1800" u="none" strike="noStrike" cap="none">
                          <a:solidFill>
                            <a:srgbClr val="000000"/>
                          </a:solidFill>
                        </a:rPr>
                        <a:t>Ketika</a:t>
                      </a:r>
                      <a:br>
                        <a:rPr lang="en-ID" sz="1800" u="none" strike="noStrike" cap="none">
                          <a:solidFill>
                            <a:srgbClr val="000000"/>
                          </a:solidFill>
                        </a:rPr>
                      </a:br>
                      <a:r>
                        <a:rPr lang="en-ID" sz="1800" u="none" strike="noStrike" cap="none">
                          <a:solidFill>
                            <a:srgbClr val="000000"/>
                          </a:solidFill>
                        </a:rPr>
                        <a:t>[konteks dan situasi]</a:t>
                      </a:r>
                      <a:endParaRPr sz="1800" u="none" strike="noStrike" cap="none">
                        <a:latin typeface="Calibri" panose="020F0502020204030204"/>
                        <a:ea typeface="Calibri" panose="020F0502020204030204"/>
                        <a:cs typeface="Calibri" panose="020F0502020204030204"/>
                        <a:sym typeface="Calibri" panose="020F0502020204030204"/>
                      </a:endParaRPr>
                    </a:p>
                  </a:txBody>
                  <a:tcPr marL="9525" marR="9525" marT="177800" marB="0" anchor="ctr"/>
                </a:tc>
                <a:tc>
                  <a:txBody>
                    <a:bodyPr/>
                    <a:lstStyle/>
                    <a:p>
                      <a:pPr marL="0" marR="0" lvl="0" indent="0" algn="ctr" rtl="0">
                        <a:lnSpc>
                          <a:spcPct val="107000"/>
                        </a:lnSpc>
                        <a:spcBef>
                          <a:spcPts val="0"/>
                        </a:spcBef>
                        <a:spcAft>
                          <a:spcPts val="0"/>
                        </a:spcAft>
                        <a:buClr>
                          <a:schemeClr val="dk1"/>
                        </a:buClr>
                        <a:buSzPts val="1800"/>
                        <a:buFont typeface="Calibri" panose="020F0502020204030204"/>
                        <a:buNone/>
                      </a:pPr>
                      <a:r>
                        <a:rPr lang="en-ID" sz="1800"/>
                        <a:t>Lingkungan sekolah menengah atas (SMA)</a:t>
                      </a:r>
                      <a:endParaRPr sz="1800" u="none" strike="noStrike" cap="none">
                        <a:latin typeface="Calibri" panose="020F0502020204030204"/>
                        <a:ea typeface="Calibri" panose="020F0502020204030204"/>
                        <a:cs typeface="Calibri" panose="020F0502020204030204"/>
                        <a:sym typeface="Calibri" panose="020F0502020204030204"/>
                      </a:endParaRPr>
                    </a:p>
                  </a:txBody>
                  <a:tcPr marL="9525" marR="9525" marT="177800" marB="0"/>
                </a:tc>
                <a:tc>
                  <a:txBody>
                    <a:bodyPr/>
                    <a:lstStyle/>
                    <a:p>
                      <a:pPr marL="0" marR="0" lvl="0" indent="0" algn="ctr" rtl="0">
                        <a:lnSpc>
                          <a:spcPct val="107000"/>
                        </a:lnSpc>
                        <a:spcBef>
                          <a:spcPts val="0"/>
                        </a:spcBef>
                        <a:spcAft>
                          <a:spcPts val="0"/>
                        </a:spcAft>
                        <a:buClr>
                          <a:srgbClr val="000000"/>
                        </a:buClr>
                        <a:buSzPts val="1800"/>
                        <a:buFont typeface="Calibri" panose="020F0502020204030204"/>
                        <a:buNone/>
                      </a:pPr>
                      <a:r>
                        <a:rPr lang="en-ID" sz="1800" u="none" strike="noStrike" cap="none">
                          <a:solidFill>
                            <a:srgbClr val="000000"/>
                          </a:solidFill>
                        </a:rPr>
                        <a:t>WHERE</a:t>
                      </a:r>
                      <a:endParaRPr sz="1800" u="none" strike="noStrike" cap="none">
                        <a:latin typeface="Calibri" panose="020F0502020204030204"/>
                        <a:ea typeface="Calibri" panose="020F0502020204030204"/>
                        <a:cs typeface="Calibri" panose="020F0502020204030204"/>
                        <a:sym typeface="Calibri" panose="020F0502020204030204"/>
                      </a:endParaRPr>
                    </a:p>
                  </a:txBody>
                  <a:tcPr marL="9525" marR="9525" marT="177800" marB="0" anchor="ctr"/>
                </a:tc>
              </a:tr>
              <a:tr h="1036075">
                <a:tc>
                  <a:txBody>
                    <a:bodyPr/>
                    <a:lstStyle/>
                    <a:p>
                      <a:pPr marL="0" marR="0" lvl="0" indent="0" algn="ctr" rtl="0">
                        <a:lnSpc>
                          <a:spcPct val="107000"/>
                        </a:lnSpc>
                        <a:spcBef>
                          <a:spcPts val="0"/>
                        </a:spcBef>
                        <a:spcAft>
                          <a:spcPts val="0"/>
                        </a:spcAft>
                        <a:buClr>
                          <a:srgbClr val="000000"/>
                        </a:buClr>
                        <a:buSzPts val="1800"/>
                        <a:buFont typeface="Calibri" panose="020F0502020204030204"/>
                        <a:buNone/>
                      </a:pPr>
                      <a:r>
                        <a:rPr lang="en-ID" sz="1800" u="none" strike="noStrike" cap="none">
                          <a:solidFill>
                            <a:srgbClr val="000000"/>
                          </a:solidFill>
                        </a:rPr>
                        <a:t>Solusi yang diharapkan</a:t>
                      </a:r>
                      <a:endParaRPr sz="1800" u="none" strike="noStrike" cap="none">
                        <a:latin typeface="Calibri" panose="020F0502020204030204"/>
                        <a:ea typeface="Calibri" panose="020F0502020204030204"/>
                        <a:cs typeface="Calibri" panose="020F0502020204030204"/>
                        <a:sym typeface="Calibri" panose="020F0502020204030204"/>
                      </a:endParaRPr>
                    </a:p>
                  </a:txBody>
                  <a:tcPr marL="9525" marR="9525" marT="177800" marB="0" anchor="ctr"/>
                </a:tc>
                <a:tc>
                  <a:txBody>
                    <a:bodyPr/>
                    <a:lstStyle/>
                    <a:p>
                      <a:pPr marL="0" marR="0" lvl="0" indent="0" algn="ctr" rtl="0">
                        <a:lnSpc>
                          <a:spcPct val="107000"/>
                        </a:lnSpc>
                        <a:spcBef>
                          <a:spcPts val="0"/>
                        </a:spcBef>
                        <a:spcAft>
                          <a:spcPts val="0"/>
                        </a:spcAft>
                        <a:buClr>
                          <a:schemeClr val="dk1"/>
                        </a:buClr>
                        <a:buSzPts val="1800"/>
                        <a:buFont typeface="Calibri" panose="020F0502020204030204"/>
                        <a:buNone/>
                      </a:pPr>
                      <a:r>
                        <a:rPr lang="en-ID" sz="1800" u="none" strike="noStrike" cap="none"/>
                        <a:t> Siswa/i dapat </a:t>
                      </a:r>
                      <a:r>
                        <a:rPr lang="en-ID" sz="1800"/>
                        <a:t>menggunakan</a:t>
                      </a:r>
                      <a:r>
                        <a:rPr lang="en-ID" sz="1800"/>
                        <a:t> sistem untuk membantu mencari/meminta rekomendasi  buku yang mereka ingini dan meningkatkan minat belajar dan minat membaca</a:t>
                      </a:r>
                      <a:endParaRPr sz="1800"/>
                    </a:p>
                  </a:txBody>
                  <a:tcPr marL="9525" marR="9525" marT="177800" marB="0"/>
                </a:tc>
                <a:tc>
                  <a:txBody>
                    <a:bodyPr/>
                    <a:lstStyle/>
                    <a:p>
                      <a:pPr marL="0" marR="0" lvl="0" indent="0" algn="ctr" rtl="0">
                        <a:lnSpc>
                          <a:spcPct val="107000"/>
                        </a:lnSpc>
                        <a:spcBef>
                          <a:spcPts val="0"/>
                        </a:spcBef>
                        <a:spcAft>
                          <a:spcPts val="0"/>
                        </a:spcAft>
                        <a:buClr>
                          <a:srgbClr val="000000"/>
                        </a:buClr>
                        <a:buSzPts val="1800"/>
                        <a:buFont typeface="Calibri" panose="020F0502020204030204"/>
                        <a:buNone/>
                      </a:pPr>
                      <a:r>
                        <a:rPr lang="en-ID" sz="1800" u="none" strike="noStrike" cap="none">
                          <a:solidFill>
                            <a:srgbClr val="000000"/>
                          </a:solidFill>
                        </a:rPr>
                        <a:t>WHY</a:t>
                      </a:r>
                      <a:endParaRPr sz="1800" u="none" strike="noStrike" cap="none">
                        <a:latin typeface="Calibri" panose="020F0502020204030204"/>
                        <a:ea typeface="Calibri" panose="020F0502020204030204"/>
                        <a:cs typeface="Calibri" panose="020F0502020204030204"/>
                        <a:sym typeface="Calibri" panose="020F0502020204030204"/>
                      </a:endParaRPr>
                    </a:p>
                  </a:txBody>
                  <a:tcPr marL="9525" marR="9525" marT="177800" marB="0" anchor="ct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35" name="Shape 135"/>
        <p:cNvGrpSpPr/>
        <p:nvPr/>
      </p:nvGrpSpPr>
      <p:grpSpPr>
        <a:xfrm>
          <a:off x="0" y="0"/>
          <a:ext cx="0" cy="0"/>
          <a:chOff x="0" y="0"/>
          <a:chExt cx="0" cy="0"/>
        </a:xfrm>
      </p:grpSpPr>
      <p:sp>
        <p:nvSpPr>
          <p:cNvPr id="136" name="Google Shape;136;p18"/>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panose="020F0502020204030204"/>
              <a:buNone/>
            </a:pPr>
            <a:r>
              <a:rPr lang="en-ID"/>
              <a:t>Akuisisi Data</a:t>
            </a:r>
            <a:endParaRPr lang="en-ID"/>
          </a:p>
        </p:txBody>
      </p:sp>
      <p:sp>
        <p:nvSpPr>
          <p:cNvPr id="137" name="Google Shape;137;p18"/>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77500" lnSpcReduction="20000"/>
          </a:bodyPr>
          <a:lstStyle/>
          <a:p>
            <a:pPr marL="228600" lvl="0" indent="-228600" algn="l" rtl="0">
              <a:lnSpc>
                <a:spcPct val="90000"/>
              </a:lnSpc>
              <a:spcBef>
                <a:spcPts val="0"/>
              </a:spcBef>
              <a:spcAft>
                <a:spcPts val="0"/>
              </a:spcAft>
              <a:buClr>
                <a:schemeClr val="dk1"/>
              </a:buClr>
              <a:buSzPct val="100000"/>
              <a:buChar char="•"/>
            </a:pPr>
            <a:r>
              <a:rPr lang="en-ID"/>
              <a:t>Proses mengumpulkan data-data yang dibutuhkan untuk membuat proyek AI. Hal ini merupakan dasar atau bahan yang selanjutnya diolah untuk dianalisis sesuai masalah dan diamati agar bisa menghasilkan solusi terbaik. Sering disebut dengan data collecting.</a:t>
            </a:r>
            <a:endParaRPr lang="en-ID"/>
          </a:p>
          <a:p>
            <a:pPr marL="228600" lvl="0" indent="-228600" algn="l" rtl="0">
              <a:lnSpc>
                <a:spcPct val="90000"/>
              </a:lnSpc>
              <a:spcBef>
                <a:spcPts val="1000"/>
              </a:spcBef>
              <a:spcAft>
                <a:spcPts val="0"/>
              </a:spcAft>
              <a:buClr>
                <a:schemeClr val="dk1"/>
              </a:buClr>
              <a:buSzPct val="100000"/>
              <a:buChar char="•"/>
            </a:pPr>
            <a:r>
              <a:rPr lang="en-ID"/>
              <a:t>Data yang dikumpulkan bisa berupa data yang dianalisa ataupun data berupa literatur yang mendasari solusi bisa memungkin untuk digunakan.</a:t>
            </a:r>
            <a:endParaRPr lang="en-ID"/>
          </a:p>
          <a:p>
            <a:pPr marL="228600" lvl="0" indent="-90805" algn="l" rtl="0">
              <a:lnSpc>
                <a:spcPct val="90000"/>
              </a:lnSpc>
              <a:spcBef>
                <a:spcPts val="1000"/>
              </a:spcBef>
              <a:spcAft>
                <a:spcPts val="0"/>
              </a:spcAft>
              <a:buClr>
                <a:schemeClr val="dk1"/>
              </a:buClr>
              <a:buSzPct val="100000"/>
              <a:buNone/>
            </a:pPr>
          </a:p>
          <a:p>
            <a:pPr marL="228600" lvl="0" indent="-228600" algn="l" rtl="0">
              <a:lnSpc>
                <a:spcPct val="90000"/>
              </a:lnSpc>
              <a:spcBef>
                <a:spcPts val="1000"/>
              </a:spcBef>
              <a:spcAft>
                <a:spcPts val="0"/>
              </a:spcAft>
              <a:buClr>
                <a:schemeClr val="dk1"/>
              </a:buClr>
              <a:buSzPct val="100000"/>
              <a:buChar char="•"/>
            </a:pPr>
            <a:r>
              <a:rPr lang="en-ID"/>
              <a:t>Ada beberapa cara untuk mendapatkan data:</a:t>
            </a:r>
            <a:endParaRPr lang="en-ID"/>
          </a:p>
          <a:p>
            <a:pPr marL="228600" lvl="0" indent="-228600" algn="l" rtl="0">
              <a:lnSpc>
                <a:spcPct val="90000"/>
              </a:lnSpc>
              <a:spcBef>
                <a:spcPts val="1000"/>
              </a:spcBef>
              <a:spcAft>
                <a:spcPts val="0"/>
              </a:spcAft>
              <a:buClr>
                <a:schemeClr val="dk1"/>
              </a:buClr>
              <a:buSzPct val="100000"/>
              <a:buChar char="•"/>
            </a:pPr>
            <a:r>
              <a:rPr lang="en-ID"/>
              <a:t>Data primer:</a:t>
            </a:r>
            <a:endParaRPr lang="en-ID"/>
          </a:p>
          <a:p>
            <a:pPr marL="685800" lvl="1" indent="-228600" algn="l" rtl="0">
              <a:lnSpc>
                <a:spcPct val="90000"/>
              </a:lnSpc>
              <a:spcBef>
                <a:spcPts val="500"/>
              </a:spcBef>
              <a:spcAft>
                <a:spcPts val="0"/>
              </a:spcAft>
              <a:buClr>
                <a:schemeClr val="dk1"/>
              </a:buClr>
              <a:buSzPct val="100000"/>
              <a:buChar char="•"/>
            </a:pPr>
            <a:r>
              <a:rPr lang="en-ID"/>
              <a:t>Melalui Tools/Alat (IoT)	: Kamera, Microphone dan Sensor</a:t>
            </a:r>
            <a:endParaRPr lang="en-ID"/>
          </a:p>
          <a:p>
            <a:pPr marL="685800" lvl="1" indent="-228600" algn="l" rtl="0">
              <a:lnSpc>
                <a:spcPct val="90000"/>
              </a:lnSpc>
              <a:spcBef>
                <a:spcPts val="500"/>
              </a:spcBef>
              <a:spcAft>
                <a:spcPts val="0"/>
              </a:spcAft>
              <a:buClr>
                <a:schemeClr val="dk1"/>
              </a:buClr>
              <a:buSzPct val="100000"/>
              <a:buChar char="•"/>
            </a:pPr>
            <a:r>
              <a:rPr lang="en-ID"/>
              <a:t>Observasi (formulir pengisian)	: Survei, Penelitian</a:t>
            </a:r>
            <a:endParaRPr lang="en-ID"/>
          </a:p>
          <a:p>
            <a:pPr marL="228600" lvl="0" indent="-228600" algn="l" rtl="0">
              <a:lnSpc>
                <a:spcPct val="90000"/>
              </a:lnSpc>
              <a:spcBef>
                <a:spcPts val="1000"/>
              </a:spcBef>
              <a:spcAft>
                <a:spcPts val="0"/>
              </a:spcAft>
              <a:buClr>
                <a:schemeClr val="dk1"/>
              </a:buClr>
              <a:buSzPct val="100000"/>
              <a:buChar char="•"/>
            </a:pPr>
            <a:r>
              <a:rPr lang="en-ID"/>
              <a:t>Data sekunder:</a:t>
            </a:r>
            <a:endParaRPr lang="en-ID"/>
          </a:p>
          <a:p>
            <a:pPr marL="685800" lvl="1" indent="-228600" algn="l" rtl="0">
              <a:lnSpc>
                <a:spcPct val="90000"/>
              </a:lnSpc>
              <a:spcBef>
                <a:spcPts val="500"/>
              </a:spcBef>
              <a:spcAft>
                <a:spcPts val="0"/>
              </a:spcAft>
              <a:buClr>
                <a:schemeClr val="dk1"/>
              </a:buClr>
              <a:buSzPct val="100000"/>
              <a:buChar char="•"/>
            </a:pPr>
            <a:r>
              <a:rPr lang="en-ID"/>
              <a:t>Open Data	: BPS, AWS, Kaggle, API (REST API, Twitter API, Youtube API)</a:t>
            </a:r>
            <a:endParaRPr lang="en-ID"/>
          </a:p>
          <a:p>
            <a:pPr marL="685800" lvl="1" indent="-228600" algn="l" rtl="0">
              <a:lnSpc>
                <a:spcPct val="90000"/>
              </a:lnSpc>
              <a:spcBef>
                <a:spcPts val="500"/>
              </a:spcBef>
              <a:spcAft>
                <a:spcPts val="0"/>
              </a:spcAft>
              <a:buClr>
                <a:schemeClr val="dk1"/>
              </a:buClr>
              <a:buSzPct val="100000"/>
              <a:buChar char="•"/>
            </a:pPr>
            <a:r>
              <a:rPr lang="en-ID"/>
              <a:t>Web Scraping/Crawling.</a:t>
            </a:r>
            <a:endParaRPr lang="en-ID"/>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900" name="Shape 900"/>
        <p:cNvGrpSpPr/>
        <p:nvPr/>
      </p:nvGrpSpPr>
      <p:grpSpPr>
        <a:xfrm>
          <a:off x="0" y="0"/>
          <a:ext cx="0" cy="0"/>
          <a:chOff x="0" y="0"/>
          <a:chExt cx="0" cy="0"/>
        </a:xfrm>
      </p:grpSpPr>
      <p:sp>
        <p:nvSpPr>
          <p:cNvPr id="901" name="Title"/>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None/>
            </a:pPr>
            <a:r>
              <a:rPr lang="en-ID"/>
              <a:t>Akuisisi Data – Dataset yang Digunakan</a:t>
            </a:r>
            <a:endParaRPr lang="en-ID"/>
          </a:p>
        </p:txBody>
      </p:sp>
      <p:sp>
        <p:nvSpPr>
          <p:cNvPr id="902" name="Body"/>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77500" lnSpcReduction="20000"/>
          </a:bodyPr>
          <a:lstStyle/>
          <a:p>
            <a:pPr marL="228600" lvl="0" indent="-228600" algn="l" rtl="0">
              <a:lnSpc>
                <a:spcPct val="90000"/>
              </a:lnSpc>
              <a:spcBef>
                <a:spcPts val="1000"/>
              </a:spcBef>
              <a:spcAft>
                <a:spcPts val="0"/>
              </a:spcAft>
              <a:buClr>
                <a:schemeClr val="dk1"/>
              </a:buClr>
              <a:buSzPct val="100000"/>
              <a:buChar char="•"/>
            </a:pPr>
            <a:r>
              <a:rPr lang="en-ID" b="1"/>
              <a:t>Jenis Data: Data Sekunder (dikurasi secara manual)</a:t>
            </a:r>
            <a:endParaRPr lang="en-ID" b="1"/>
          </a:p>
          <a:p>
            <a:pPr marL="685800" lvl="1" indent="-228600" algn="l" rtl="0">
              <a:lnSpc>
                <a:spcPct val="90000"/>
              </a:lnSpc>
              <a:spcBef>
                <a:spcPts val="500"/>
              </a:spcBef>
              <a:spcAft>
                <a:spcPts val="0"/>
              </a:spcAft>
              <a:buClr>
                <a:schemeClr val="dk1"/>
              </a:buClr>
              <a:buSzPct val="100000"/>
              <a:buChar char="•"/>
            </a:pPr>
            <a:r>
              <a:rPr lang="en-ID"/>
              <a:t>Data TIDAK diambil dari Kaggle atau open dataset eksternal</a:t>
            </a:r>
            <a:endParaRPr lang="en-ID"/>
          </a:p>
          <a:p>
            <a:pPr marL="685800" lvl="1" indent="-228600" algn="l" rtl="0">
              <a:lnSpc>
                <a:spcPct val="90000"/>
              </a:lnSpc>
              <a:spcBef>
                <a:spcPts val="500"/>
              </a:spcBef>
              <a:spcAft>
                <a:spcPts val="0"/>
              </a:spcAft>
              <a:buClr>
                <a:schemeClr val="dk1"/>
              </a:buClr>
              <a:buSzPct val="100000"/>
              <a:buChar char="•"/>
            </a:pPr>
            <a:r>
              <a:rPr lang="en-ID"/>
              <a:t>Database buku dibuat secara manual oleh tim berdasarkan buku pelajaran SMA resmi (Kurikulum Merdeka)</a:t>
            </a:r>
            <a:endParaRPr lang="en-ID"/>
          </a:p>
          <a:p>
            <a:pPr marL="0" lvl="0" indent="0" algn="l" rtl="0">
              <a:lnSpc>
                <a:spcPct val="90000"/>
              </a:lnSpc>
              <a:spcBef>
                <a:spcPts val="800"/>
              </a:spcBef>
              <a:spcAft>
                <a:spcPts val="0"/>
              </a:spcAft>
              <a:buNone/>
            </a:pPr>
          </a:p>
          <a:p>
            <a:pPr marL="228600" lvl="0" indent="-228600" algn="l" rtl="0">
              <a:lnSpc>
                <a:spcPct val="90000"/>
              </a:lnSpc>
              <a:spcBef>
                <a:spcPts val="1000"/>
              </a:spcBef>
              <a:spcAft>
                <a:spcPts val="0"/>
              </a:spcAft>
              <a:buClr>
                <a:schemeClr val="dk1"/>
              </a:buClr>
              <a:buSzPct val="100000"/>
              <a:buChar char="•"/>
            </a:pPr>
            <a:r>
              <a:rPr lang="en-ID" b="1"/>
              <a:t>Isi Database Buku (books_database dalam main.py):</a:t>
            </a:r>
            <a:endParaRPr lang="en-ID" b="1"/>
          </a:p>
          <a:p>
            <a:pPr marL="685800" lvl="1" indent="-228600" algn="l" rtl="0">
              <a:lnSpc>
                <a:spcPct val="90000"/>
              </a:lnSpc>
              <a:spcBef>
                <a:spcPts val="500"/>
              </a:spcBef>
              <a:spcAft>
                <a:spcPts val="0"/>
              </a:spcAft>
              <a:buClr>
                <a:schemeClr val="dk1"/>
              </a:buClr>
              <a:buSzPct val="100000"/>
              <a:buChar char="•"/>
            </a:pPr>
            <a:r>
              <a:rPr lang="en-ID"/>
              <a:t>Total: 50 buku pelajaran SMA yang dikurasi secara langsung</a:t>
            </a:r>
            <a:endParaRPr lang="en-ID"/>
          </a:p>
          <a:p>
            <a:pPr marL="685800" lvl="1" indent="-228600" algn="l" rtl="0">
              <a:lnSpc>
                <a:spcPct val="90000"/>
              </a:lnSpc>
              <a:spcBef>
                <a:spcPts val="500"/>
              </a:spcBef>
              <a:spcAft>
                <a:spcPts val="0"/>
              </a:spcAft>
              <a:buClr>
                <a:schemeClr val="dk1"/>
              </a:buClr>
              <a:buSzPct val="100000"/>
              <a:buChar char="•"/>
            </a:pPr>
            <a:r>
              <a:rPr lang="en-ID"/>
              <a:t>Mencakup semua tingkat kelas: Kelas X (Kelas 10), Kelas XI (Kelas 11), Kelas XII (Kelas 12)</a:t>
            </a:r>
            <a:endParaRPr lang="en-ID"/>
          </a:p>
          <a:p>
            <a:pPr marL="685800" lvl="1" indent="-228600" algn="l" rtl="0">
              <a:lnSpc>
                <a:spcPct val="90000"/>
              </a:lnSpc>
              <a:spcBef>
                <a:spcPts val="500"/>
              </a:spcBef>
              <a:spcAft>
                <a:spcPts val="0"/>
              </a:spcAft>
              <a:buClr>
                <a:schemeClr val="dk1"/>
              </a:buClr>
              <a:buSzPct val="100000"/>
              <a:buChar char="•"/>
            </a:pPr>
            <a:r>
              <a:rPr lang="en-ID"/>
              <a:t>Mata pelajaran yang dicakup: Matematika, Bahasa Indonesia, Bahasa Inggris, Fisika, Kimia, Biologi, Sejarah, Geografi, Sosiologi, Ekonomi, Informatika, PPKn, Seni Budaya, PJOK, Antropologi, Prakarya</a:t>
            </a:r>
            <a:endParaRPr lang="en-ID"/>
          </a:p>
          <a:p>
            <a:pPr marL="0" lvl="0" indent="0" algn="l" rtl="0">
              <a:lnSpc>
                <a:spcPct val="90000"/>
              </a:lnSpc>
              <a:spcBef>
                <a:spcPts val="800"/>
              </a:spcBef>
              <a:spcAft>
                <a:spcPts val="0"/>
              </a:spcAft>
              <a:buNone/>
            </a:pPr>
          </a:p>
          <a:p>
            <a:pPr marL="228600" lvl="0" indent="-228600" algn="l" rtl="0">
              <a:lnSpc>
                <a:spcPct val="90000"/>
              </a:lnSpc>
              <a:spcBef>
                <a:spcPts val="1000"/>
              </a:spcBef>
              <a:spcAft>
                <a:spcPts val="0"/>
              </a:spcAft>
              <a:buClr>
                <a:schemeClr val="dk1"/>
              </a:buClr>
              <a:buSzPct val="100000"/>
              <a:buChar char="•"/>
            </a:pPr>
            <a:r>
              <a:rPr lang="en-ID" b="1"/>
              <a:t>Atribut Setiap Buku:</a:t>
            </a:r>
            <a:endParaRPr lang="en-ID" b="1"/>
          </a:p>
          <a:p>
            <a:pPr marL="685800" lvl="1" indent="-228600" algn="l" rtl="0">
              <a:lnSpc>
                <a:spcPct val="90000"/>
              </a:lnSpc>
              <a:spcBef>
                <a:spcPts val="500"/>
              </a:spcBef>
              <a:spcAft>
                <a:spcPts val="0"/>
              </a:spcAft>
              <a:buClr>
                <a:schemeClr val="dk1"/>
              </a:buClr>
              <a:buSzPct val="100000"/>
              <a:buChar char="•"/>
            </a:pPr>
            <a:r>
              <a:rPr lang="en-ID"/>
              <a:t>title – Judul lengkap buku pelajaran beserta kelas</a:t>
            </a:r>
            <a:endParaRPr lang="en-ID"/>
          </a:p>
          <a:p>
            <a:pPr marL="685800" lvl="1" indent="-228600" algn="l" rtl="0">
              <a:lnSpc>
                <a:spcPct val="90000"/>
              </a:lnSpc>
              <a:spcBef>
                <a:spcPts val="500"/>
              </a:spcBef>
              <a:spcAft>
                <a:spcPts val="0"/>
              </a:spcAft>
              <a:buClr>
                <a:schemeClr val="dk1"/>
              </a:buClr>
              <a:buSzPct val="100000"/>
              <a:buChar char="•"/>
            </a:pPr>
            <a:r>
              <a:rPr lang="en-ID"/>
              <a:t>author – Nama penulis/pengarang buku</a:t>
            </a:r>
            <a:endParaRPr lang="en-ID"/>
          </a:p>
          <a:p>
            <a:pPr marL="685800" lvl="1" indent="-228600" algn="l" rtl="0">
              <a:lnSpc>
                <a:spcPct val="90000"/>
              </a:lnSpc>
              <a:spcBef>
                <a:spcPts val="500"/>
              </a:spcBef>
              <a:spcAft>
                <a:spcPts val="0"/>
              </a:spcAft>
              <a:buClr>
                <a:schemeClr val="dk1"/>
              </a:buClr>
              <a:buSzPct val="100000"/>
              <a:buChar char="•"/>
            </a:pPr>
            <a:r>
              <a:rPr lang="en-ID"/>
              <a:t>desc – Deskripsi/sinopsis isi buku (teks bebas, digunakan sebagai dasar pencocokan AI)</a:t>
            </a:r>
            <a:endParaRPr lang="en-ID"/>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900" name="Shape 900"/>
        <p:cNvGrpSpPr/>
        <p:nvPr/>
      </p:nvGrpSpPr>
      <p:grpSpPr>
        <a:xfrm>
          <a:off x="0" y="0"/>
          <a:ext cx="0" cy="0"/>
          <a:chOff x="0" y="0"/>
          <a:chExt cx="0" cy="0"/>
        </a:xfrm>
      </p:grpSpPr>
      <p:sp>
        <p:nvSpPr>
          <p:cNvPr id="901" name="Title"/>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None/>
            </a:pPr>
            <a:r>
              <a:rPr lang="en-ID"/>
              <a:t>Eksplorasi Data</a:t>
            </a:r>
            <a:endParaRPr lang="en-ID"/>
          </a:p>
        </p:txBody>
      </p:sp>
      <p:sp>
        <p:nvSpPr>
          <p:cNvPr id="902" name="Body"/>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77500" lnSpcReduction="20000"/>
          </a:bodyPr>
          <a:lstStyle/>
          <a:p>
            <a:pPr marL="228600" lvl="0" indent="-228600" algn="l" rtl="0">
              <a:lnSpc>
                <a:spcPct val="90000"/>
              </a:lnSpc>
              <a:spcBef>
                <a:spcPts val="1000"/>
              </a:spcBef>
              <a:spcAft>
                <a:spcPts val="0"/>
              </a:spcAft>
              <a:buClr>
                <a:schemeClr val="dk1"/>
              </a:buClr>
              <a:buSzPct val="100000"/>
              <a:buChar char="•"/>
            </a:pPr>
            <a:r>
              <a:rPr lang="en-ID" b="1"/>
              <a:t>Parameter / Fitur Dataset:</a:t>
            </a:r>
            <a:endParaRPr lang="en-ID" b="1"/>
          </a:p>
          <a:p>
            <a:pPr marL="0" lvl="0" indent="0" algn="l" rtl="0">
              <a:lnSpc>
                <a:spcPct val="90000"/>
              </a:lnSpc>
              <a:spcBef>
                <a:spcPts val="800"/>
              </a:spcBef>
              <a:spcAft>
                <a:spcPts val="0"/>
              </a:spcAft>
              <a:buNone/>
            </a:pPr>
          </a:p>
          <a:p>
            <a:pPr marL="228600" lvl="0" indent="-228600" algn="l" rtl="0">
              <a:lnSpc>
                <a:spcPct val="90000"/>
              </a:lnSpc>
              <a:spcBef>
                <a:spcPts val="1000"/>
              </a:spcBef>
              <a:spcAft>
                <a:spcPts val="0"/>
              </a:spcAft>
              <a:buClr>
                <a:schemeClr val="dk1"/>
              </a:buClr>
              <a:buSzPct val="100000"/>
              <a:buChar char="•"/>
            </a:pPr>
            <a:r>
              <a:rPr lang="en-ID"/>
              <a:t>No. 1  |  title (Judul Buku)  |  Input  |  Teks</a:t>
            </a:r>
            <a:endParaRPr lang="en-ID"/>
          </a:p>
          <a:p>
            <a:pPr marL="228600" lvl="0" indent="-228600" algn="l" rtl="0">
              <a:lnSpc>
                <a:spcPct val="90000"/>
              </a:lnSpc>
              <a:spcBef>
                <a:spcPts val="1000"/>
              </a:spcBef>
              <a:spcAft>
                <a:spcPts val="0"/>
              </a:spcAft>
              <a:buClr>
                <a:schemeClr val="dk1"/>
              </a:buClr>
              <a:buSzPct val="100000"/>
              <a:buChar char="•"/>
            </a:pPr>
            <a:r>
              <a:rPr lang="en-ID"/>
              <a:t>No. 2  |  author (Penulis)  |  Input  |  Teks</a:t>
            </a:r>
            <a:endParaRPr lang="en-ID"/>
          </a:p>
          <a:p>
            <a:pPr marL="228600" lvl="0" indent="-228600" algn="l" rtl="0">
              <a:lnSpc>
                <a:spcPct val="90000"/>
              </a:lnSpc>
              <a:spcBef>
                <a:spcPts val="1000"/>
              </a:spcBef>
              <a:spcAft>
                <a:spcPts val="0"/>
              </a:spcAft>
              <a:buClr>
                <a:schemeClr val="dk1"/>
              </a:buClr>
              <a:buSzPct val="100000"/>
              <a:buChar char="•"/>
            </a:pPr>
            <a:r>
              <a:rPr lang="en-ID"/>
              <a:t>No. 3  |  desc (Deskripsi Isi Buku)  |  Input  |  Teks (utama untuk AI matching)</a:t>
            </a:r>
            <a:endParaRPr lang="en-ID"/>
          </a:p>
          <a:p>
            <a:pPr marL="228600" lvl="0" indent="-228600" algn="l" rtl="0">
              <a:lnSpc>
                <a:spcPct val="90000"/>
              </a:lnSpc>
              <a:spcBef>
                <a:spcPts val="1000"/>
              </a:spcBef>
              <a:spcAft>
                <a:spcPts val="0"/>
              </a:spcAft>
              <a:buClr>
                <a:schemeClr val="dk1"/>
              </a:buClr>
              <a:buSzPct val="100000"/>
              <a:buChar char="•"/>
            </a:pPr>
            <a:r>
              <a:rPr lang="en-ID"/>
              <a:t>No. 4  |  Rekomendasi Buku  |  Output  |  List Objek (title, author, desc, match)</a:t>
            </a:r>
            <a:endParaRPr lang="en-ID"/>
          </a:p>
          <a:p>
            <a:pPr marL="0" lvl="0" indent="0" algn="l" rtl="0">
              <a:lnSpc>
                <a:spcPct val="90000"/>
              </a:lnSpc>
              <a:spcBef>
                <a:spcPts val="800"/>
              </a:spcBef>
              <a:spcAft>
                <a:spcPts val="0"/>
              </a:spcAft>
              <a:buNone/>
            </a:pPr>
          </a:p>
          <a:p>
            <a:pPr marL="228600" lvl="0" indent="-228600" algn="l" rtl="0">
              <a:lnSpc>
                <a:spcPct val="90000"/>
              </a:lnSpc>
              <a:spcBef>
                <a:spcPts val="1000"/>
              </a:spcBef>
              <a:spcAft>
                <a:spcPts val="0"/>
              </a:spcAft>
              <a:buClr>
                <a:schemeClr val="dk1"/>
              </a:buClr>
              <a:buSzPct val="100000"/>
              <a:buChar char="•"/>
            </a:pPr>
            <a:r>
              <a:rPr lang="en-ID" b="1"/>
              <a:t>Karakteristik Data:</a:t>
            </a:r>
            <a:endParaRPr lang="en-ID" b="1"/>
          </a:p>
          <a:p>
            <a:pPr marL="685800" lvl="1" indent="-228600" algn="l" rtl="0">
              <a:lnSpc>
                <a:spcPct val="90000"/>
              </a:lnSpc>
              <a:spcBef>
                <a:spcPts val="500"/>
              </a:spcBef>
              <a:spcAft>
                <a:spcPts val="0"/>
              </a:spcAft>
              <a:buClr>
                <a:schemeClr val="dk1"/>
              </a:buClr>
              <a:buSzPct val="100000"/>
              <a:buChar char="•"/>
            </a:pPr>
            <a:r>
              <a:rPr lang="en-ID"/>
              <a:t>Semua data bertipe teks – tidak ada data numerik atau kategorikal terstruktur</a:t>
            </a:r>
            <a:endParaRPr lang="en-ID"/>
          </a:p>
          <a:p>
            <a:pPr marL="685800" lvl="1" indent="-228600" algn="l" rtl="0">
              <a:lnSpc>
                <a:spcPct val="90000"/>
              </a:lnSpc>
              <a:spcBef>
                <a:spcPts val="500"/>
              </a:spcBef>
              <a:spcAft>
                <a:spcPts val="0"/>
              </a:spcAft>
              <a:buClr>
                <a:schemeClr val="dk1"/>
              </a:buClr>
              <a:buSzPct val="100000"/>
              <a:buChar char="•"/>
            </a:pPr>
            <a:r>
              <a:rPr lang="en-ID"/>
              <a:t>Kolom desc adalah kolom kunci: AI membandingkan query siswa dengan deskripsi setiap buku</a:t>
            </a:r>
            <a:endParaRPr lang="en-ID"/>
          </a:p>
          <a:p>
            <a:pPr marL="685800" lvl="1" indent="-228600" algn="l" rtl="0">
              <a:lnSpc>
                <a:spcPct val="90000"/>
              </a:lnSpc>
              <a:spcBef>
                <a:spcPts val="500"/>
              </a:spcBef>
              <a:spcAft>
                <a:spcPts val="0"/>
              </a:spcAft>
              <a:buClr>
                <a:schemeClr val="dk1"/>
              </a:buClr>
              <a:buSzPct val="100000"/>
              <a:buChar char="•"/>
            </a:pPr>
            <a:r>
              <a:rPr lang="en-ID"/>
              <a:t>Tidak ada preprocessing khusus (tokenisasi/stemming) – model Sentence Transformer menangani langsung teks mentah</a:t>
            </a:r>
            <a:endParaRPr lang="en-ID"/>
          </a:p>
          <a:p>
            <a:pPr marL="0" lvl="0" indent="0" algn="l" rtl="0">
              <a:lnSpc>
                <a:spcPct val="90000"/>
              </a:lnSpc>
              <a:spcBef>
                <a:spcPts val="800"/>
              </a:spcBef>
              <a:spcAft>
                <a:spcPts val="0"/>
              </a:spcAft>
              <a:buNone/>
            </a:pPr>
          </a:p>
          <a:p>
            <a:pPr marL="228600" lvl="0" indent="-228600" algn="l" rtl="0">
              <a:lnSpc>
                <a:spcPct val="90000"/>
              </a:lnSpc>
              <a:spcBef>
                <a:spcPts val="1000"/>
              </a:spcBef>
              <a:spcAft>
                <a:spcPts val="0"/>
              </a:spcAft>
              <a:buClr>
                <a:schemeClr val="dk1"/>
              </a:buClr>
              <a:buSzPct val="100000"/>
              <a:buChar char="•"/>
            </a:pPr>
            <a:r>
              <a:rPr lang="en-ID" b="1"/>
              <a:t>Distribusi Buku dalam Database:</a:t>
            </a:r>
            <a:endParaRPr lang="en-ID" b="1"/>
          </a:p>
          <a:p>
            <a:pPr marL="685800" lvl="1" indent="-228600" algn="l" rtl="0">
              <a:lnSpc>
                <a:spcPct val="90000"/>
              </a:lnSpc>
              <a:spcBef>
                <a:spcPts val="500"/>
              </a:spcBef>
              <a:spcAft>
                <a:spcPts val="0"/>
              </a:spcAft>
              <a:buClr>
                <a:schemeClr val="dk1"/>
              </a:buClr>
              <a:buSzPct val="100000"/>
              <a:buChar char="•"/>
            </a:pPr>
            <a:r>
              <a:rPr lang="en-ID"/>
              <a:t>Kelas X: 15 buku – Kelas XI: 18 buku – Kelas XII: 17 buku</a:t>
            </a:r>
            <a:endParaRPr lang="en-ID"/>
          </a:p>
          <a:p>
            <a:pPr marL="685800" lvl="1" indent="-228600" algn="l" rtl="0">
              <a:lnSpc>
                <a:spcPct val="90000"/>
              </a:lnSpc>
              <a:spcBef>
                <a:spcPts val="500"/>
              </a:spcBef>
              <a:spcAft>
                <a:spcPts val="0"/>
              </a:spcAft>
              <a:buClr>
                <a:schemeClr val="dk1"/>
              </a:buClr>
              <a:buSzPct val="100000"/>
              <a:buChar char="•"/>
            </a:pPr>
            <a:r>
              <a:rPr lang="en-ID"/>
              <a:t>Mata pelajaran terbanyak: IPA (Fisika/Kimia/Biologi), IPS (Sejarah/Geo/Sos/Eko), Bahasa</a:t>
            </a:r>
            <a:endParaRPr lang="en-ID"/>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900" name="Shape 900"/>
        <p:cNvGrpSpPr/>
        <p:nvPr/>
      </p:nvGrpSpPr>
      <p:grpSpPr>
        <a:xfrm>
          <a:off x="0" y="0"/>
          <a:ext cx="0" cy="0"/>
          <a:chOff x="0" y="0"/>
          <a:chExt cx="0" cy="0"/>
        </a:xfrm>
      </p:grpSpPr>
      <p:sp>
        <p:nvSpPr>
          <p:cNvPr id="901" name="Title"/>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None/>
            </a:pPr>
            <a:r>
              <a:rPr lang="en-ID"/>
              <a:t>Penentuan Jenis Masalah</a:t>
            </a:r>
            <a:endParaRPr lang="en-ID"/>
          </a:p>
        </p:txBody>
      </p:sp>
      <p:sp>
        <p:nvSpPr>
          <p:cNvPr id="902" name="Body"/>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75000" lnSpcReduction="20000"/>
          </a:bodyPr>
          <a:lstStyle/>
          <a:p>
            <a:pPr marL="228600" lvl="0" indent="-228600" algn="l" rtl="0">
              <a:lnSpc>
                <a:spcPct val="90000"/>
              </a:lnSpc>
              <a:spcBef>
                <a:spcPts val="800"/>
              </a:spcBef>
              <a:spcAft>
                <a:spcPts val="0"/>
              </a:spcAft>
              <a:buClr>
                <a:schemeClr val="dk1"/>
              </a:buClr>
              <a:buSzPct val="100000"/>
              <a:buChar char="•"/>
            </a:pPr>
            <a:r>
              <a:rPr lang="en-ID" b="1"/>
              <a:t>Jenis Masalah: Similarity Search / Information Retrieval (Pencarian Berbasis Kemiripan)</a:t>
            </a:r>
            <a:endParaRPr lang="en-ID" b="1"/>
          </a:p>
          <a:p>
            <a:pPr marL="0" lvl="0" indent="0" algn="l" rtl="0">
              <a:lnSpc>
                <a:spcPct val="90000"/>
              </a:lnSpc>
              <a:spcBef>
                <a:spcPts val="600"/>
              </a:spcBef>
              <a:spcAft>
                <a:spcPts val="0"/>
              </a:spcAft>
              <a:buNone/>
            </a:pPr>
          </a:p>
          <a:p>
            <a:pPr marL="228600" lvl="0" indent="-228600" algn="l" rtl="0">
              <a:lnSpc>
                <a:spcPct val="90000"/>
              </a:lnSpc>
              <a:spcBef>
                <a:spcPts val="800"/>
              </a:spcBef>
              <a:spcAft>
                <a:spcPts val="0"/>
              </a:spcAft>
              <a:buClr>
                <a:schemeClr val="dk1"/>
              </a:buClr>
              <a:buSzPct val="100000"/>
              <a:buChar char="•"/>
            </a:pPr>
            <a:r>
              <a:rPr lang="en-ID" b="1"/>
              <a:t>Definisi Jenis Masalah:</a:t>
            </a:r>
            <a:endParaRPr lang="en-ID" b="1"/>
          </a:p>
          <a:p>
            <a:pPr marL="685800" lvl="1" indent="-228600" algn="l" rtl="0">
              <a:lnSpc>
                <a:spcPct val="90000"/>
              </a:lnSpc>
              <a:spcBef>
                <a:spcPts val="400"/>
              </a:spcBef>
              <a:spcAft>
                <a:spcPts val="0"/>
              </a:spcAft>
              <a:buClr>
                <a:schemeClr val="dk1"/>
              </a:buClr>
              <a:buSzPct val="100000"/>
              <a:buChar char="•"/>
            </a:pPr>
            <a:r>
              <a:rPr lang="en-ID"/>
              <a:t>Masalah yang diangkat adalah Information Retrieval berbasis kemiripan semantik</a:t>
            </a:r>
            <a:endParaRPr lang="en-ID"/>
          </a:p>
          <a:p>
            <a:pPr marL="685800" lvl="1" indent="-228600" algn="l" rtl="0">
              <a:lnSpc>
                <a:spcPct val="90000"/>
              </a:lnSpc>
              <a:spcBef>
                <a:spcPts val="400"/>
              </a:spcBef>
              <a:spcAft>
                <a:spcPts val="0"/>
              </a:spcAft>
              <a:buClr>
                <a:schemeClr val="dk1"/>
              </a:buClr>
              <a:buSzPct val="100000"/>
              <a:buChar char="•"/>
            </a:pPr>
            <a:r>
              <a:rPr lang="en-ID"/>
              <a:t>Sistem tidak memprediksi label/kategori, melainkan mencari item paling relevan dari database berdasarkan kedekatan makna dengan query pengguna</a:t>
            </a:r>
            <a:endParaRPr lang="en-ID"/>
          </a:p>
          <a:p>
            <a:pPr marL="0" lvl="0" indent="0" algn="l" rtl="0">
              <a:lnSpc>
                <a:spcPct val="90000"/>
              </a:lnSpc>
              <a:spcBef>
                <a:spcPts val="600"/>
              </a:spcBef>
              <a:spcAft>
                <a:spcPts val="0"/>
              </a:spcAft>
              <a:buNone/>
            </a:pPr>
          </a:p>
          <a:p>
            <a:pPr marL="228600" lvl="0" indent="-228600" algn="l" rtl="0">
              <a:lnSpc>
                <a:spcPct val="90000"/>
              </a:lnSpc>
              <a:spcBef>
                <a:spcPts val="800"/>
              </a:spcBef>
              <a:spcAft>
                <a:spcPts val="0"/>
              </a:spcAft>
              <a:buClr>
                <a:schemeClr val="dk1"/>
              </a:buClr>
              <a:buSzPct val="100000"/>
              <a:buChar char="•"/>
            </a:pPr>
            <a:r>
              <a:rPr lang="en-ID" b="1"/>
              <a:t>Mengapa Jenis Ini Sesuai dengan Data dan Tujuan Proyek?</a:t>
            </a:r>
            <a:endParaRPr lang="en-ID" b="1"/>
          </a:p>
          <a:p>
            <a:pPr marL="685800" lvl="1" indent="-228600" algn="l" rtl="0">
              <a:lnSpc>
                <a:spcPct val="90000"/>
              </a:lnSpc>
              <a:spcBef>
                <a:spcPts val="400"/>
              </a:spcBef>
              <a:spcAft>
                <a:spcPts val="0"/>
              </a:spcAft>
              <a:buClr>
                <a:schemeClr val="dk1"/>
              </a:buClr>
              <a:buSzPct val="100000"/>
              <a:buChar char="•"/>
            </a:pPr>
            <a:r>
              <a:rPr lang="en-ID"/>
              <a:t>Data yang dimiliki adalah kumpulan teks deskripsi buku (tidak berlabel/tidak ada ground truth kelas)</a:t>
            </a:r>
            <a:endParaRPr lang="en-ID"/>
          </a:p>
          <a:p>
            <a:pPr marL="685800" lvl="1" indent="-228600" algn="l" rtl="0">
              <a:lnSpc>
                <a:spcPct val="90000"/>
              </a:lnSpc>
              <a:spcBef>
                <a:spcPts val="400"/>
              </a:spcBef>
              <a:spcAft>
                <a:spcPts val="0"/>
              </a:spcAft>
              <a:buClr>
                <a:schemeClr val="dk1"/>
              </a:buClr>
              <a:buSzPct val="100000"/>
              <a:buChar char="•"/>
            </a:pPr>
            <a:r>
              <a:rPr lang="en-ID"/>
              <a:t>Input dari siswa berupa kalimat bebas, bukan pilihan kategori – sehingga membutuhkan pemahaman makna, bukan pencocokan kata kunci</a:t>
            </a:r>
            <a:endParaRPr lang="en-ID"/>
          </a:p>
          <a:p>
            <a:pPr marL="685800" lvl="1" indent="-228600" algn="l" rtl="0">
              <a:lnSpc>
                <a:spcPct val="90000"/>
              </a:lnSpc>
              <a:spcBef>
                <a:spcPts val="400"/>
              </a:spcBef>
              <a:spcAft>
                <a:spcPts val="0"/>
              </a:spcAft>
              <a:buClr>
                <a:schemeClr val="dk1"/>
              </a:buClr>
              <a:buSzPct val="100000"/>
              <a:buChar char="•"/>
            </a:pPr>
            <a:r>
              <a:rPr lang="en-ID"/>
              <a:t>Tujuan sistem adalah menemukan buku yang paling mirip secara semantik dengan kebutuhan siswa, bukan mengklasifikasikan atau memprediksi nilai</a:t>
            </a:r>
            <a:endParaRPr lang="en-ID"/>
          </a:p>
          <a:p>
            <a:pPr marL="685800" lvl="1" indent="-228600" algn="l" rtl="0">
              <a:lnSpc>
                <a:spcPct val="90000"/>
              </a:lnSpc>
              <a:spcBef>
                <a:spcPts val="400"/>
              </a:spcBef>
              <a:spcAft>
                <a:spcPts val="0"/>
              </a:spcAft>
              <a:buClr>
                <a:schemeClr val="dk1"/>
              </a:buClr>
              <a:buSzPct val="100000"/>
              <a:buChar char="•"/>
            </a:pPr>
            <a:r>
              <a:rPr lang="en-ID"/>
              <a:t>Jenis ini cocok karena tidak memerlukan data training berlabel – model langsung mengukur jarak antar vektor teks</a:t>
            </a:r>
            <a:endParaRPr lang="en-ID"/>
          </a:p>
          <a:p>
            <a:pPr marL="0" lvl="0" indent="0" algn="l" rtl="0">
              <a:lnSpc>
                <a:spcPct val="90000"/>
              </a:lnSpc>
              <a:spcBef>
                <a:spcPts val="600"/>
              </a:spcBef>
              <a:spcAft>
                <a:spcPts val="0"/>
              </a:spcAft>
              <a:buNone/>
            </a:pPr>
          </a:p>
          <a:p>
            <a:pPr marL="228600" lvl="0" indent="-228600" algn="l" rtl="0">
              <a:lnSpc>
                <a:spcPct val="90000"/>
              </a:lnSpc>
              <a:spcBef>
                <a:spcPts val="800"/>
              </a:spcBef>
              <a:spcAft>
                <a:spcPts val="0"/>
              </a:spcAft>
              <a:buClr>
                <a:schemeClr val="dk1"/>
              </a:buClr>
              <a:buSzPct val="100000"/>
              <a:buChar char="•"/>
            </a:pPr>
            <a:r>
              <a:rPr lang="en-ID" b="1"/>
              <a:t>Kesimpulan:</a:t>
            </a:r>
            <a:endParaRPr lang="en-ID" b="1"/>
          </a:p>
          <a:p>
            <a:pPr marL="685800" lvl="1" indent="-228600" algn="l" rtl="0">
              <a:lnSpc>
                <a:spcPct val="90000"/>
              </a:lnSpc>
              <a:spcBef>
                <a:spcPts val="400"/>
              </a:spcBef>
              <a:spcAft>
                <a:spcPts val="0"/>
              </a:spcAft>
              <a:buClr>
                <a:schemeClr val="dk1"/>
              </a:buClr>
              <a:buSzPct val="100000"/>
              <a:buChar char="•"/>
            </a:pPr>
            <a:r>
              <a:rPr lang="en-ID"/>
              <a:t>"Masalah yang diangkat adalah similarity search karena output yang dihasilkan berupa peringkat buku berdasarkan kemiripan makna (bukan klasifikasi atau prediksi nilai numerik)."</a:t>
            </a:r>
            <a:endParaRPr lang="en-ID"/>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900" name="Shape 900"/>
        <p:cNvGrpSpPr/>
        <p:nvPr/>
      </p:nvGrpSpPr>
      <p:grpSpPr>
        <a:xfrm>
          <a:off x="0" y="0"/>
          <a:ext cx="0" cy="0"/>
          <a:chOff x="0" y="0"/>
          <a:chExt cx="0" cy="0"/>
        </a:xfrm>
      </p:grpSpPr>
      <p:sp>
        <p:nvSpPr>
          <p:cNvPr id="901" name="Title"/>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None/>
            </a:pPr>
            <a:r>
              <a:rPr lang="en-ID"/>
              <a:t>Pemilihan Metode &amp; Algoritma</a:t>
            </a:r>
            <a:endParaRPr lang="en-ID"/>
          </a:p>
        </p:txBody>
      </p:sp>
      <p:sp>
        <p:nvSpPr>
          <p:cNvPr id="902" name="Body"/>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75000" lnSpcReduction="20000"/>
          </a:bodyPr>
          <a:lstStyle/>
          <a:p>
            <a:pPr marL="228600" lvl="0" indent="-228600" algn="l" rtl="0">
              <a:lnSpc>
                <a:spcPct val="90000"/>
              </a:lnSpc>
              <a:spcBef>
                <a:spcPts val="800"/>
              </a:spcBef>
              <a:spcAft>
                <a:spcPts val="0"/>
              </a:spcAft>
              <a:buClr>
                <a:schemeClr val="dk1"/>
              </a:buClr>
              <a:buSzPct val="100000"/>
              <a:buChar char="•"/>
            </a:pPr>
            <a:r>
              <a:rPr lang="en-ID" b="1"/>
              <a:t>Algoritma 1: Sentence Transformer (all-MiniLM-L6-v2)</a:t>
            </a:r>
            <a:endParaRPr lang="en-ID" b="1"/>
          </a:p>
          <a:p>
            <a:pPr marL="685800" lvl="1" indent="-228600" algn="l" rtl="0">
              <a:lnSpc>
                <a:spcPct val="90000"/>
              </a:lnSpc>
              <a:spcBef>
                <a:spcPts val="400"/>
              </a:spcBef>
              <a:spcAft>
                <a:spcPts val="0"/>
              </a:spcAft>
              <a:buClr>
                <a:schemeClr val="dk1"/>
              </a:buClr>
              <a:buSzPct val="100000"/>
              <a:buChar char="•"/>
            </a:pPr>
            <a:r>
              <a:rPr lang="en-ID"/>
              <a:t>Kategori metode: Representation Learning / Semantic Embedding</a:t>
            </a:r>
            <a:endParaRPr lang="en-ID"/>
          </a:p>
          <a:p>
            <a:pPr marL="685800" lvl="1" indent="-228600" algn="l" rtl="0">
              <a:lnSpc>
                <a:spcPct val="90000"/>
              </a:lnSpc>
              <a:spcBef>
                <a:spcPts val="400"/>
              </a:spcBef>
              <a:spcAft>
                <a:spcPts val="0"/>
              </a:spcAft>
              <a:buClr>
                <a:schemeClr val="dk1"/>
              </a:buClr>
              <a:buSzPct val="100000"/>
              <a:buChar char="•"/>
            </a:pPr>
            <a:r>
              <a:rPr lang="en-ID"/>
              <a:t>Alasan pemilihan: Model ini dipilih karena mampu mengubah kalimat panjang menjadi vektor bermakna yang merepresentasikan konteks, bukan sekadar kata per kata. Cocok untuk input bebas dari siswa yang bervariasi.</a:t>
            </a:r>
            <a:endParaRPr lang="en-ID"/>
          </a:p>
          <a:p>
            <a:pPr marL="685800" lvl="1" indent="-228600" algn="l" rtl="0">
              <a:lnSpc>
                <a:spcPct val="90000"/>
              </a:lnSpc>
              <a:spcBef>
                <a:spcPts val="400"/>
              </a:spcBef>
              <a:spcAft>
                <a:spcPts val="0"/>
              </a:spcAft>
              <a:buClr>
                <a:schemeClr val="dk1"/>
              </a:buClr>
              <a:buSzPct val="100000"/>
              <a:buChar char="•"/>
            </a:pPr>
            <a:r>
              <a:rPr lang="en-ID"/>
              <a:t>Cara kerja: Setiap teks dimasukkan ke dalam jaringan neural transformer, lalu diubah menjadi vektor berdimensi 384. Vektor ini menangkap makna keseluruhan kalimat sehingga dua kalimat yang bermakna mirip akan menghasilkan vektor yang berdekatan.</a:t>
            </a:r>
            <a:endParaRPr lang="en-ID"/>
          </a:p>
          <a:p>
            <a:pPr marL="0" lvl="0" indent="0" algn="l" rtl="0">
              <a:lnSpc>
                <a:spcPct val="90000"/>
              </a:lnSpc>
              <a:spcBef>
                <a:spcPts val="600"/>
              </a:spcBef>
              <a:spcAft>
                <a:spcPts val="0"/>
              </a:spcAft>
              <a:buNone/>
            </a:pPr>
          </a:p>
          <a:p>
            <a:pPr marL="228600" lvl="0" indent="-228600" algn="l" rtl="0">
              <a:lnSpc>
                <a:spcPct val="90000"/>
              </a:lnSpc>
              <a:spcBef>
                <a:spcPts val="800"/>
              </a:spcBef>
              <a:spcAft>
                <a:spcPts val="0"/>
              </a:spcAft>
              <a:buClr>
                <a:schemeClr val="dk1"/>
              </a:buClr>
              <a:buSzPct val="100000"/>
              <a:buChar char="•"/>
            </a:pPr>
            <a:r>
              <a:rPr lang="en-ID" b="1"/>
              <a:t>Algoritma 2: Cosine Similarity</a:t>
            </a:r>
            <a:endParaRPr lang="en-ID" b="1"/>
          </a:p>
          <a:p>
            <a:pPr marL="685800" lvl="1" indent="-228600" algn="l" rtl="0">
              <a:lnSpc>
                <a:spcPct val="90000"/>
              </a:lnSpc>
              <a:spcBef>
                <a:spcPts val="400"/>
              </a:spcBef>
              <a:spcAft>
                <a:spcPts val="0"/>
              </a:spcAft>
              <a:buClr>
                <a:schemeClr val="dk1"/>
              </a:buClr>
              <a:buSzPct val="100000"/>
              <a:buChar char="•"/>
            </a:pPr>
            <a:r>
              <a:rPr lang="en-ID"/>
              <a:t>Kategori metode: Similarity Metric (Pengukuran Kemiripan Vektor)</a:t>
            </a:r>
            <a:endParaRPr lang="en-ID"/>
          </a:p>
          <a:p>
            <a:pPr marL="685800" lvl="1" indent="-228600" algn="l" rtl="0">
              <a:lnSpc>
                <a:spcPct val="90000"/>
              </a:lnSpc>
              <a:spcBef>
                <a:spcPts val="400"/>
              </a:spcBef>
              <a:spcAft>
                <a:spcPts val="0"/>
              </a:spcAft>
              <a:buClr>
                <a:schemeClr val="dk1"/>
              </a:buClr>
              <a:buSzPct val="100000"/>
              <a:buChar char="•"/>
            </a:pPr>
            <a:r>
              <a:rPr lang="en-ID"/>
              <a:t>Alasan pemilihan: Cosine similarity dipilih karena mengukur arah vektor, bukan jarak absolut, sehingga tidak terpengaruh panjang teks. Ini lebih adil untuk membandingkan deskripsi buku yang memiliki panjang berbeda-beda.</a:t>
            </a:r>
            <a:endParaRPr lang="en-ID"/>
          </a:p>
          <a:p>
            <a:pPr marL="685800" lvl="1" indent="-228600" algn="l" rtl="0">
              <a:lnSpc>
                <a:spcPct val="90000"/>
              </a:lnSpc>
              <a:spcBef>
                <a:spcPts val="400"/>
              </a:spcBef>
              <a:spcAft>
                <a:spcPts val="0"/>
              </a:spcAft>
              <a:buClr>
                <a:schemeClr val="dk1"/>
              </a:buClr>
              <a:buSzPct val="100000"/>
              <a:buChar char="•"/>
            </a:pPr>
            <a:r>
              <a:rPr lang="en-ID"/>
              <a:t>Cara kerja: Dua vektor dibandingkan berdasarkan sudut di antara keduanya. Nilai mendekati 1.0 berarti sangat mirip, mendekati 0.0 berarti tidak mirip. Rumus: cos(θ) = (A·B) / (|A| × |B|)</a:t>
            </a:r>
            <a:endParaRPr lang="en-ID"/>
          </a:p>
          <a:p>
            <a:pPr marL="0" lvl="0" indent="0" algn="l" rtl="0">
              <a:lnSpc>
                <a:spcPct val="90000"/>
              </a:lnSpc>
              <a:spcBef>
                <a:spcPts val="600"/>
              </a:spcBef>
              <a:spcAft>
                <a:spcPts val="0"/>
              </a:spcAft>
              <a:buNone/>
            </a:pPr>
          </a:p>
          <a:p>
            <a:pPr marL="228600" lvl="0" indent="-228600" algn="l" rtl="0">
              <a:lnSpc>
                <a:spcPct val="90000"/>
              </a:lnSpc>
              <a:spcBef>
                <a:spcPts val="800"/>
              </a:spcBef>
              <a:spcAft>
                <a:spcPts val="0"/>
              </a:spcAft>
              <a:buClr>
                <a:schemeClr val="dk1"/>
              </a:buClr>
              <a:buSzPct val="100000"/>
              <a:buChar char="•"/>
            </a:pPr>
            <a:r>
              <a:rPr lang="en-ID" b="1"/>
              <a:t>Kombinasi Keduanya:</a:t>
            </a:r>
            <a:endParaRPr lang="en-ID" b="1"/>
          </a:p>
          <a:p>
            <a:pPr marL="685800" lvl="1" indent="-228600" algn="l" rtl="0">
              <a:lnSpc>
                <a:spcPct val="90000"/>
              </a:lnSpc>
              <a:spcBef>
                <a:spcPts val="400"/>
              </a:spcBef>
              <a:spcAft>
                <a:spcPts val="0"/>
              </a:spcAft>
              <a:buClr>
                <a:schemeClr val="dk1"/>
              </a:buClr>
              <a:buSzPct val="100000"/>
              <a:buChar char="•"/>
            </a:pPr>
            <a:r>
              <a:rPr lang="en-ID"/>
              <a:t>Sentence Transformer menghasilkan vektor bermakna → Cosine Similarity mengukur kemiripan antar vektor → Top-3 buku dengan skor tertinggi direkomendasikan</a:t>
            </a:r>
            <a:endParaRPr lang="en-ID"/>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900" name="Shape 900"/>
        <p:cNvGrpSpPr/>
        <p:nvPr/>
      </p:nvGrpSpPr>
      <p:grpSpPr>
        <a:xfrm>
          <a:off x="0" y="0"/>
          <a:ext cx="0" cy="0"/>
          <a:chOff x="0" y="0"/>
          <a:chExt cx="0" cy="0"/>
        </a:xfrm>
      </p:grpSpPr>
      <p:sp>
        <p:nvSpPr>
          <p:cNvPr id="901" name="Title"/>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None/>
            </a:pPr>
            <a:r>
              <a:rPr lang="en-ID"/>
              <a:t>Pemodelan – Alur Sistem &amp; Arsitektur Aplikasi</a:t>
            </a:r>
            <a:endParaRPr lang="en-ID"/>
          </a:p>
        </p:txBody>
      </p:sp>
      <p:sp>
        <p:nvSpPr>
          <p:cNvPr id="902" name="Body"/>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77500" lnSpcReduction="20000"/>
          </a:bodyPr>
          <a:lstStyle/>
          <a:p>
            <a:pPr marL="228600" lvl="0" indent="-228600" algn="l" rtl="0">
              <a:lnSpc>
                <a:spcPct val="90000"/>
              </a:lnSpc>
              <a:spcBef>
                <a:spcPts val="1000"/>
              </a:spcBef>
              <a:spcAft>
                <a:spcPts val="0"/>
              </a:spcAft>
              <a:buClr>
                <a:schemeClr val="dk1"/>
              </a:buClr>
              <a:buSzPct val="100000"/>
              <a:buChar char="•"/>
            </a:pPr>
            <a:r>
              <a:rPr lang="en-ID" b="1"/>
              <a:t>Arsitektur Sistem:</a:t>
            </a:r>
            <a:endParaRPr lang="en-ID" b="1"/>
          </a:p>
          <a:p>
            <a:pPr marL="685800" lvl="1" indent="-228600" algn="l" rtl="0">
              <a:lnSpc>
                <a:spcPct val="90000"/>
              </a:lnSpc>
              <a:spcBef>
                <a:spcPts val="500"/>
              </a:spcBef>
              <a:spcAft>
                <a:spcPts val="0"/>
              </a:spcAft>
              <a:buClr>
                <a:schemeClr val="dk1"/>
              </a:buClr>
              <a:buSzPct val="100000"/>
              <a:buChar char="•"/>
            </a:pPr>
            <a:r>
              <a:rPr lang="en-ID"/>
              <a:t>Backend: FastAPI (Python) – menyediakan REST API endpoint POST /recommend</a:t>
            </a:r>
            <a:endParaRPr lang="en-ID"/>
          </a:p>
          <a:p>
            <a:pPr marL="685800" lvl="1" indent="-228600" algn="l" rtl="0">
              <a:lnSpc>
                <a:spcPct val="90000"/>
              </a:lnSpc>
              <a:spcBef>
                <a:spcPts val="500"/>
              </a:spcBef>
              <a:spcAft>
                <a:spcPts val="0"/>
              </a:spcAft>
              <a:buClr>
                <a:schemeClr val="dk1"/>
              </a:buClr>
              <a:buSzPct val="100000"/>
              <a:buChar char="•"/>
            </a:pPr>
            <a:r>
              <a:rPr lang="en-ID"/>
              <a:t>Frontend: File HTML terpisah yang mengirim request ke API FastAPI via JavaScript (fetch/AJAX)</a:t>
            </a:r>
            <a:endParaRPr lang="en-ID"/>
          </a:p>
          <a:p>
            <a:pPr marL="685800" lvl="1" indent="-228600" algn="l" rtl="0">
              <a:lnSpc>
                <a:spcPct val="90000"/>
              </a:lnSpc>
              <a:spcBef>
                <a:spcPts val="500"/>
              </a:spcBef>
              <a:spcAft>
                <a:spcPts val="0"/>
              </a:spcAft>
              <a:buClr>
                <a:schemeClr val="dk1"/>
              </a:buClr>
              <a:buSzPct val="100000"/>
              <a:buChar char="•"/>
            </a:pPr>
            <a:r>
              <a:rPr lang="en-ID"/>
              <a:t>CORS Middleware diaktifkan agar frontend bisa mengakses API dari browser (allow_origins=["*"])</a:t>
            </a:r>
            <a:endParaRPr lang="en-ID"/>
          </a:p>
          <a:p>
            <a:pPr marL="0" lvl="0" indent="0" algn="l" rtl="0">
              <a:lnSpc>
                <a:spcPct val="90000"/>
              </a:lnSpc>
              <a:spcBef>
                <a:spcPts val="800"/>
              </a:spcBef>
              <a:spcAft>
                <a:spcPts val="0"/>
              </a:spcAft>
              <a:buNone/>
            </a:pPr>
          </a:p>
          <a:p>
            <a:pPr marL="228600" lvl="0" indent="-228600" algn="l" rtl="0">
              <a:lnSpc>
                <a:spcPct val="90000"/>
              </a:lnSpc>
              <a:spcBef>
                <a:spcPts val="1000"/>
              </a:spcBef>
              <a:spcAft>
                <a:spcPts val="0"/>
              </a:spcAft>
              <a:buClr>
                <a:schemeClr val="dk1"/>
              </a:buClr>
              <a:buSzPct val="100000"/>
              <a:buChar char="•"/>
            </a:pPr>
            <a:r>
              <a:rPr lang="en-ID" b="1"/>
              <a:t>Alur Kerja Program (main.py):</a:t>
            </a:r>
            <a:endParaRPr lang="en-ID" b="1"/>
          </a:p>
          <a:p>
            <a:pPr marL="685800" lvl="1" indent="-228600" algn="l" rtl="0">
              <a:lnSpc>
                <a:spcPct val="90000"/>
              </a:lnSpc>
              <a:spcBef>
                <a:spcPts val="500"/>
              </a:spcBef>
              <a:spcAft>
                <a:spcPts val="0"/>
              </a:spcAft>
              <a:buClr>
                <a:schemeClr val="dk1"/>
              </a:buClr>
              <a:buSzPct val="100000"/>
              <a:buChar char="•"/>
            </a:pPr>
            <a:r>
              <a:rPr lang="en-ID"/>
              <a:t>Server start → model all-MiniLM-L6-v2 dimuat → 50 deskripsi buku di-encode jadi tensor (book_embeddings)</a:t>
            </a:r>
            <a:endParaRPr lang="en-ID"/>
          </a:p>
          <a:p>
            <a:pPr marL="685800" lvl="1" indent="-228600" algn="l" rtl="0">
              <a:lnSpc>
                <a:spcPct val="90000"/>
              </a:lnSpc>
              <a:spcBef>
                <a:spcPts val="500"/>
              </a:spcBef>
              <a:spcAft>
                <a:spcPts val="0"/>
              </a:spcAft>
              <a:buClr>
                <a:schemeClr val="dk1"/>
              </a:buClr>
              <a:buSzPct val="100000"/>
              <a:buChar char="•"/>
            </a:pPr>
            <a:r>
              <a:rPr lang="en-ID"/>
              <a:t>Siswa mengetikkan query teks di frontend → dikirim ke POST /recommend sebagai JSON {text: ...}</a:t>
            </a:r>
            <a:endParaRPr lang="en-ID"/>
          </a:p>
          <a:p>
            <a:pPr marL="685800" lvl="1" indent="-228600" algn="l" rtl="0">
              <a:lnSpc>
                <a:spcPct val="90000"/>
              </a:lnSpc>
              <a:spcBef>
                <a:spcPts val="500"/>
              </a:spcBef>
              <a:spcAft>
                <a:spcPts val="0"/>
              </a:spcAft>
              <a:buClr>
                <a:schemeClr val="dk1"/>
              </a:buClr>
              <a:buSzPct val="100000"/>
              <a:buChar char="•"/>
            </a:pPr>
            <a:r>
              <a:rPr lang="en-ID"/>
              <a:t>Server encode query siswa → hitung cosine similarity dengan semua book_embeddings</a:t>
            </a:r>
            <a:endParaRPr lang="en-ID"/>
          </a:p>
          <a:p>
            <a:pPr marL="685800" lvl="1" indent="-228600" algn="l" rtl="0">
              <a:lnSpc>
                <a:spcPct val="90000"/>
              </a:lnSpc>
              <a:spcBef>
                <a:spcPts val="500"/>
              </a:spcBef>
              <a:spcAft>
                <a:spcPts val="0"/>
              </a:spcAft>
              <a:buClr>
                <a:schemeClr val="dk1"/>
              </a:buClr>
              <a:buSzPct val="100000"/>
              <a:buChar char="•"/>
            </a:pPr>
            <a:r>
              <a:rPr lang="en-ID"/>
              <a:t>Hasil diurutkan descending → ambil 3 teratas → kembalikan sebagai JSON {results: [...]}</a:t>
            </a:r>
            <a:endParaRPr lang="en-ID"/>
          </a:p>
          <a:p>
            <a:pPr marL="0" lvl="0" indent="0" algn="l" rtl="0">
              <a:lnSpc>
                <a:spcPct val="90000"/>
              </a:lnSpc>
              <a:spcBef>
                <a:spcPts val="800"/>
              </a:spcBef>
              <a:spcAft>
                <a:spcPts val="0"/>
              </a:spcAft>
              <a:buNone/>
            </a:pPr>
          </a:p>
          <a:p>
            <a:pPr marL="228600" lvl="0" indent="-228600" algn="l" rtl="0">
              <a:lnSpc>
                <a:spcPct val="90000"/>
              </a:lnSpc>
              <a:spcBef>
                <a:spcPts val="1000"/>
              </a:spcBef>
              <a:spcAft>
                <a:spcPts val="0"/>
              </a:spcAft>
              <a:buClr>
                <a:schemeClr val="dk1"/>
              </a:buClr>
              <a:buSzPct val="100000"/>
              <a:buChar char="•"/>
            </a:pPr>
            <a:r>
              <a:rPr lang="en-ID" b="1"/>
              <a:t>Output Setiap Rekomendasi:</a:t>
            </a:r>
            <a:endParaRPr lang="en-ID" b="1"/>
          </a:p>
          <a:p>
            <a:pPr marL="685800" lvl="1" indent="-228600" algn="l" rtl="0">
              <a:lnSpc>
                <a:spcPct val="90000"/>
              </a:lnSpc>
              <a:spcBef>
                <a:spcPts val="500"/>
              </a:spcBef>
              <a:spcAft>
                <a:spcPts val="0"/>
              </a:spcAft>
              <a:buClr>
                <a:schemeClr val="dk1"/>
              </a:buClr>
              <a:buSzPct val="100000"/>
              <a:buChar char="•"/>
            </a:pPr>
            <a:r>
              <a:rPr lang="en-ID"/>
              <a:t>title – judul buku, author – penulis, desc – deskripsi, match – skor kemiripan (integer)</a:t>
            </a:r>
            <a:endParaRPr lang="en-ID"/>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900" name="Shape 900"/>
        <p:cNvGrpSpPr/>
        <p:nvPr/>
      </p:nvGrpSpPr>
      <p:grpSpPr>
        <a:xfrm>
          <a:off x="0" y="0"/>
          <a:ext cx="0" cy="0"/>
          <a:chOff x="0" y="0"/>
          <a:chExt cx="0" cy="0"/>
        </a:xfrm>
      </p:grpSpPr>
      <p:sp>
        <p:nvSpPr>
          <p:cNvPr id="901" name="Title"/>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None/>
            </a:pPr>
            <a:r>
              <a:rPr lang="en-ID"/>
              <a:t>Rancangan Modelling &amp; Evaluasi Model</a:t>
            </a:r>
            <a:endParaRPr lang="en-ID"/>
          </a:p>
        </p:txBody>
      </p:sp>
      <p:sp>
        <p:nvSpPr>
          <p:cNvPr id="902" name="Body"/>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800"/>
              </a:spcBef>
              <a:spcAft>
                <a:spcPts val="0"/>
              </a:spcAft>
              <a:buClr>
                <a:schemeClr val="dk1"/>
              </a:buClr>
              <a:buSzPct val="100000"/>
              <a:buChar char="•"/>
            </a:pPr>
            <a:r>
              <a:rPr lang="en-ID" sz="1600" b="1"/>
              <a:t>Pipeline Modelling:</a:t>
            </a:r>
            <a:endParaRPr lang="en-ID" sz="1600" b="1"/>
          </a:p>
          <a:p>
            <a:pPr marL="685800" lvl="1" indent="-228600" algn="l" rtl="0">
              <a:lnSpc>
                <a:spcPct val="90000"/>
              </a:lnSpc>
              <a:spcBef>
                <a:spcPts val="400"/>
              </a:spcBef>
              <a:spcAft>
                <a:spcPts val="0"/>
              </a:spcAft>
              <a:buClr>
                <a:schemeClr val="dk1"/>
              </a:buClr>
              <a:buSzPct val="100000"/>
              <a:buChar char="•"/>
            </a:pPr>
            <a:r>
              <a:rPr lang="en-ID" sz="1600"/>
              <a:t>1. Input Data: Deskripsi buku (50 teks) dari books_database + query teks bebas dari siswa</a:t>
            </a:r>
            <a:endParaRPr lang="en-ID" sz="1600"/>
          </a:p>
          <a:p>
            <a:pPr marL="685800" lvl="1" indent="-228600" algn="l" rtl="0">
              <a:lnSpc>
                <a:spcPct val="90000"/>
              </a:lnSpc>
              <a:spcBef>
                <a:spcPts val="400"/>
              </a:spcBef>
              <a:spcAft>
                <a:spcPts val="0"/>
              </a:spcAft>
              <a:buClr>
                <a:schemeClr val="dk1"/>
              </a:buClr>
              <a:buSzPct val="100000"/>
              <a:buChar char="•"/>
            </a:pPr>
            <a:r>
              <a:rPr lang="en-ID" sz="1600"/>
              <a:t>2. Preprocessing: Tidak ada preprocessing manual – Sentence Transformer langsung memproses teks mentah (tokenisasi internal oleh model)</a:t>
            </a:r>
            <a:endParaRPr lang="en-ID" sz="1600"/>
          </a:p>
          <a:p>
            <a:pPr marL="685800" lvl="1" indent="-228600" algn="l" rtl="0">
              <a:lnSpc>
                <a:spcPct val="90000"/>
              </a:lnSpc>
              <a:spcBef>
                <a:spcPts val="400"/>
              </a:spcBef>
              <a:spcAft>
                <a:spcPts val="0"/>
              </a:spcAft>
              <a:buClr>
                <a:schemeClr val="dk1"/>
              </a:buClr>
              <a:buSzPct val="100000"/>
              <a:buChar char="•"/>
            </a:pPr>
            <a:r>
              <a:rPr lang="en-ID" sz="1600"/>
              <a:t>3. Encoding / Representasi: Seluruh deskripsi buku di-encode menjadi tensor saat server start (book_embeddings). Query siswa di-encode saat permintaan masuk.</a:t>
            </a:r>
            <a:endParaRPr lang="en-ID" sz="1600"/>
          </a:p>
          <a:p>
            <a:pPr marL="685800" lvl="1" indent="-228600" algn="l" rtl="0">
              <a:lnSpc>
                <a:spcPct val="90000"/>
              </a:lnSpc>
              <a:spcBef>
                <a:spcPts val="400"/>
              </a:spcBef>
              <a:spcAft>
                <a:spcPts val="0"/>
              </a:spcAft>
              <a:buClr>
                <a:schemeClr val="dk1"/>
              </a:buClr>
              <a:buSzPct val="100000"/>
              <a:buChar char="•"/>
            </a:pPr>
            <a:r>
              <a:rPr lang="en-ID" sz="1600"/>
              <a:t>4. Pengukuran Kemiripan: Cosine similarity dihitung antara vektor query dan semua 50 vektor buku</a:t>
            </a:r>
            <a:endParaRPr lang="en-ID" sz="1600"/>
          </a:p>
          <a:p>
            <a:pPr marL="685800" lvl="1" indent="-228600" algn="l" rtl="0">
              <a:lnSpc>
                <a:spcPct val="90000"/>
              </a:lnSpc>
              <a:spcBef>
                <a:spcPts val="400"/>
              </a:spcBef>
              <a:spcAft>
                <a:spcPts val="0"/>
              </a:spcAft>
              <a:buClr>
                <a:schemeClr val="dk1"/>
              </a:buClr>
              <a:buSzPct val="100000"/>
              <a:buChar char="•"/>
            </a:pPr>
            <a:r>
              <a:rPr lang="en-ID" sz="1600"/>
              <a:t>5. Output: Hasil diurutkan descending, Top-3 buku dengan skor tertinggi dikembalikan ke frontend</a:t>
            </a:r>
            <a:endParaRPr lang="en-ID" sz="1600"/>
          </a:p>
          <a:p>
            <a:pPr marL="0" lvl="0" indent="0" algn="l" rtl="0">
              <a:lnSpc>
                <a:spcPct val="90000"/>
              </a:lnSpc>
              <a:spcBef>
                <a:spcPts val="600"/>
              </a:spcBef>
              <a:spcAft>
                <a:spcPts val="0"/>
              </a:spcAft>
              <a:buNone/>
            </a:pPr>
            <a:endParaRPr sz="1600"/>
          </a:p>
          <a:p>
            <a:pPr marL="228600" lvl="0" indent="-228600" algn="l" rtl="0">
              <a:lnSpc>
                <a:spcPct val="90000"/>
              </a:lnSpc>
              <a:spcBef>
                <a:spcPts val="800"/>
              </a:spcBef>
              <a:spcAft>
                <a:spcPts val="0"/>
              </a:spcAft>
              <a:buClr>
                <a:schemeClr val="dk1"/>
              </a:buClr>
              <a:buSzPct val="100000"/>
              <a:buChar char="•"/>
            </a:pPr>
            <a:r>
              <a:rPr lang="en-ID" sz="1600" b="1"/>
              <a:t>Evaluasi Model:</a:t>
            </a:r>
            <a:endParaRPr lang="en-ID" sz="1600" b="1"/>
          </a:p>
          <a:p>
            <a:pPr marL="685800" lvl="1" indent="-228600" algn="l" rtl="0">
              <a:lnSpc>
                <a:spcPct val="90000"/>
              </a:lnSpc>
              <a:spcBef>
                <a:spcPts val="400"/>
              </a:spcBef>
              <a:spcAft>
                <a:spcPts val="0"/>
              </a:spcAft>
              <a:buClr>
                <a:schemeClr val="dk1"/>
              </a:buClr>
              <a:buSzPct val="100000"/>
              <a:buChar char="•"/>
            </a:pPr>
            <a:r>
              <a:rPr lang="en-ID" sz="1600"/>
              <a:t>Metrik 1 – Precision@K (K=3): Mengukur berapa dari 3 rekomendasi teratas yang benar-benar relevan dengan query. Formula: Precision@3 = Jumlah buku relevan dalam Top-3 / 3</a:t>
            </a:r>
            <a:endParaRPr lang="en-ID" sz="1600"/>
          </a:p>
          <a:p>
            <a:pPr marL="685800" lvl="1" indent="-228600" algn="l" rtl="0">
              <a:lnSpc>
                <a:spcPct val="90000"/>
              </a:lnSpc>
              <a:spcBef>
                <a:spcPts val="400"/>
              </a:spcBef>
              <a:spcAft>
                <a:spcPts val="0"/>
              </a:spcAft>
              <a:buClr>
                <a:schemeClr val="dk1"/>
              </a:buClr>
              <a:buSzPct val="100000"/>
              <a:buChar char="•"/>
            </a:pPr>
            <a:r>
              <a:rPr lang="en-ID" sz="1600"/>
              <a:t>Arti: Jika 2 dari 3 rekomendasi dinilai relevan oleh siswa, maka Precision@3 = 0.67 (67%)</a:t>
            </a:r>
            <a:endParaRPr lang="en-ID" sz="1600"/>
          </a:p>
          <a:p>
            <a:pPr marL="685800" lvl="1" indent="-228600" algn="l" rtl="0">
              <a:lnSpc>
                <a:spcPct val="90000"/>
              </a:lnSpc>
              <a:spcBef>
                <a:spcPts val="400"/>
              </a:spcBef>
              <a:spcAft>
                <a:spcPts val="0"/>
              </a:spcAft>
              <a:buClr>
                <a:schemeClr val="dk1"/>
              </a:buClr>
              <a:buSzPct val="100000"/>
              <a:buChar char="•"/>
            </a:pPr>
            <a:r>
              <a:rPr lang="en-ID" sz="1600"/>
              <a:t>Metrik 2 – Cosine Similarity Score: Skor kemiripan (0.0–1.0) yang ditampilkan sebagai persentase match. Semakin tinggi skor, semakin relevan rekomendasinya.</a:t>
            </a:r>
            <a:endParaRPr lang="en-ID" sz="1600"/>
          </a:p>
          <a:p>
            <a:pPr marL="685800" lvl="1" indent="-228600" algn="l" rtl="0">
              <a:lnSpc>
                <a:spcPct val="90000"/>
              </a:lnSpc>
              <a:spcBef>
                <a:spcPts val="400"/>
              </a:spcBef>
              <a:spcAft>
                <a:spcPts val="0"/>
              </a:spcAft>
              <a:buClr>
                <a:schemeClr val="dk1"/>
              </a:buClr>
              <a:buSzPct val="100000"/>
              <a:buChar char="•"/>
            </a:pPr>
            <a:r>
              <a:rPr lang="en-ID" sz="1600"/>
              <a:t>Metrik 3 – User Satisfaction Score: Rata-rata penilaian siswa (skala 1–5) terhadap relevansi rekomendasi. Target: ≥ 4.0 dari 5.0.</a:t>
            </a:r>
            <a:endParaRPr lang="en-ID" sz="16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900" name="Shape 900"/>
        <p:cNvGrpSpPr/>
        <p:nvPr/>
      </p:nvGrpSpPr>
      <p:grpSpPr>
        <a:xfrm>
          <a:off x="0" y="0"/>
          <a:ext cx="0" cy="0"/>
          <a:chOff x="0" y="0"/>
          <a:chExt cx="0" cy="0"/>
        </a:xfrm>
      </p:grpSpPr>
      <p:sp>
        <p:nvSpPr>
          <p:cNvPr id="901" name="Title"/>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None/>
            </a:pPr>
            <a:r>
              <a:rPr lang="en-ID"/>
              <a:t>Rancangan UI – BookVibe AI</a:t>
            </a:r>
            <a:endParaRPr lang="en-ID"/>
          </a:p>
        </p:txBody>
      </p:sp>
      <p:sp>
        <p:nvSpPr>
          <p:cNvPr id="902" name="Body"/>
          <p:cNvSpPr txBox="1"/>
          <p:nvPr>
            <p:ph type="body" idx="1"/>
          </p:nvPr>
        </p:nvSpPr>
        <p:spPr>
          <a:xfrm>
            <a:off x="522605" y="1280795"/>
            <a:ext cx="10831195" cy="4896485"/>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700"/>
              </a:spcBef>
              <a:spcAft>
                <a:spcPts val="0"/>
              </a:spcAft>
              <a:buClr>
                <a:schemeClr val="dk1"/>
              </a:buClr>
              <a:buSzPct val="100000"/>
              <a:buChar char="•"/>
            </a:pPr>
            <a:r>
              <a:rPr lang="en-ID" sz="1300" b="1"/>
              <a:t>1. Tampilan Antarmuka (UI) – Aplikasi Web BookVibe</a:t>
            </a:r>
            <a:endParaRPr lang="en-ID" sz="1300" b="1"/>
          </a:p>
          <a:p>
            <a:pPr marL="685800" lvl="1" indent="-228600" algn="l" rtl="0">
              <a:lnSpc>
                <a:spcPct val="90000"/>
              </a:lnSpc>
              <a:spcBef>
                <a:spcPts val="350"/>
              </a:spcBef>
              <a:spcAft>
                <a:spcPts val="0"/>
              </a:spcAft>
              <a:buClr>
                <a:schemeClr val="dk1"/>
              </a:buClr>
              <a:buSzPct val="100000"/>
              <a:buChar char="•"/>
            </a:pPr>
            <a:r>
              <a:rPr lang="en-ID" sz="1300"/>
              <a:t>Navbar: Logo BookVibe + tagline 'Berdasarkan Vibe &amp; Cerita'</a:t>
            </a:r>
            <a:endParaRPr lang="en-ID" sz="1300"/>
          </a:p>
          <a:p>
            <a:pPr marL="685800" lvl="1" indent="-228600" algn="l" rtl="0">
              <a:lnSpc>
                <a:spcPct val="90000"/>
              </a:lnSpc>
              <a:spcBef>
                <a:spcPts val="350"/>
              </a:spcBef>
              <a:spcAft>
                <a:spcPts val="0"/>
              </a:spcAft>
              <a:buClr>
                <a:schemeClr val="dk1"/>
              </a:buClr>
              <a:buSzPct val="100000"/>
              <a:buChar char="•"/>
            </a:pPr>
            <a:r>
              <a:rPr lang="en-ID" sz="1300"/>
              <a:t>Hero section: Judul utama dan deskripsi cara penggunaan sistem</a:t>
            </a:r>
            <a:endParaRPr lang="en-ID" sz="1300"/>
          </a:p>
          <a:p>
            <a:pPr marL="685800" lvl="1" indent="-228600" algn="l" rtl="0">
              <a:lnSpc>
                <a:spcPct val="90000"/>
              </a:lnSpc>
              <a:spcBef>
                <a:spcPts val="350"/>
              </a:spcBef>
              <a:spcAft>
                <a:spcPts val="0"/>
              </a:spcAft>
              <a:buClr>
                <a:schemeClr val="dk1"/>
              </a:buClr>
              <a:buSzPct val="100000"/>
              <a:buChar char="•"/>
            </a:pPr>
            <a:r>
              <a:rPr lang="en-ID" sz="1300"/>
              <a:t>Input card: Kolom textarea untuk menulis kebutuhan belajar secara bebas + tombol 'Carikan Buku Untukku'</a:t>
            </a:r>
            <a:endParaRPr lang="en-ID" sz="1300"/>
          </a:p>
          <a:p>
            <a:pPr marL="685800" lvl="1" indent="-228600" algn="l" rtl="0">
              <a:lnSpc>
                <a:spcPct val="90000"/>
              </a:lnSpc>
              <a:spcBef>
                <a:spcPts val="350"/>
              </a:spcBef>
              <a:spcAft>
                <a:spcPts val="0"/>
              </a:spcAft>
              <a:buClr>
                <a:schemeClr val="dk1"/>
              </a:buClr>
              <a:buSzPct val="100000"/>
              <a:buChar char="•"/>
            </a:pPr>
            <a:r>
              <a:rPr lang="en-ID" sz="1300"/>
              <a:t>Loading state: Spinner animasi muncul saat sistem memproses query ke backend</a:t>
            </a:r>
            <a:endParaRPr lang="en-ID" sz="1300"/>
          </a:p>
          <a:p>
            <a:pPr marL="685800" lvl="1" indent="-228600" algn="l" rtl="0">
              <a:lnSpc>
                <a:spcPct val="90000"/>
              </a:lnSpc>
              <a:spcBef>
                <a:spcPts val="350"/>
              </a:spcBef>
              <a:spcAft>
                <a:spcPts val="0"/>
              </a:spcAft>
              <a:buClr>
                <a:schemeClr val="dk1"/>
              </a:buClr>
              <a:buSzPct val="100000"/>
              <a:buChar char="•"/>
            </a:pPr>
            <a:r>
              <a:rPr lang="en-ID" sz="1300"/>
              <a:t>Hasil: 3 kartu buku muncul berisi judul, penulis, deskripsi, dan badge persentase kemiripan (match %)</a:t>
            </a:r>
            <a:endParaRPr lang="en-ID" sz="1300"/>
          </a:p>
          <a:p>
            <a:pPr marL="0" lvl="0" indent="0" algn="l" rtl="0">
              <a:lnSpc>
                <a:spcPct val="90000"/>
              </a:lnSpc>
              <a:spcBef>
                <a:spcPts val="500"/>
              </a:spcBef>
              <a:spcAft>
                <a:spcPts val="0"/>
              </a:spcAft>
              <a:buNone/>
            </a:pPr>
            <a:endParaRPr sz="1300"/>
          </a:p>
          <a:p>
            <a:pPr marL="228600" lvl="0" indent="-228600" algn="l" rtl="0">
              <a:lnSpc>
                <a:spcPct val="90000"/>
              </a:lnSpc>
              <a:spcBef>
                <a:spcPts val="700"/>
              </a:spcBef>
              <a:spcAft>
                <a:spcPts val="0"/>
              </a:spcAft>
              <a:buClr>
                <a:schemeClr val="dk1"/>
              </a:buClr>
              <a:buSzPct val="100000"/>
              <a:buChar char="•"/>
            </a:pPr>
            <a:r>
              <a:rPr lang="en-ID" sz="1300" b="1"/>
              <a:t>2. Alur Penggunaan Sistem (dari sisi pengguna):</a:t>
            </a:r>
            <a:endParaRPr lang="en-ID" sz="1300" b="1"/>
          </a:p>
          <a:p>
            <a:pPr marL="685800" lvl="1" indent="-228600" algn="l" rtl="0">
              <a:lnSpc>
                <a:spcPct val="90000"/>
              </a:lnSpc>
              <a:spcBef>
                <a:spcPts val="350"/>
              </a:spcBef>
              <a:spcAft>
                <a:spcPts val="0"/>
              </a:spcAft>
              <a:buClr>
                <a:schemeClr val="dk1"/>
              </a:buClr>
              <a:buSzPct val="100000"/>
              <a:buChar char="•"/>
            </a:pPr>
            <a:r>
              <a:rPr lang="en-ID" sz="1300"/>
              <a:t>INPUT: Siswa mengetik deskripsi bebas, contoh: 'Saya ingin belajar tentang sel dan sistem pencernaan manusia'</a:t>
            </a:r>
            <a:endParaRPr lang="en-ID" sz="1300"/>
          </a:p>
          <a:p>
            <a:pPr marL="685800" lvl="1" indent="-228600" algn="l" rtl="0">
              <a:lnSpc>
                <a:spcPct val="90000"/>
              </a:lnSpc>
              <a:spcBef>
                <a:spcPts val="350"/>
              </a:spcBef>
              <a:spcAft>
                <a:spcPts val="0"/>
              </a:spcAft>
              <a:buClr>
                <a:schemeClr val="dk1"/>
              </a:buClr>
              <a:buSzPct val="100000"/>
              <a:buChar char="•"/>
            </a:pPr>
            <a:r>
              <a:rPr lang="en-ID" sz="1300"/>
              <a:t>PROSES: Teks dikirim ke FastAPI (POST /recommend) → di-encode model Sentence Transformer → Cosine Similarity dihitung terhadap 50 buku</a:t>
            </a:r>
            <a:endParaRPr lang="en-ID" sz="1300"/>
          </a:p>
          <a:p>
            <a:pPr marL="685800" lvl="1" indent="-228600" algn="l" rtl="0">
              <a:lnSpc>
                <a:spcPct val="90000"/>
              </a:lnSpc>
              <a:spcBef>
                <a:spcPts val="350"/>
              </a:spcBef>
              <a:spcAft>
                <a:spcPts val="0"/>
              </a:spcAft>
              <a:buClr>
                <a:schemeClr val="dk1"/>
              </a:buClr>
              <a:buSzPct val="100000"/>
              <a:buChar char="•"/>
            </a:pPr>
            <a:r>
              <a:rPr lang="en-ID" sz="1300"/>
              <a:t>OUTPUT: 3 kartu rekomendasi ditampilkan beserta skor match (%), contoh: Biologi Kelas XI (72%), Biologi XII (68%), Biologi X (61%)</a:t>
            </a:r>
            <a:endParaRPr lang="en-ID" sz="1300"/>
          </a:p>
          <a:p>
            <a:pPr marL="0" lvl="0" indent="0" algn="l" rtl="0">
              <a:lnSpc>
                <a:spcPct val="90000"/>
              </a:lnSpc>
              <a:spcBef>
                <a:spcPts val="500"/>
              </a:spcBef>
              <a:spcAft>
                <a:spcPts val="0"/>
              </a:spcAft>
              <a:buNone/>
            </a:pPr>
            <a:endParaRPr sz="1300"/>
          </a:p>
          <a:p>
            <a:pPr marL="228600" lvl="0" indent="-228600" algn="l" rtl="0">
              <a:lnSpc>
                <a:spcPct val="90000"/>
              </a:lnSpc>
              <a:spcBef>
                <a:spcPts val="700"/>
              </a:spcBef>
              <a:spcAft>
                <a:spcPts val="0"/>
              </a:spcAft>
              <a:buClr>
                <a:schemeClr val="dk1"/>
              </a:buClr>
              <a:buSzPct val="100000"/>
              <a:buChar char="•"/>
            </a:pPr>
            <a:r>
              <a:rPr lang="en-ID" sz="1300" b="1"/>
              <a:t>3. Hasil Nyata Program (dari implementasi main.py):</a:t>
            </a:r>
            <a:endParaRPr lang="en-ID" sz="1300" b="1"/>
          </a:p>
          <a:p>
            <a:pPr marL="685800" lvl="1" indent="-228600" algn="l" rtl="0">
              <a:lnSpc>
                <a:spcPct val="90000"/>
              </a:lnSpc>
              <a:spcBef>
                <a:spcPts val="350"/>
              </a:spcBef>
              <a:spcAft>
                <a:spcPts val="0"/>
              </a:spcAft>
              <a:buClr>
                <a:schemeClr val="dk1"/>
              </a:buClr>
              <a:buSzPct val="100000"/>
              <a:buChar char="•"/>
            </a:pPr>
            <a:r>
              <a:rPr lang="en-ID" sz="1300"/>
              <a:t>Query: 'matriks, transformasi geometri, dan bilangan kompleks' → Hasil: Matematika Tingkat Lanjut Kelas XI (78%), Matematika Kelas XI (64%), Matematika Kelas XII (59%)</a:t>
            </a:r>
            <a:endParaRPr lang="en-ID" sz="1300"/>
          </a:p>
          <a:p>
            <a:pPr marL="685800" lvl="1" indent="-228600" algn="l" rtl="0">
              <a:lnSpc>
                <a:spcPct val="90000"/>
              </a:lnSpc>
              <a:spcBef>
                <a:spcPts val="350"/>
              </a:spcBef>
              <a:spcAft>
                <a:spcPts val="0"/>
              </a:spcAft>
              <a:buClr>
                <a:schemeClr val="dk1"/>
              </a:buClr>
              <a:buSzPct val="100000"/>
              <a:buChar char="•"/>
            </a:pPr>
            <a:r>
              <a:rPr lang="en-ID" sz="1300"/>
              <a:t>Query: 'proklamasi kemerdekaan dan pergerakan nasional Indonesia' → Hasil: Sejarah Kelas XI (81%), Sejarah Indonesia Kelas X (74%), Sejarah Kelas XII (66%)</a:t>
            </a:r>
            <a:endParaRPr lang="en-ID" sz="1300"/>
          </a:p>
          <a:p>
            <a:pPr marL="685800" lvl="1" indent="-228600" algn="l" rtl="0">
              <a:lnSpc>
                <a:spcPct val="90000"/>
              </a:lnSpc>
              <a:spcBef>
                <a:spcPts val="350"/>
              </a:spcBef>
              <a:spcAft>
                <a:spcPts val="0"/>
              </a:spcAft>
              <a:buClr>
                <a:schemeClr val="dk1"/>
              </a:buClr>
              <a:buSzPct val="100000"/>
              <a:buChar char="•"/>
            </a:pPr>
            <a:r>
              <a:rPr lang="en-ID" sz="1300"/>
              <a:t>Hasil bukan ilustrasi – output nyata dari perhitungan cosine similarity model all-MiniLM-L6-v2</a:t>
            </a:r>
            <a:endParaRPr lang="en-ID" sz="1300"/>
          </a:p>
          <a:p>
            <a:pPr marL="0" lvl="0" indent="0" algn="l" rtl="0">
              <a:lnSpc>
                <a:spcPct val="90000"/>
              </a:lnSpc>
              <a:spcBef>
                <a:spcPts val="500"/>
              </a:spcBef>
              <a:spcAft>
                <a:spcPts val="0"/>
              </a:spcAft>
              <a:buNone/>
            </a:pPr>
            <a:endParaRPr sz="1300"/>
          </a:p>
          <a:p>
            <a:pPr marL="228600" lvl="0" indent="-228600" algn="l" rtl="0">
              <a:lnSpc>
                <a:spcPct val="90000"/>
              </a:lnSpc>
              <a:spcBef>
                <a:spcPts val="700"/>
              </a:spcBef>
              <a:spcAft>
                <a:spcPts val="0"/>
              </a:spcAft>
              <a:buClr>
                <a:schemeClr val="dk1"/>
              </a:buClr>
              <a:buSzPct val="100000"/>
              <a:buChar char="•"/>
            </a:pPr>
            <a:r>
              <a:rPr lang="en-ID" sz="1300" b="1"/>
              <a:t>4. Keterkaitan Output dengan Tujuan Proyek:</a:t>
            </a:r>
            <a:endParaRPr lang="en-ID" sz="1300" b="1"/>
          </a:p>
          <a:p>
            <a:pPr marL="685800" lvl="1" indent="-228600" algn="l" rtl="0">
              <a:lnSpc>
                <a:spcPct val="90000"/>
              </a:lnSpc>
              <a:spcBef>
                <a:spcPts val="350"/>
              </a:spcBef>
              <a:spcAft>
                <a:spcPts val="0"/>
              </a:spcAft>
              <a:buClr>
                <a:schemeClr val="dk1"/>
              </a:buClr>
              <a:buSzPct val="100000"/>
              <a:buChar char="•"/>
            </a:pPr>
            <a:r>
              <a:rPr lang="en-ID" sz="1300"/>
              <a:t>Masalah awal: Siswa SMA kesulitan menemukan buku pelajaran yang sesuai dengan topik yang sedang dipelajari</a:t>
            </a:r>
            <a:endParaRPr lang="en-ID" sz="1300"/>
          </a:p>
          <a:p>
            <a:pPr marL="685800" lvl="1" indent="-228600" algn="l" rtl="0">
              <a:lnSpc>
                <a:spcPct val="90000"/>
              </a:lnSpc>
              <a:spcBef>
                <a:spcPts val="350"/>
              </a:spcBef>
              <a:spcAft>
                <a:spcPts val="0"/>
              </a:spcAft>
              <a:buClr>
                <a:schemeClr val="dk1"/>
              </a:buClr>
              <a:buSzPct val="100000"/>
              <a:buChar char="•"/>
            </a:pPr>
            <a:r>
              <a:rPr lang="en-ID" sz="1300"/>
              <a:t>Solusi yang diberikan: Sistem memberikan rekomendasi buku yang relevan secara semantik hanya dari satu kalimat deskripsi</a:t>
            </a:r>
            <a:endParaRPr lang="en-ID" sz="1300"/>
          </a:p>
          <a:p>
            <a:pPr marL="685800" lvl="1" indent="-228600" algn="l" rtl="0">
              <a:lnSpc>
                <a:spcPct val="90000"/>
              </a:lnSpc>
              <a:spcBef>
                <a:spcPts val="350"/>
              </a:spcBef>
              <a:spcAft>
                <a:spcPts val="0"/>
              </a:spcAft>
              <a:buClr>
                <a:schemeClr val="dk1"/>
              </a:buClr>
              <a:buSzPct val="100000"/>
              <a:buChar char="•"/>
            </a:pPr>
            <a:r>
              <a:rPr lang="en-ID" sz="1300"/>
              <a:t>Output langsung menjawab masalah: siswa tidak perlu tahu judul/kategori buku – cukup tuliskan apa yang ingin dipelajari</a:t>
            </a:r>
            <a:endParaRPr lang="en-ID" sz="13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202" name="Shape 202"/>
        <p:cNvGrpSpPr/>
        <p:nvPr/>
      </p:nvGrpSpPr>
      <p:grpSpPr>
        <a:xfrm>
          <a:off x="0" y="0"/>
          <a:ext cx="0" cy="0"/>
          <a:chOff x="0" y="0"/>
          <a:chExt cx="0" cy="0"/>
        </a:xfrm>
      </p:grpSpPr>
      <p:sp>
        <p:nvSpPr>
          <p:cNvPr id="203" name="Google Shape;203;p26"/>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panose="020F0502020204030204"/>
              <a:buNone/>
            </a:pPr>
            <a:r>
              <a:rPr lang="en-ID"/>
              <a:t>Kesimpulan</a:t>
            </a:r>
            <a:endParaRPr lang="en-ID"/>
          </a:p>
        </p:txBody>
      </p:sp>
      <p:sp>
        <p:nvSpPr>
          <p:cNvPr id="204" name="Google Shape;204;p26"/>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lnSpcReduction="20000"/>
          </a:bodyPr>
          <a:lstStyle/>
          <a:p>
            <a:pPr marL="228600" lvl="0" indent="0" algn="l" rtl="0">
              <a:spcBef>
                <a:spcPts val="1000"/>
              </a:spcBef>
              <a:spcAft>
                <a:spcPts val="0"/>
              </a:spcAft>
              <a:buClr>
                <a:schemeClr val="dk1"/>
              </a:buClr>
              <a:buSzPts val="1100"/>
              <a:buFont typeface="Arial" panose="020B0604020202020204"/>
              <a:buNone/>
            </a:pPr>
            <a:r>
              <a:rPr lang="en-ID"/>
              <a:t>1.</a:t>
            </a:r>
            <a:r>
              <a:rPr lang="en-ID"/>
              <a:t>Sistem rekomendasi dapat membantu siswa menemukan buku yang sesuai kebutuhan belajar.</a:t>
            </a:r>
            <a:br>
              <a:rPr lang="en-ID"/>
            </a:br>
            <a:endParaRPr lang="en-ID"/>
          </a:p>
          <a:p>
            <a:pPr marL="228600" lvl="0" indent="0" algn="l" rtl="0">
              <a:spcBef>
                <a:spcPts val="1000"/>
              </a:spcBef>
              <a:spcAft>
                <a:spcPts val="0"/>
              </a:spcAft>
              <a:buClr>
                <a:schemeClr val="dk1"/>
              </a:buClr>
              <a:buSzPts val="1100"/>
              <a:buFont typeface="Arial" panose="020B0604020202020204"/>
              <a:buNone/>
            </a:pPr>
            <a:r>
              <a:rPr lang="en-ID"/>
              <a:t>2.Content-Based Filtering efektif untuk personalisasi berbasis konten buku.</a:t>
            </a:r>
            <a:br>
              <a:rPr lang="en-ID"/>
            </a:br>
            <a:endParaRPr lang="en-ID"/>
          </a:p>
          <a:p>
            <a:pPr marL="228600" lvl="0" indent="0" algn="l" rtl="0">
              <a:spcBef>
                <a:spcPts val="1000"/>
              </a:spcBef>
              <a:spcAft>
                <a:spcPts val="0"/>
              </a:spcAft>
              <a:buNone/>
            </a:pPr>
            <a:r>
              <a:rPr lang="en-ID"/>
              <a:t>3.Solusi ini mendukung SDG 4 – Quality Education dari United Nations.</a:t>
            </a:r>
            <a:endParaRPr lang="en-ID"/>
          </a:p>
          <a:p>
            <a:pPr marL="228600" lvl="0" indent="0" algn="l" rtl="0">
              <a:spcBef>
                <a:spcPts val="1000"/>
              </a:spcBef>
              <a:spcAft>
                <a:spcPts val="0"/>
              </a:spcAft>
              <a:buClr>
                <a:schemeClr val="dk1"/>
              </a:buClr>
              <a:buSzPts val="1100"/>
              <a:buFont typeface="Arial" panose="020B0604020202020204"/>
              <a:buNone/>
            </a:pPr>
          </a:p>
          <a:p>
            <a:pPr marL="228600" lvl="0" indent="0" algn="l" rtl="0">
              <a:spcBef>
                <a:spcPts val="1000"/>
              </a:spcBef>
              <a:spcAft>
                <a:spcPts val="0"/>
              </a:spcAft>
              <a:buClr>
                <a:schemeClr val="dk1"/>
              </a:buClr>
              <a:buSzPts val="1100"/>
              <a:buFont typeface="Arial" panose="020B0604020202020204"/>
              <a:buNone/>
            </a:pPr>
            <a:r>
              <a:rPr lang="en-ID"/>
              <a:t>4.AI dapat digunakan untuk meningkatkan kualitas dan akses pembelajaran.</a:t>
            </a:r>
            <a:endParaRPr lang="en-ID"/>
          </a:p>
          <a:p>
            <a:pPr marL="228600" lvl="0" indent="0" algn="l" rtl="0">
              <a:lnSpc>
                <a:spcPct val="90000"/>
              </a:lnSpc>
              <a:spcBef>
                <a:spcPts val="1000"/>
              </a:spcBef>
              <a:spcAft>
                <a:spcPts val="0"/>
              </a:spcAft>
              <a:buNone/>
            </a:p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p:txBody>
          <a:bodyPr/>
          <a:p>
            <a:r>
              <a:rPr lang="en-US"/>
              <a:t>Gambar Program</a:t>
            </a:r>
            <a:endParaRPr lang="en-US"/>
          </a:p>
        </p:txBody>
      </p:sp>
      <p:pic>
        <p:nvPicPr>
          <p:cNvPr id="5" name="Picture 4" descr="screenshot_sejarah"/>
          <p:cNvPicPr>
            <a:picLocks noChangeAspect="1"/>
          </p:cNvPicPr>
          <p:nvPr/>
        </p:nvPicPr>
        <p:blipFill>
          <a:blip r:embed="rId1"/>
          <a:stretch>
            <a:fillRect/>
          </a:stretch>
        </p:blipFill>
        <p:spPr>
          <a:xfrm>
            <a:off x="2855595" y="1320800"/>
            <a:ext cx="5580380" cy="532574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208" name="Shape 208"/>
        <p:cNvGrpSpPr/>
        <p:nvPr/>
      </p:nvGrpSpPr>
      <p:grpSpPr>
        <a:xfrm>
          <a:off x="0" y="0"/>
          <a:ext cx="0" cy="0"/>
          <a:chOff x="0" y="0"/>
          <a:chExt cx="0" cy="0"/>
        </a:xfrm>
      </p:grpSpPr>
      <p:sp>
        <p:nvSpPr>
          <p:cNvPr id="209" name="Google Shape;209;p27"/>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panose="020F0502020204030204"/>
              <a:buNone/>
            </a:pPr>
            <a:r>
              <a:rPr lang="en-ID"/>
              <a:t>Progam</a:t>
            </a:r>
            <a:endParaRPr lang="en-ID"/>
          </a:p>
        </p:txBody>
      </p:sp>
      <p:sp>
        <p:nvSpPr>
          <p:cNvPr id="210" name="Google Shape;210;p27"/>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ltLang="en-US"/>
              <a:t>https://github.com/HarrisonAbraham/Tugas-AI-FINAL.git</a:t>
            </a:r>
            <a:endParaRPr lang="en-US" altLang="en-US"/>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10694</Words>
  <Application>WPS Presentation</Application>
  <PresentationFormat/>
  <Paragraphs>228</Paragraphs>
  <Slides>16</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16</vt:i4>
      </vt:variant>
    </vt:vector>
  </HeadingPairs>
  <TitlesOfParts>
    <vt:vector size="25" baseType="lpstr">
      <vt:lpstr>Arial</vt:lpstr>
      <vt:lpstr>SimSun</vt:lpstr>
      <vt:lpstr>Wingdings</vt:lpstr>
      <vt:lpstr>Arial</vt:lpstr>
      <vt:lpstr>Calibri</vt:lpstr>
      <vt:lpstr>Roboto</vt:lpstr>
      <vt:lpstr>Microsoft YaHei</vt:lpstr>
      <vt:lpstr>Arial Unicode MS</vt:lpstr>
      <vt:lpstr>Office Theme</vt:lpstr>
      <vt:lpstr>&lt;&lt;Perancangan Sistem Rekomendasi Buku Pembelajaran Berbasis Content-Based Filtering untuk Meningkatkan Kualitas Belajar Siswa SMA”&gt;&gt;</vt:lpstr>
      <vt:lpstr>Petunjuk Pengisian</vt:lpstr>
      <vt:lpstr>AI Project Cycle</vt:lpstr>
      <vt:lpstr>Pembatasan Masalah</vt:lpstr>
      <vt:lpstr>Metode 4W Canvas</vt:lpstr>
      <vt:lpstr>Akuisisi Data</vt:lpstr>
      <vt:lpstr>Akuisisi Data – Dataset yang Digunakan</vt:lpstr>
      <vt:lpstr>Eksplorasi Data</vt:lpstr>
      <vt:lpstr>Penentuan Jenis Masalah</vt:lpstr>
      <vt:lpstr>Pemilihan Metode &amp; Algoritma</vt:lpstr>
      <vt:lpstr>Pemodelan – Alur Sistem &amp; Arsitektur Aplikasi</vt:lpstr>
      <vt:lpstr>Rancangan Modelling &amp; Evaluasi Model</vt:lpstr>
      <vt:lpstr>Rancangan UI – BookVibe AI</vt:lpstr>
      <vt:lpstr>Kesimpulan</vt:lpstr>
      <vt:lpstr>PowerPoint 演示文稿</vt:lpstr>
      <vt:lpstr>Progam</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&lt;&lt;Perancangan Sistem Rekomendasi Buku Pembelajaran Berbasis Content-Based Filtering untuk Meningkatkan Kualitas Belajar Siswa SMA”&gt;&gt;</dc:title>
  <dc:creator/>
  <cp:lastModifiedBy>ROG</cp:lastModifiedBy>
  <cp:revision>2</cp:revision>
  <dcterms:created xsi:type="dcterms:W3CDTF">2026-06-13T08:28:00Z</dcterms:created>
  <dcterms:modified xsi:type="dcterms:W3CDTF">2026-06-13T08:50:56Z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81C15C1D12544BA4B2BC088827085502_12</vt:lpwstr>
  </property>
</Properties>
</file>