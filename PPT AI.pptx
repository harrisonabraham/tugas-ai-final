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Lst>
  <p:sldSz cx="12192000" cy="6858000"/>
  <p:notesSz cx="6858000" cy="9144000"/>
  <p:embeddedFontLst>
    <p:embeddedFont>
      <p:font typeface="Calibri" panose="020F0502020204030204"/>
      <p:regular r:id="rId22"/>
      <p:bold r:id="rId23"/>
      <p:italic r:id="rId24"/>
      <p:boldItalic r:id="rId25"/>
    </p:embeddedFont>
    <p:embeddedFont>
      <p:font typeface="Roboto" panose="02000000000000000000"/>
      <p:regular r:id="rId26"/>
      <p:bold r:id="rId27"/>
      <p:italic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505D6F2-9F4E-442A-A93D-EE256C943408}" styleName="Table_0">
    <a:wholeTbl>
      <a:tcTxStyle>
        <a:font>
          <a:latin typeface="Calibri"/>
          <a:ea typeface="Calibri"/>
          <a:cs typeface="Calibri"/>
        </a:font>
        <a:schemeClr val="dk1"/>
      </a:tcTxStyle>
      <a:tcStyle>
        <a:tcBdr>
          <a:left>
            <a:ln w="12700" cap="flat" cmpd="sng">
              <a:solidFill>
                <a:schemeClr val="accent5"/>
              </a:solidFill>
              <a:prstDash val="solid"/>
              <a:round/>
              <a:headEnd type="none" w="sm" len="sm"/>
              <a:tailEnd type="none" w="sm" len="sm"/>
            </a:ln>
          </a:left>
          <a:right>
            <a:ln w="12700" cap="flat" cmpd="sng">
              <a:solidFill>
                <a:schemeClr val="accent5"/>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12700" cap="flat" cmpd="sng">
              <a:solidFill>
                <a:schemeClr val="accent5"/>
              </a:solidFill>
              <a:prstDash val="solid"/>
              <a:round/>
              <a:headEnd type="none" w="sm" len="sm"/>
              <a:tailEnd type="none" w="sm" len="sm"/>
            </a:ln>
          </a:insideH>
          <a:insideV>
            <a:ln w="12700" cap="flat" cmpd="sng">
              <a:solidFill>
                <a:schemeClr val="accent5"/>
              </a:solidFill>
              <a:prstDash val="solid"/>
              <a:round/>
              <a:headEnd type="none" w="sm" len="sm"/>
              <a:tailEnd type="none" w="sm" len="sm"/>
            </a:ln>
          </a:insideV>
        </a:tcBdr>
        <a:fill>
          <a:solidFill>
            <a:srgbClr val="FFFFFF">
              <a:alpha val="0"/>
            </a:srgbClr>
          </a:solid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band2V>
      <a:tcStyle>
        <a:tcBdr/>
      </a:tcStyle>
    </a:band2V>
    <a:lastCol>
      <a:tcTxStyle b="on"/>
      <a:tcStyle>
        <a:tcBdr/>
      </a:tcStyle>
    </a:lastCol>
    <a:firstCol>
      <a:tcTxStyle b="on"/>
      <a:tcStyle>
        <a:tcBdr/>
      </a:tcStyle>
    </a:firstCol>
    <a:lastRow>
      <a:tcTxStyle b="on"/>
      <a:tcStyle>
        <a:tcBdr>
          <a:top>
            <a:ln w="50800" cap="flat" cmpd="sng">
              <a:solidFill>
                <a:schemeClr val="accent5"/>
              </a:solidFill>
              <a:prstDash val="solid"/>
              <a:round/>
              <a:headEnd type="none" w="sm" len="sm"/>
              <a:tailEnd type="none" w="sm" len="sm"/>
            </a:ln>
          </a:top>
        </a:tcBdr>
        <a:fill>
          <a:solidFill>
            <a:srgbClr val="FFFFFF">
              <a:alpha val="0"/>
            </a:srgbClr>
          </a:solidFill>
        </a:fill>
      </a:tcStyle>
    </a:lastRow>
    <a:seCell>
      <a:tcStyle>
        <a:tcBdr/>
      </a:tcStyle>
    </a:seCell>
    <a:swCell>
      <a:tcStyle>
        <a:tcBdr/>
      </a:tcStyle>
    </a:swCell>
    <a:firstRow>
      <a:tcTxStyle b="on"/>
      <a:tcStyle>
        <a:tcBdr>
          <a:bottom>
            <a:ln w="25400" cap="flat" cmpd="sng">
              <a:solidFill>
                <a:schemeClr val="accent5"/>
              </a:solidFill>
              <a:prstDash val="solid"/>
              <a:round/>
              <a:headEnd type="none" w="sm" len="sm"/>
              <a:tailEnd type="none" w="sm" len="sm"/>
            </a:ln>
          </a:bottom>
        </a:tcBdr>
        <a:fill>
          <a:solidFill>
            <a:srgbClr val="FFFFFF">
              <a:alpha val="0"/>
            </a:srgbClr>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9" Type="http://schemas.openxmlformats.org/officeDocument/2006/relationships/font" Target="fonts/font8.fntdata"/><Relationship Id="rId28" Type="http://schemas.openxmlformats.org/officeDocument/2006/relationships/font" Target="fonts/font7.fntdata"/><Relationship Id="rId27" Type="http://schemas.openxmlformats.org/officeDocument/2006/relationships/font" Target="fonts/font6.fntdata"/><Relationship Id="rId26" Type="http://schemas.openxmlformats.org/officeDocument/2006/relationships/font" Target="fonts/font5.fntdata"/><Relationship Id="rId25" Type="http://schemas.openxmlformats.org/officeDocument/2006/relationships/font" Target="fonts/font4.fntdata"/><Relationship Id="rId24" Type="http://schemas.openxmlformats.org/officeDocument/2006/relationships/font" Target="fonts/font3.fntdata"/><Relationship Id="rId23" Type="http://schemas.openxmlformats.org/officeDocument/2006/relationships/font" Target="fonts/font2.fntdata"/><Relationship Id="rId22" Type="http://schemas.openxmlformats.org/officeDocument/2006/relationships/font" Target="fonts/font1.fntdata"/><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0" name="Shape 80"/>
        <p:cNvGrpSpPr/>
        <p:nvPr/>
      </p:nvGrpSpPr>
      <p:grpSpPr>
        <a:xfrm>
          <a:off x="0" y="0"/>
          <a:ext cx="0" cy="0"/>
          <a:chOff x="0" y="0"/>
          <a:chExt cx="0" cy="0"/>
        </a:xfrm>
      </p:grpSpPr>
      <p:sp>
        <p:nvSpPr>
          <p:cNvPr id="81" name="Google Shape;81;p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82" name="Google Shape;82;p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0" name="Shape 90"/>
        <p:cNvGrpSpPr/>
        <p:nvPr/>
      </p:nvGrpSpPr>
      <p:grpSpPr>
        <a:xfrm>
          <a:off x="0" y="0"/>
          <a:ext cx="0" cy="0"/>
          <a:chOff x="0" y="0"/>
          <a:chExt cx="0" cy="0"/>
        </a:xfrm>
      </p:grpSpPr>
      <p:sp>
        <p:nvSpPr>
          <p:cNvPr id="91" name="Google Shape;91;p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92" name="Google Shape;92;p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98" name="Google Shape;98;p3: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0" name="Shape 120"/>
        <p:cNvGrpSpPr/>
        <p:nvPr/>
      </p:nvGrpSpPr>
      <p:grpSpPr>
        <a:xfrm>
          <a:off x="0" y="0"/>
          <a:ext cx="0" cy="0"/>
          <a:chOff x="0" y="0"/>
          <a:chExt cx="0" cy="0"/>
        </a:xfrm>
      </p:grpSpPr>
      <p:sp>
        <p:nvSpPr>
          <p:cNvPr id="121" name="Google Shape;121;p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22" name="Google Shape;122;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6" name="Shape 126"/>
        <p:cNvGrpSpPr/>
        <p:nvPr/>
      </p:nvGrpSpPr>
      <p:grpSpPr>
        <a:xfrm>
          <a:off x="0" y="0"/>
          <a:ext cx="0" cy="0"/>
          <a:chOff x="0" y="0"/>
          <a:chExt cx="0" cy="0"/>
        </a:xfrm>
      </p:grpSpPr>
      <p:sp>
        <p:nvSpPr>
          <p:cNvPr id="127" name="Google Shape;127;p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28" name="Google Shape;128;p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2" name="Shape 132"/>
        <p:cNvGrpSpPr/>
        <p:nvPr/>
      </p:nvGrpSpPr>
      <p:grpSpPr>
        <a:xfrm>
          <a:off x="0" y="0"/>
          <a:ext cx="0" cy="0"/>
          <a:chOff x="0" y="0"/>
          <a:chExt cx="0" cy="0"/>
        </a:xfrm>
      </p:grpSpPr>
      <p:sp>
        <p:nvSpPr>
          <p:cNvPr id="133" name="Google Shape;133;p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34" name="Google Shape;134;p6: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8" name="Shape 138"/>
        <p:cNvGrpSpPr/>
        <p:nvPr/>
      </p:nvGrpSpPr>
      <p:grpSpPr>
        <a:xfrm>
          <a:off x="0" y="0"/>
          <a:ext cx="0" cy="0"/>
          <a:chOff x="0" y="0"/>
          <a:chExt cx="0" cy="0"/>
        </a:xfrm>
      </p:grpSpPr>
      <p:sp>
        <p:nvSpPr>
          <p:cNvPr id="139" name="Google Shape;139;p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0" name="Google Shape;140;p7: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5" name="Shape 145"/>
        <p:cNvGrpSpPr/>
        <p:nvPr/>
      </p:nvGrpSpPr>
      <p:grpSpPr>
        <a:xfrm>
          <a:off x="0" y="0"/>
          <a:ext cx="0" cy="0"/>
          <a:chOff x="0" y="0"/>
          <a:chExt cx="0" cy="0"/>
        </a:xfrm>
      </p:grpSpPr>
      <p:sp>
        <p:nvSpPr>
          <p:cNvPr id="146" name="Google Shape;146;p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7" name="Google Shape;147;p8: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 name="Shape 152"/>
        <p:cNvGrpSpPr/>
        <p:nvPr/>
      </p:nvGrpSpPr>
      <p:grpSpPr>
        <a:xfrm>
          <a:off x="0" y="0"/>
          <a:ext cx="0" cy="0"/>
          <a:chOff x="0" y="0"/>
          <a:chExt cx="0" cy="0"/>
        </a:xfrm>
      </p:grpSpPr>
      <p:sp>
        <p:nvSpPr>
          <p:cNvPr id="153" name="Google Shape;153;p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54" name="Google Shape;154;p9: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5" name="Shape 175"/>
        <p:cNvGrpSpPr/>
        <p:nvPr/>
      </p:nvGrpSpPr>
      <p:grpSpPr>
        <a:xfrm>
          <a:off x="0" y="0"/>
          <a:ext cx="0" cy="0"/>
          <a:chOff x="0" y="0"/>
          <a:chExt cx="0" cy="0"/>
        </a:xfrm>
      </p:grpSpPr>
      <p:sp>
        <p:nvSpPr>
          <p:cNvPr id="176" name="Google Shape;176;p1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77" name="Google Shape;177;p10: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1" name="Shape 181"/>
        <p:cNvGrpSpPr/>
        <p:nvPr/>
      </p:nvGrpSpPr>
      <p:grpSpPr>
        <a:xfrm>
          <a:off x="0" y="0"/>
          <a:ext cx="0" cy="0"/>
          <a:chOff x="0" y="0"/>
          <a:chExt cx="0" cy="0"/>
        </a:xfrm>
      </p:grpSpPr>
      <p:sp>
        <p:nvSpPr>
          <p:cNvPr id="182" name="Google Shape;182;p1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83" name="Google Shape;183;p1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7" name="Shape 187"/>
        <p:cNvGrpSpPr/>
        <p:nvPr/>
      </p:nvGrpSpPr>
      <p:grpSpPr>
        <a:xfrm>
          <a:off x="0" y="0"/>
          <a:ext cx="0" cy="0"/>
          <a:chOff x="0" y="0"/>
          <a:chExt cx="0" cy="0"/>
        </a:xfrm>
      </p:grpSpPr>
      <p:sp>
        <p:nvSpPr>
          <p:cNvPr id="188" name="Google Shape;188;p1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89" name="Google Shape;189;p1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3" name="Shape 193"/>
        <p:cNvGrpSpPr/>
        <p:nvPr/>
      </p:nvGrpSpPr>
      <p:grpSpPr>
        <a:xfrm>
          <a:off x="0" y="0"/>
          <a:ext cx="0" cy="0"/>
          <a:chOff x="0" y="0"/>
          <a:chExt cx="0" cy="0"/>
        </a:xfrm>
      </p:grpSpPr>
      <p:sp>
        <p:nvSpPr>
          <p:cNvPr id="194" name="Google Shape;194;p1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95" name="Google Shape;195;p13: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9" name="Shape 199"/>
        <p:cNvGrpSpPr/>
        <p:nvPr/>
      </p:nvGrpSpPr>
      <p:grpSpPr>
        <a:xfrm>
          <a:off x="0" y="0"/>
          <a:ext cx="0" cy="0"/>
          <a:chOff x="0" y="0"/>
          <a:chExt cx="0" cy="0"/>
        </a:xfrm>
      </p:grpSpPr>
      <p:sp>
        <p:nvSpPr>
          <p:cNvPr id="200" name="Google Shape;200;p1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01" name="Google Shape;201;p1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5" name="Shape 205"/>
        <p:cNvGrpSpPr/>
        <p:nvPr/>
      </p:nvGrpSpPr>
      <p:grpSpPr>
        <a:xfrm>
          <a:off x="0" y="0"/>
          <a:ext cx="0" cy="0"/>
          <a:chOff x="0" y="0"/>
          <a:chExt cx="0" cy="0"/>
        </a:xfrm>
      </p:grpSpPr>
      <p:sp>
        <p:nvSpPr>
          <p:cNvPr id="206" name="Google Shape;206;p1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07" name="Google Shape;207;p1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1" name="Shape 11"/>
        <p:cNvGrpSpPr/>
        <p:nvPr/>
      </p:nvGrpSpPr>
      <p:grpSpPr>
        <a:xfrm>
          <a:off x="0" y="0"/>
          <a:ext cx="0" cy="0"/>
          <a:chOff x="0" y="0"/>
          <a:chExt cx="0" cy="0"/>
        </a:xfrm>
      </p:grpSpPr>
      <p:sp>
        <p:nvSpPr>
          <p:cNvPr id="12" name="Google Shape;12;p2"/>
          <p:cNvSpPr txBox="1"/>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panose="020F0502020204030204"/>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2"/>
          <p:cNvSpPr txBox="1"/>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4" name="Google Shape;14;p2"/>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2"/>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2"/>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17" name="Shape 17"/>
        <p:cNvGrpSpPr/>
        <p:nvPr/>
      </p:nvGrpSpPr>
      <p:grpSpPr>
        <a:xfrm>
          <a:off x="0" y="0"/>
          <a:ext cx="0" cy="0"/>
          <a:chOff x="0" y="0"/>
          <a:chExt cx="0" cy="0"/>
        </a:xfrm>
      </p:grpSpPr>
      <p:sp>
        <p:nvSpPr>
          <p:cNvPr id="18" name="Google Shape;18;p3"/>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3"/>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20" name="Google Shape;20;p3"/>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3"/>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3"/>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23" name="Shape 23"/>
        <p:cNvGrpSpPr/>
        <p:nvPr/>
      </p:nvGrpSpPr>
      <p:grpSpPr>
        <a:xfrm>
          <a:off x="0" y="0"/>
          <a:ext cx="0" cy="0"/>
          <a:chOff x="0" y="0"/>
          <a:chExt cx="0" cy="0"/>
        </a:xfrm>
      </p:grpSpPr>
      <p:sp>
        <p:nvSpPr>
          <p:cNvPr id="24" name="Google Shape;24;p4"/>
          <p:cNvSpPr txBox="1"/>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panose="020F0502020204030204"/>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4"/>
          <p:cNvSpPr txBox="1"/>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p:txBody>
      </p:sp>
      <p:sp>
        <p:nvSpPr>
          <p:cNvPr id="26" name="Google Shape;26;p4"/>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4"/>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4"/>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29" name="Shape 29"/>
        <p:cNvGrpSpPr/>
        <p:nvPr/>
      </p:nvGrpSpPr>
      <p:grpSpPr>
        <a:xfrm>
          <a:off x="0" y="0"/>
          <a:ext cx="0" cy="0"/>
          <a:chOff x="0" y="0"/>
          <a:chExt cx="0" cy="0"/>
        </a:xfrm>
      </p:grpSpPr>
      <p:sp>
        <p:nvSpPr>
          <p:cNvPr id="30" name="Google Shape;30;p5"/>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5"/>
          <p:cNvSpPr txBox="1"/>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32" name="Google Shape;32;p5"/>
          <p:cNvSpPr txBox="1"/>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33" name="Google Shape;33;p5"/>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5"/>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5"/>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36" name="Shape 36"/>
        <p:cNvGrpSpPr/>
        <p:nvPr/>
      </p:nvGrpSpPr>
      <p:grpSpPr>
        <a:xfrm>
          <a:off x="0" y="0"/>
          <a:ext cx="0" cy="0"/>
          <a:chOff x="0" y="0"/>
          <a:chExt cx="0" cy="0"/>
        </a:xfrm>
      </p:grpSpPr>
      <p:sp>
        <p:nvSpPr>
          <p:cNvPr id="37" name="Google Shape;37;p6"/>
          <p:cNvSpPr txBox="1"/>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6"/>
          <p:cNvSpPr txBox="1"/>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39" name="Google Shape;39;p6"/>
          <p:cNvSpPr txBox="1"/>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0" name="Google Shape;40;p6"/>
          <p:cNvSpPr txBox="1"/>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41" name="Google Shape;41;p6"/>
          <p:cNvSpPr txBox="1"/>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2" name="Google Shape;42;p6"/>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6"/>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6"/>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7"/>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7"/>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50" name="Shape 50"/>
        <p:cNvGrpSpPr/>
        <p:nvPr/>
      </p:nvGrpSpPr>
      <p:grpSpPr>
        <a:xfrm>
          <a:off x="0" y="0"/>
          <a:ext cx="0" cy="0"/>
          <a:chOff x="0" y="0"/>
          <a:chExt cx="0" cy="0"/>
        </a:xfrm>
      </p:grpSpPr>
      <p:sp>
        <p:nvSpPr>
          <p:cNvPr id="51" name="Google Shape;51;p8"/>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p:txBody>
      </p:sp>
      <p:sp>
        <p:nvSpPr>
          <p:cNvPr id="57" name="Google Shape;57;p9"/>
          <p:cNvSpPr txBox="1"/>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58" name="Google Shape;58;p9"/>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type="pic" idx="2"/>
          </p:nvPr>
        </p:nvSpPr>
        <p:spPr>
          <a:xfrm>
            <a:off x="5183188" y="987425"/>
            <a:ext cx="6172200" cy="4873625"/>
          </a:xfrm>
          <a:prstGeom prst="rect">
            <a:avLst/>
          </a:prstGeom>
          <a:noFill/>
          <a:ln>
            <a:noFill/>
          </a:ln>
        </p:spPr>
      </p:sp>
      <p:sp>
        <p:nvSpPr>
          <p:cNvPr id="64" name="Google Shape;64;p10"/>
          <p:cNvSpPr txBox="1"/>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65" name="Google Shape;65;p10"/>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71" name="Google Shape;71;p1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77" name="Google Shape;77;p12"/>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D"/>
            </a:fld>
            <a:endParaRPr lang="en-ID"/>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p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9" name="Google Shape;9;p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0" name="Google Shape;10;p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ID"/>
            </a:fld>
            <a:endParaRPr lang="en-ID"/>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7" Type="http://schemas.openxmlformats.org/officeDocument/2006/relationships/notesSlide" Target="../notesSlides/notesSlide3.xml"/><Relationship Id="rId6"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83" name="Shape 83"/>
        <p:cNvGrpSpPr/>
        <p:nvPr/>
      </p:nvGrpSpPr>
      <p:grpSpPr>
        <a:xfrm>
          <a:off x="0" y="0"/>
          <a:ext cx="0" cy="0"/>
          <a:chOff x="0" y="0"/>
          <a:chExt cx="0" cy="0"/>
        </a:xfrm>
      </p:grpSpPr>
      <p:sp>
        <p:nvSpPr>
          <p:cNvPr id="84" name="Google Shape;84;p13"/>
          <p:cNvSpPr txBox="1"/>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chemeClr val="dk1"/>
              </a:buClr>
              <a:buSzPct val="100000"/>
              <a:buFont typeface="Calibri" panose="020F0502020204030204"/>
              <a:buNone/>
            </a:pPr>
            <a:r>
              <a:rPr lang="en-ID"/>
              <a:t>&lt;&lt;</a:t>
            </a:r>
            <a:r>
              <a:rPr lang="en-ID" sz="3375"/>
              <a:t>Perancangan Sistem Rekomendasi Buku Pembelajaran Berbasis Content-Based Filtering untuk Meningkatkan Kualitas Belajar Siswa SMA”</a:t>
            </a:r>
            <a:r>
              <a:rPr lang="en-ID"/>
              <a:t>&gt;&gt;</a:t>
            </a:r>
            <a:endParaRPr lang="en-ID"/>
          </a:p>
        </p:txBody>
      </p:sp>
      <p:sp>
        <p:nvSpPr>
          <p:cNvPr id="85" name="Google Shape;85;p13"/>
          <p:cNvSpPr txBox="1"/>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dk1"/>
              </a:buClr>
              <a:buSzPts val="2400"/>
              <a:buNone/>
            </a:pPr>
            <a:r>
              <a:rPr lang="en-ID"/>
              <a:t>&lt;&lt;Jochelino Felix Kurniawan - 71241156 &gt;&gt;</a:t>
            </a:r>
            <a:endParaRPr lang="en-ID"/>
          </a:p>
          <a:p>
            <a:pPr marL="0" lvl="0" indent="0" algn="ctr" rtl="0">
              <a:lnSpc>
                <a:spcPct val="90000"/>
              </a:lnSpc>
              <a:spcBef>
                <a:spcPts val="1000"/>
              </a:spcBef>
              <a:spcAft>
                <a:spcPts val="0"/>
              </a:spcAft>
              <a:buClr>
                <a:schemeClr val="dk1"/>
              </a:buClr>
              <a:buSzPts val="2400"/>
              <a:buNone/>
            </a:pPr>
            <a:r>
              <a:rPr lang="en-ID"/>
              <a:t>&lt;&lt;Harrison Abraham Pribadi – 71241151&gt;&gt;</a:t>
            </a:r>
            <a:endParaRPr lang="en-ID"/>
          </a:p>
          <a:p>
            <a:pPr marL="0" lvl="0" indent="0" algn="ctr" rtl="0">
              <a:lnSpc>
                <a:spcPct val="90000"/>
              </a:lnSpc>
              <a:spcBef>
                <a:spcPts val="1000"/>
              </a:spcBef>
              <a:spcAft>
                <a:spcPts val="0"/>
              </a:spcAft>
              <a:buClr>
                <a:schemeClr val="dk1"/>
              </a:buClr>
              <a:buSzPts val="2400"/>
              <a:buNone/>
            </a:pPr>
            <a:r>
              <a:rPr lang="en-ID"/>
              <a:t>&lt;&lt;Samuel Varabu Djahimo – 71241125&gt;&gt;</a:t>
            </a:r>
            <a:endParaRPr lang="en-ID"/>
          </a:p>
        </p:txBody>
      </p:sp>
      <p:sp>
        <p:nvSpPr>
          <p:cNvPr id="86" name="Google Shape;86;p13"/>
          <p:cNvSpPr txBox="1"/>
          <p:nvPr/>
        </p:nvSpPr>
        <p:spPr>
          <a:xfrm>
            <a:off x="9932894" y="242047"/>
            <a:ext cx="1913963" cy="1018335"/>
          </a:xfrm>
          <a:prstGeom prst="rect">
            <a:avLst/>
          </a:prstGeom>
          <a:noFill/>
          <a:ln>
            <a:noFill/>
          </a:ln>
        </p:spPr>
        <p:txBody>
          <a:bodyPr spcFirstLastPara="1" wrap="square" lIns="91425" tIns="45700" rIns="91425" bIns="45700" anchor="b" anchorCtr="0">
            <a:normAutofit lnSpcReduction="10000"/>
          </a:bodyPr>
          <a:lstStyle/>
          <a:p>
            <a:pPr marL="0" marR="0" lvl="0" indent="0" algn="ctr" rtl="0">
              <a:lnSpc>
                <a:spcPct val="90000"/>
              </a:lnSpc>
              <a:spcBef>
                <a:spcPts val="0"/>
              </a:spcBef>
              <a:spcAft>
                <a:spcPts val="0"/>
              </a:spcAft>
              <a:buClr>
                <a:schemeClr val="dk1"/>
              </a:buClr>
              <a:buSzPts val="3600"/>
              <a:buFont typeface="Calibri" panose="020F0502020204030204"/>
              <a:buNone/>
            </a:pPr>
            <a:r>
              <a:rPr lang="en-ID" sz="3600" b="0" i="0" u="none" strike="noStrike" cap="none">
                <a:solidFill>
                  <a:schemeClr val="dk1"/>
                </a:solidFill>
                <a:latin typeface="Calibri" panose="020F0502020204030204"/>
                <a:ea typeface="Calibri" panose="020F0502020204030204"/>
                <a:cs typeface="Calibri" panose="020F0502020204030204"/>
                <a:sym typeface="Calibri" panose="020F0502020204030204"/>
              </a:rPr>
              <a:t>Capstone Project</a:t>
            </a:r>
            <a:endParaRPr sz="36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pic>
        <p:nvPicPr>
          <p:cNvPr id="87" name="Google Shape;87;p13" descr="Logo UKDW (Universitas Kristen Duta Wacana) - rekreartive"/>
          <p:cNvPicPr preferRelativeResize="0"/>
          <p:nvPr/>
        </p:nvPicPr>
        <p:blipFill rotWithShape="1">
          <a:blip r:embed="rId1"/>
          <a:srcRect/>
          <a:stretch>
            <a:fillRect/>
          </a:stretch>
        </p:blipFill>
        <p:spPr>
          <a:xfrm>
            <a:off x="345143" y="120081"/>
            <a:ext cx="896403" cy="1140301"/>
          </a:xfrm>
          <a:prstGeom prst="rect">
            <a:avLst/>
          </a:prstGeom>
          <a:noFill/>
          <a:ln>
            <a:noFill/>
          </a:ln>
        </p:spPr>
      </p:pic>
      <p:pic>
        <p:nvPicPr>
          <p:cNvPr id="88" name="Google Shape;88;p13" descr="Fakultas Teknologi Informasi | UKDW"/>
          <p:cNvPicPr preferRelativeResize="0"/>
          <p:nvPr/>
        </p:nvPicPr>
        <p:blipFill rotWithShape="1">
          <a:blip r:embed="rId2"/>
          <a:srcRect/>
          <a:stretch>
            <a:fillRect/>
          </a:stretch>
        </p:blipFill>
        <p:spPr>
          <a:xfrm>
            <a:off x="1396180" y="141242"/>
            <a:ext cx="1697256" cy="1166863"/>
          </a:xfrm>
          <a:prstGeom prst="rect">
            <a:avLst/>
          </a:prstGeom>
          <a:noFill/>
          <a:ln>
            <a:noFill/>
          </a:ln>
        </p:spPr>
      </p:pic>
      <p:pic>
        <p:nvPicPr>
          <p:cNvPr id="89" name="Google Shape;89;p13" descr="Informatika | UKDW"/>
          <p:cNvPicPr preferRelativeResize="0"/>
          <p:nvPr/>
        </p:nvPicPr>
        <p:blipFill rotWithShape="1">
          <a:blip r:embed="rId3"/>
          <a:srcRect/>
          <a:stretch>
            <a:fillRect/>
          </a:stretch>
        </p:blipFill>
        <p:spPr>
          <a:xfrm>
            <a:off x="3221256" y="17188"/>
            <a:ext cx="2045110" cy="141497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93" name="Shape 93"/>
        <p:cNvGrpSpPr/>
        <p:nvPr/>
      </p:nvGrpSpPr>
      <p:grpSpPr>
        <a:xfrm>
          <a:off x="0" y="0"/>
          <a:ext cx="0" cy="0"/>
          <a:chOff x="0" y="0"/>
          <a:chExt cx="0" cy="0"/>
        </a:xfrm>
      </p:grpSpPr>
      <p:sp>
        <p:nvSpPr>
          <p:cNvPr id="94" name="Google Shape;94;p14"/>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panose="020F0502020204030204"/>
              <a:buNone/>
            </a:pPr>
            <a:r>
              <a:rPr lang="en-ID"/>
              <a:t>Petunjuk Pengisian</a:t>
            </a:r>
            <a:endParaRPr lang="en-ID"/>
          </a:p>
        </p:txBody>
      </p:sp>
      <p:sp>
        <p:nvSpPr>
          <p:cNvPr id="95" name="Google Shape;95;p14"/>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ID"/>
              <a:t>Gunakan Template ini untuk mengisi slideck capstone project</a:t>
            </a:r>
            <a:endParaRPr lang="en-ID"/>
          </a:p>
          <a:p>
            <a:pPr marL="228600" lvl="0" indent="-228600" algn="l" rtl="0">
              <a:lnSpc>
                <a:spcPct val="90000"/>
              </a:lnSpc>
              <a:spcBef>
                <a:spcPts val="1000"/>
              </a:spcBef>
              <a:spcAft>
                <a:spcPts val="0"/>
              </a:spcAft>
              <a:buClr>
                <a:schemeClr val="dk1"/>
              </a:buClr>
              <a:buSzPts val="2800"/>
              <a:buChar char="•"/>
            </a:pPr>
            <a:r>
              <a:rPr lang="en-ID"/>
              <a:t>Template dapat diisi sesuai dengan project yang diangkat dalam kasus</a:t>
            </a:r>
            <a:endParaRPr lang="en-ID"/>
          </a:p>
          <a:p>
            <a:pPr marL="228600" lvl="0" indent="-228600" algn="l" rtl="0">
              <a:lnSpc>
                <a:spcPct val="90000"/>
              </a:lnSpc>
              <a:spcBef>
                <a:spcPts val="1000"/>
              </a:spcBef>
              <a:spcAft>
                <a:spcPts val="0"/>
              </a:spcAft>
              <a:buClr>
                <a:schemeClr val="dk1"/>
              </a:buClr>
              <a:buSzPts val="2800"/>
              <a:buChar char="•"/>
            </a:pPr>
            <a:r>
              <a:rPr lang="en-ID"/>
              <a:t>Jumlah halaman bisa disesuaikan dengan scope / ruang lingkup dari project</a:t>
            </a:r>
            <a:endParaRPr lang="en-ID"/>
          </a:p>
          <a:p>
            <a:pPr marL="228600" lvl="0" indent="-228600" algn="l" rtl="0">
              <a:lnSpc>
                <a:spcPct val="90000"/>
              </a:lnSpc>
              <a:spcBef>
                <a:spcPts val="1000"/>
              </a:spcBef>
              <a:spcAft>
                <a:spcPts val="0"/>
              </a:spcAft>
              <a:buClr>
                <a:schemeClr val="dk1"/>
              </a:buClr>
              <a:buSzPts val="2800"/>
              <a:buChar char="•"/>
            </a:pPr>
            <a:r>
              <a:rPr lang="en-ID"/>
              <a:t>Anda dapat menambahkan bagian lain jika dirasa perlu </a:t>
            </a:r>
            <a:endParaRPr lang="en-ID"/>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15"/>
          <p:cNvSpPr txBox="1"/>
          <p:nvPr>
            <p:ph type="title"/>
          </p:nvPr>
        </p:nvSpPr>
        <p:spPr>
          <a:xfrm>
            <a:off x="838200" y="329266"/>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panose="020F0502020204030204"/>
              <a:buNone/>
            </a:pPr>
            <a:r>
              <a:rPr lang="en-ID"/>
              <a:t>AI Project Cycle</a:t>
            </a:r>
            <a:endParaRPr lang="en-ID"/>
          </a:p>
        </p:txBody>
      </p:sp>
      <p:grpSp>
        <p:nvGrpSpPr>
          <p:cNvPr id="101" name="Google Shape;101;p15"/>
          <p:cNvGrpSpPr/>
          <p:nvPr/>
        </p:nvGrpSpPr>
        <p:grpSpPr>
          <a:xfrm>
            <a:off x="1373563" y="1960313"/>
            <a:ext cx="8638050" cy="2730332"/>
            <a:chOff x="1504171" y="2114125"/>
            <a:chExt cx="8638050" cy="2730332"/>
          </a:xfrm>
        </p:grpSpPr>
        <p:sp>
          <p:nvSpPr>
            <p:cNvPr id="102" name="Google Shape;102;p15"/>
            <p:cNvSpPr/>
            <p:nvPr/>
          </p:nvSpPr>
          <p:spPr>
            <a:xfrm>
              <a:off x="1504171" y="2114125"/>
              <a:ext cx="1440180" cy="1412240"/>
            </a:xfrm>
            <a:custGeom>
              <a:avLst/>
              <a:gdLst/>
              <a:ahLst/>
              <a:cxnLst/>
              <a:rect l="l" t="t" r="r" b="b"/>
              <a:pathLst>
                <a:path w="1080135" h="1059180" extrusionOk="0">
                  <a:moveTo>
                    <a:pt x="539762" y="0"/>
                  </a:moveTo>
                  <a:lnTo>
                    <a:pt x="490638" y="2163"/>
                  </a:lnTo>
                  <a:lnTo>
                    <a:pt x="442748" y="8527"/>
                  </a:lnTo>
                  <a:lnTo>
                    <a:pt x="396284" y="18907"/>
                  </a:lnTo>
                  <a:lnTo>
                    <a:pt x="351435" y="33115"/>
                  </a:lnTo>
                  <a:lnTo>
                    <a:pt x="308393" y="50964"/>
                  </a:lnTo>
                  <a:lnTo>
                    <a:pt x="267349" y="72267"/>
                  </a:lnTo>
                  <a:lnTo>
                    <a:pt x="228492" y="96838"/>
                  </a:lnTo>
                  <a:lnTo>
                    <a:pt x="192014" y="124489"/>
                  </a:lnTo>
                  <a:lnTo>
                    <a:pt x="158105" y="155035"/>
                  </a:lnTo>
                  <a:lnTo>
                    <a:pt x="126956" y="188287"/>
                  </a:lnTo>
                  <a:lnTo>
                    <a:pt x="98758" y="224059"/>
                  </a:lnTo>
                  <a:lnTo>
                    <a:pt x="73700" y="262165"/>
                  </a:lnTo>
                  <a:lnTo>
                    <a:pt x="51975" y="302417"/>
                  </a:lnTo>
                  <a:lnTo>
                    <a:pt x="33772" y="344629"/>
                  </a:lnTo>
                  <a:lnTo>
                    <a:pt x="19283" y="388614"/>
                  </a:lnTo>
                  <a:lnTo>
                    <a:pt x="8697" y="434184"/>
                  </a:lnTo>
                  <a:lnTo>
                    <a:pt x="2206" y="481154"/>
                  </a:lnTo>
                  <a:lnTo>
                    <a:pt x="0" y="529335"/>
                  </a:lnTo>
                  <a:lnTo>
                    <a:pt x="2206" y="577517"/>
                  </a:lnTo>
                  <a:lnTo>
                    <a:pt x="8697" y="624487"/>
                  </a:lnTo>
                  <a:lnTo>
                    <a:pt x="19283" y="670057"/>
                  </a:lnTo>
                  <a:lnTo>
                    <a:pt x="33772" y="714042"/>
                  </a:lnTo>
                  <a:lnTo>
                    <a:pt x="51975" y="756254"/>
                  </a:lnTo>
                  <a:lnTo>
                    <a:pt x="73700" y="796506"/>
                  </a:lnTo>
                  <a:lnTo>
                    <a:pt x="98758" y="834612"/>
                  </a:lnTo>
                  <a:lnTo>
                    <a:pt x="126956" y="870384"/>
                  </a:lnTo>
                  <a:lnTo>
                    <a:pt x="158105" y="903636"/>
                  </a:lnTo>
                  <a:lnTo>
                    <a:pt x="192014" y="934182"/>
                  </a:lnTo>
                  <a:lnTo>
                    <a:pt x="228492" y="961833"/>
                  </a:lnTo>
                  <a:lnTo>
                    <a:pt x="267349" y="986404"/>
                  </a:lnTo>
                  <a:lnTo>
                    <a:pt x="308393" y="1007707"/>
                  </a:lnTo>
                  <a:lnTo>
                    <a:pt x="351435" y="1025556"/>
                  </a:lnTo>
                  <a:lnTo>
                    <a:pt x="396284" y="1039764"/>
                  </a:lnTo>
                  <a:lnTo>
                    <a:pt x="442748" y="1050144"/>
                  </a:lnTo>
                  <a:lnTo>
                    <a:pt x="490638" y="1056508"/>
                  </a:lnTo>
                  <a:lnTo>
                    <a:pt x="539762" y="1058671"/>
                  </a:lnTo>
                  <a:lnTo>
                    <a:pt x="588905" y="1056508"/>
                  </a:lnTo>
                  <a:lnTo>
                    <a:pt x="636809" y="1050144"/>
                  </a:lnTo>
                  <a:lnTo>
                    <a:pt x="683284" y="1039764"/>
                  </a:lnTo>
                  <a:lnTo>
                    <a:pt x="728139" y="1025556"/>
                  </a:lnTo>
                  <a:lnTo>
                    <a:pt x="771184" y="1007707"/>
                  </a:lnTo>
                  <a:lnTo>
                    <a:pt x="812229" y="986404"/>
                  </a:lnTo>
                  <a:lnTo>
                    <a:pt x="851084" y="961833"/>
                  </a:lnTo>
                  <a:lnTo>
                    <a:pt x="887558" y="934182"/>
                  </a:lnTo>
                  <a:lnTo>
                    <a:pt x="921461" y="903636"/>
                  </a:lnTo>
                  <a:lnTo>
                    <a:pt x="952603" y="870384"/>
                  </a:lnTo>
                  <a:lnTo>
                    <a:pt x="980794" y="834612"/>
                  </a:lnTo>
                  <a:lnTo>
                    <a:pt x="1005843" y="796506"/>
                  </a:lnTo>
                  <a:lnTo>
                    <a:pt x="1027560" y="756254"/>
                  </a:lnTo>
                  <a:lnTo>
                    <a:pt x="1045756" y="714042"/>
                  </a:lnTo>
                  <a:lnTo>
                    <a:pt x="1060239" y="670057"/>
                  </a:lnTo>
                  <a:lnTo>
                    <a:pt x="1070819" y="624487"/>
                  </a:lnTo>
                  <a:lnTo>
                    <a:pt x="1077307" y="577517"/>
                  </a:lnTo>
                  <a:lnTo>
                    <a:pt x="1079512" y="529335"/>
                  </a:lnTo>
                  <a:lnTo>
                    <a:pt x="1077307" y="481154"/>
                  </a:lnTo>
                  <a:lnTo>
                    <a:pt x="1070819" y="434184"/>
                  </a:lnTo>
                  <a:lnTo>
                    <a:pt x="1060239" y="388614"/>
                  </a:lnTo>
                  <a:lnTo>
                    <a:pt x="1045756" y="344629"/>
                  </a:lnTo>
                  <a:lnTo>
                    <a:pt x="1027560" y="302417"/>
                  </a:lnTo>
                  <a:lnTo>
                    <a:pt x="1005843" y="262165"/>
                  </a:lnTo>
                  <a:lnTo>
                    <a:pt x="980794" y="224059"/>
                  </a:lnTo>
                  <a:lnTo>
                    <a:pt x="952603" y="188287"/>
                  </a:lnTo>
                  <a:lnTo>
                    <a:pt x="921461" y="155035"/>
                  </a:lnTo>
                  <a:lnTo>
                    <a:pt x="887558" y="124489"/>
                  </a:lnTo>
                  <a:lnTo>
                    <a:pt x="851084" y="96838"/>
                  </a:lnTo>
                  <a:lnTo>
                    <a:pt x="812229" y="72267"/>
                  </a:lnTo>
                  <a:lnTo>
                    <a:pt x="771184" y="50964"/>
                  </a:lnTo>
                  <a:lnTo>
                    <a:pt x="728139" y="33115"/>
                  </a:lnTo>
                  <a:lnTo>
                    <a:pt x="683284" y="18907"/>
                  </a:lnTo>
                  <a:lnTo>
                    <a:pt x="636809" y="8527"/>
                  </a:lnTo>
                  <a:lnTo>
                    <a:pt x="588905" y="2163"/>
                  </a:lnTo>
                  <a:lnTo>
                    <a:pt x="539762" y="0"/>
                  </a:lnTo>
                  <a:close/>
                </a:path>
              </a:pathLst>
            </a:custGeom>
            <a:solidFill>
              <a:srgbClr val="202020"/>
            </a:solid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03" name="Google Shape;103;p15"/>
            <p:cNvSpPr/>
            <p:nvPr/>
          </p:nvSpPr>
          <p:spPr>
            <a:xfrm>
              <a:off x="2944367" y="3432217"/>
              <a:ext cx="1440180" cy="1412240"/>
            </a:xfrm>
            <a:custGeom>
              <a:avLst/>
              <a:gdLst/>
              <a:ahLst/>
              <a:cxnLst/>
              <a:rect l="l" t="t" r="r" b="b"/>
              <a:pathLst>
                <a:path w="1080135" h="1059179" extrusionOk="0">
                  <a:moveTo>
                    <a:pt x="539750" y="0"/>
                  </a:moveTo>
                  <a:lnTo>
                    <a:pt x="490625" y="2163"/>
                  </a:lnTo>
                  <a:lnTo>
                    <a:pt x="442736" y="8527"/>
                  </a:lnTo>
                  <a:lnTo>
                    <a:pt x="396272" y="18907"/>
                  </a:lnTo>
                  <a:lnTo>
                    <a:pt x="351424" y="33115"/>
                  </a:lnTo>
                  <a:lnTo>
                    <a:pt x="308383" y="50964"/>
                  </a:lnTo>
                  <a:lnTo>
                    <a:pt x="267339" y="72267"/>
                  </a:lnTo>
                  <a:lnTo>
                    <a:pt x="228483" y="96838"/>
                  </a:lnTo>
                  <a:lnTo>
                    <a:pt x="192006" y="124489"/>
                  </a:lnTo>
                  <a:lnTo>
                    <a:pt x="158099" y="155035"/>
                  </a:lnTo>
                  <a:lnTo>
                    <a:pt x="126951" y="188287"/>
                  </a:lnTo>
                  <a:lnTo>
                    <a:pt x="98753" y="224059"/>
                  </a:lnTo>
                  <a:lnTo>
                    <a:pt x="73697" y="262165"/>
                  </a:lnTo>
                  <a:lnTo>
                    <a:pt x="51973" y="302417"/>
                  </a:lnTo>
                  <a:lnTo>
                    <a:pt x="33771" y="344629"/>
                  </a:lnTo>
                  <a:lnTo>
                    <a:pt x="19282" y="388614"/>
                  </a:lnTo>
                  <a:lnTo>
                    <a:pt x="8696" y="434184"/>
                  </a:lnTo>
                  <a:lnTo>
                    <a:pt x="2206" y="481154"/>
                  </a:lnTo>
                  <a:lnTo>
                    <a:pt x="0" y="529336"/>
                  </a:lnTo>
                  <a:lnTo>
                    <a:pt x="2206" y="577517"/>
                  </a:lnTo>
                  <a:lnTo>
                    <a:pt x="8696" y="624487"/>
                  </a:lnTo>
                  <a:lnTo>
                    <a:pt x="19282" y="670057"/>
                  </a:lnTo>
                  <a:lnTo>
                    <a:pt x="33771" y="714042"/>
                  </a:lnTo>
                  <a:lnTo>
                    <a:pt x="51973" y="756254"/>
                  </a:lnTo>
                  <a:lnTo>
                    <a:pt x="73697" y="796506"/>
                  </a:lnTo>
                  <a:lnTo>
                    <a:pt x="98753" y="834612"/>
                  </a:lnTo>
                  <a:lnTo>
                    <a:pt x="126951" y="870384"/>
                  </a:lnTo>
                  <a:lnTo>
                    <a:pt x="158099" y="903636"/>
                  </a:lnTo>
                  <a:lnTo>
                    <a:pt x="192006" y="934182"/>
                  </a:lnTo>
                  <a:lnTo>
                    <a:pt x="228483" y="961833"/>
                  </a:lnTo>
                  <a:lnTo>
                    <a:pt x="267339" y="986404"/>
                  </a:lnTo>
                  <a:lnTo>
                    <a:pt x="308383" y="1007707"/>
                  </a:lnTo>
                  <a:lnTo>
                    <a:pt x="351424" y="1025556"/>
                  </a:lnTo>
                  <a:lnTo>
                    <a:pt x="396272" y="1039764"/>
                  </a:lnTo>
                  <a:lnTo>
                    <a:pt x="442736" y="1050144"/>
                  </a:lnTo>
                  <a:lnTo>
                    <a:pt x="490625" y="1056508"/>
                  </a:lnTo>
                  <a:lnTo>
                    <a:pt x="539750" y="1058672"/>
                  </a:lnTo>
                  <a:lnTo>
                    <a:pt x="588894" y="1056508"/>
                  </a:lnTo>
                  <a:lnTo>
                    <a:pt x="636801" y="1050144"/>
                  </a:lnTo>
                  <a:lnTo>
                    <a:pt x="683281" y="1039764"/>
                  </a:lnTo>
                  <a:lnTo>
                    <a:pt x="728142" y="1025556"/>
                  </a:lnTo>
                  <a:lnTo>
                    <a:pt x="771195" y="1007707"/>
                  </a:lnTo>
                  <a:lnTo>
                    <a:pt x="812249" y="986404"/>
                  </a:lnTo>
                  <a:lnTo>
                    <a:pt x="851114" y="961833"/>
                  </a:lnTo>
                  <a:lnTo>
                    <a:pt x="887598" y="934182"/>
                  </a:lnTo>
                  <a:lnTo>
                    <a:pt x="921511" y="903636"/>
                  </a:lnTo>
                  <a:lnTo>
                    <a:pt x="952664" y="870384"/>
                  </a:lnTo>
                  <a:lnTo>
                    <a:pt x="980865" y="834612"/>
                  </a:lnTo>
                  <a:lnTo>
                    <a:pt x="1005924" y="796506"/>
                  </a:lnTo>
                  <a:lnTo>
                    <a:pt x="1027651" y="756254"/>
                  </a:lnTo>
                  <a:lnTo>
                    <a:pt x="1045854" y="714042"/>
                  </a:lnTo>
                  <a:lnTo>
                    <a:pt x="1060344" y="670057"/>
                  </a:lnTo>
                  <a:lnTo>
                    <a:pt x="1070929" y="624487"/>
                  </a:lnTo>
                  <a:lnTo>
                    <a:pt x="1077420" y="577517"/>
                  </a:lnTo>
                  <a:lnTo>
                    <a:pt x="1079627" y="529336"/>
                  </a:lnTo>
                  <a:lnTo>
                    <a:pt x="1077420" y="481154"/>
                  </a:lnTo>
                  <a:lnTo>
                    <a:pt x="1070929" y="434184"/>
                  </a:lnTo>
                  <a:lnTo>
                    <a:pt x="1060344" y="388614"/>
                  </a:lnTo>
                  <a:lnTo>
                    <a:pt x="1045854" y="344629"/>
                  </a:lnTo>
                  <a:lnTo>
                    <a:pt x="1027651" y="302417"/>
                  </a:lnTo>
                  <a:lnTo>
                    <a:pt x="1005924" y="262165"/>
                  </a:lnTo>
                  <a:lnTo>
                    <a:pt x="980865" y="224059"/>
                  </a:lnTo>
                  <a:lnTo>
                    <a:pt x="952664" y="188287"/>
                  </a:lnTo>
                  <a:lnTo>
                    <a:pt x="921512" y="155035"/>
                  </a:lnTo>
                  <a:lnTo>
                    <a:pt x="887598" y="124489"/>
                  </a:lnTo>
                  <a:lnTo>
                    <a:pt x="851114" y="96838"/>
                  </a:lnTo>
                  <a:lnTo>
                    <a:pt x="812249" y="72267"/>
                  </a:lnTo>
                  <a:lnTo>
                    <a:pt x="771195" y="50964"/>
                  </a:lnTo>
                  <a:lnTo>
                    <a:pt x="728142" y="33115"/>
                  </a:lnTo>
                  <a:lnTo>
                    <a:pt x="683281" y="18907"/>
                  </a:lnTo>
                  <a:lnTo>
                    <a:pt x="636801" y="8527"/>
                  </a:lnTo>
                  <a:lnTo>
                    <a:pt x="588894" y="2163"/>
                  </a:lnTo>
                  <a:lnTo>
                    <a:pt x="539750" y="0"/>
                  </a:lnTo>
                  <a:close/>
                </a:path>
              </a:pathLst>
            </a:custGeom>
            <a:solidFill>
              <a:srgbClr val="202020"/>
            </a:solid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04" name="Google Shape;104;p15"/>
            <p:cNvSpPr/>
            <p:nvPr/>
          </p:nvSpPr>
          <p:spPr>
            <a:xfrm>
              <a:off x="4353390" y="2114125"/>
              <a:ext cx="1440180" cy="1412240"/>
            </a:xfrm>
            <a:custGeom>
              <a:avLst/>
              <a:gdLst/>
              <a:ahLst/>
              <a:cxnLst/>
              <a:rect l="l" t="t" r="r" b="b"/>
              <a:pathLst>
                <a:path w="1080135" h="1059180" extrusionOk="0">
                  <a:moveTo>
                    <a:pt x="539750" y="0"/>
                  </a:moveTo>
                  <a:lnTo>
                    <a:pt x="490625" y="2163"/>
                  </a:lnTo>
                  <a:lnTo>
                    <a:pt x="442736" y="8527"/>
                  </a:lnTo>
                  <a:lnTo>
                    <a:pt x="396272" y="18907"/>
                  </a:lnTo>
                  <a:lnTo>
                    <a:pt x="351424" y="33115"/>
                  </a:lnTo>
                  <a:lnTo>
                    <a:pt x="308383" y="50964"/>
                  </a:lnTo>
                  <a:lnTo>
                    <a:pt x="267339" y="72267"/>
                  </a:lnTo>
                  <a:lnTo>
                    <a:pt x="228483" y="96838"/>
                  </a:lnTo>
                  <a:lnTo>
                    <a:pt x="192006" y="124489"/>
                  </a:lnTo>
                  <a:lnTo>
                    <a:pt x="158099" y="155035"/>
                  </a:lnTo>
                  <a:lnTo>
                    <a:pt x="126951" y="188287"/>
                  </a:lnTo>
                  <a:lnTo>
                    <a:pt x="98753" y="224059"/>
                  </a:lnTo>
                  <a:lnTo>
                    <a:pt x="73697" y="262165"/>
                  </a:lnTo>
                  <a:lnTo>
                    <a:pt x="51973" y="302417"/>
                  </a:lnTo>
                  <a:lnTo>
                    <a:pt x="33771" y="344629"/>
                  </a:lnTo>
                  <a:lnTo>
                    <a:pt x="19282" y="388614"/>
                  </a:lnTo>
                  <a:lnTo>
                    <a:pt x="8696" y="434184"/>
                  </a:lnTo>
                  <a:lnTo>
                    <a:pt x="2206" y="481154"/>
                  </a:lnTo>
                  <a:lnTo>
                    <a:pt x="0" y="529335"/>
                  </a:lnTo>
                  <a:lnTo>
                    <a:pt x="2206" y="577517"/>
                  </a:lnTo>
                  <a:lnTo>
                    <a:pt x="8696" y="624487"/>
                  </a:lnTo>
                  <a:lnTo>
                    <a:pt x="19282" y="670057"/>
                  </a:lnTo>
                  <a:lnTo>
                    <a:pt x="33771" y="714042"/>
                  </a:lnTo>
                  <a:lnTo>
                    <a:pt x="51973" y="756254"/>
                  </a:lnTo>
                  <a:lnTo>
                    <a:pt x="73697" y="796506"/>
                  </a:lnTo>
                  <a:lnTo>
                    <a:pt x="98753" y="834612"/>
                  </a:lnTo>
                  <a:lnTo>
                    <a:pt x="126951" y="870384"/>
                  </a:lnTo>
                  <a:lnTo>
                    <a:pt x="158099" y="903636"/>
                  </a:lnTo>
                  <a:lnTo>
                    <a:pt x="192006" y="934182"/>
                  </a:lnTo>
                  <a:lnTo>
                    <a:pt x="228483" y="961833"/>
                  </a:lnTo>
                  <a:lnTo>
                    <a:pt x="267339" y="986404"/>
                  </a:lnTo>
                  <a:lnTo>
                    <a:pt x="308383" y="1007707"/>
                  </a:lnTo>
                  <a:lnTo>
                    <a:pt x="351424" y="1025556"/>
                  </a:lnTo>
                  <a:lnTo>
                    <a:pt x="396272" y="1039764"/>
                  </a:lnTo>
                  <a:lnTo>
                    <a:pt x="442736" y="1050144"/>
                  </a:lnTo>
                  <a:lnTo>
                    <a:pt x="490625" y="1056508"/>
                  </a:lnTo>
                  <a:lnTo>
                    <a:pt x="539750" y="1058671"/>
                  </a:lnTo>
                  <a:lnTo>
                    <a:pt x="588894" y="1056508"/>
                  </a:lnTo>
                  <a:lnTo>
                    <a:pt x="636801" y="1050144"/>
                  </a:lnTo>
                  <a:lnTo>
                    <a:pt x="683281" y="1039764"/>
                  </a:lnTo>
                  <a:lnTo>
                    <a:pt x="728142" y="1025556"/>
                  </a:lnTo>
                  <a:lnTo>
                    <a:pt x="771195" y="1007707"/>
                  </a:lnTo>
                  <a:lnTo>
                    <a:pt x="812249" y="986404"/>
                  </a:lnTo>
                  <a:lnTo>
                    <a:pt x="851114" y="961833"/>
                  </a:lnTo>
                  <a:lnTo>
                    <a:pt x="887598" y="934182"/>
                  </a:lnTo>
                  <a:lnTo>
                    <a:pt x="921511" y="903636"/>
                  </a:lnTo>
                  <a:lnTo>
                    <a:pt x="952664" y="870384"/>
                  </a:lnTo>
                  <a:lnTo>
                    <a:pt x="980865" y="834612"/>
                  </a:lnTo>
                  <a:lnTo>
                    <a:pt x="1005924" y="796506"/>
                  </a:lnTo>
                  <a:lnTo>
                    <a:pt x="1027651" y="756254"/>
                  </a:lnTo>
                  <a:lnTo>
                    <a:pt x="1045854" y="714042"/>
                  </a:lnTo>
                  <a:lnTo>
                    <a:pt x="1060344" y="670057"/>
                  </a:lnTo>
                  <a:lnTo>
                    <a:pt x="1070929" y="624487"/>
                  </a:lnTo>
                  <a:lnTo>
                    <a:pt x="1077420" y="577517"/>
                  </a:lnTo>
                  <a:lnTo>
                    <a:pt x="1079627" y="529335"/>
                  </a:lnTo>
                  <a:lnTo>
                    <a:pt x="1077420" y="481154"/>
                  </a:lnTo>
                  <a:lnTo>
                    <a:pt x="1070929" y="434184"/>
                  </a:lnTo>
                  <a:lnTo>
                    <a:pt x="1060344" y="388614"/>
                  </a:lnTo>
                  <a:lnTo>
                    <a:pt x="1045854" y="344629"/>
                  </a:lnTo>
                  <a:lnTo>
                    <a:pt x="1027651" y="302417"/>
                  </a:lnTo>
                  <a:lnTo>
                    <a:pt x="1005924" y="262165"/>
                  </a:lnTo>
                  <a:lnTo>
                    <a:pt x="980865" y="224059"/>
                  </a:lnTo>
                  <a:lnTo>
                    <a:pt x="952664" y="188287"/>
                  </a:lnTo>
                  <a:lnTo>
                    <a:pt x="921512" y="155035"/>
                  </a:lnTo>
                  <a:lnTo>
                    <a:pt x="887598" y="124489"/>
                  </a:lnTo>
                  <a:lnTo>
                    <a:pt x="851114" y="96838"/>
                  </a:lnTo>
                  <a:lnTo>
                    <a:pt x="812249" y="72267"/>
                  </a:lnTo>
                  <a:lnTo>
                    <a:pt x="771195" y="50964"/>
                  </a:lnTo>
                  <a:lnTo>
                    <a:pt x="728142" y="33115"/>
                  </a:lnTo>
                  <a:lnTo>
                    <a:pt x="683281" y="18907"/>
                  </a:lnTo>
                  <a:lnTo>
                    <a:pt x="636801" y="8527"/>
                  </a:lnTo>
                  <a:lnTo>
                    <a:pt x="588894" y="2163"/>
                  </a:lnTo>
                  <a:lnTo>
                    <a:pt x="539750" y="0"/>
                  </a:lnTo>
                  <a:close/>
                </a:path>
              </a:pathLst>
            </a:custGeom>
            <a:solidFill>
              <a:srgbClr val="202020"/>
            </a:solid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05" name="Google Shape;105;p15"/>
            <p:cNvSpPr/>
            <p:nvPr/>
          </p:nvSpPr>
          <p:spPr>
            <a:xfrm>
              <a:off x="5793570" y="3432217"/>
              <a:ext cx="1440180" cy="1412240"/>
            </a:xfrm>
            <a:custGeom>
              <a:avLst/>
              <a:gdLst/>
              <a:ahLst/>
              <a:cxnLst/>
              <a:rect l="l" t="t" r="r" b="b"/>
              <a:pathLst>
                <a:path w="1080135" h="1059179" extrusionOk="0">
                  <a:moveTo>
                    <a:pt x="539750" y="0"/>
                  </a:moveTo>
                  <a:lnTo>
                    <a:pt x="490625" y="2163"/>
                  </a:lnTo>
                  <a:lnTo>
                    <a:pt x="442736" y="8527"/>
                  </a:lnTo>
                  <a:lnTo>
                    <a:pt x="396272" y="18907"/>
                  </a:lnTo>
                  <a:lnTo>
                    <a:pt x="351424" y="33115"/>
                  </a:lnTo>
                  <a:lnTo>
                    <a:pt x="308383" y="50964"/>
                  </a:lnTo>
                  <a:lnTo>
                    <a:pt x="267339" y="72267"/>
                  </a:lnTo>
                  <a:lnTo>
                    <a:pt x="228483" y="96838"/>
                  </a:lnTo>
                  <a:lnTo>
                    <a:pt x="192006" y="124489"/>
                  </a:lnTo>
                  <a:lnTo>
                    <a:pt x="158099" y="155035"/>
                  </a:lnTo>
                  <a:lnTo>
                    <a:pt x="126951" y="188287"/>
                  </a:lnTo>
                  <a:lnTo>
                    <a:pt x="98753" y="224059"/>
                  </a:lnTo>
                  <a:lnTo>
                    <a:pt x="73697" y="262165"/>
                  </a:lnTo>
                  <a:lnTo>
                    <a:pt x="51973" y="302417"/>
                  </a:lnTo>
                  <a:lnTo>
                    <a:pt x="33771" y="344629"/>
                  </a:lnTo>
                  <a:lnTo>
                    <a:pt x="19282" y="388614"/>
                  </a:lnTo>
                  <a:lnTo>
                    <a:pt x="8696" y="434184"/>
                  </a:lnTo>
                  <a:lnTo>
                    <a:pt x="2206" y="481154"/>
                  </a:lnTo>
                  <a:lnTo>
                    <a:pt x="0" y="529336"/>
                  </a:lnTo>
                  <a:lnTo>
                    <a:pt x="2206" y="577517"/>
                  </a:lnTo>
                  <a:lnTo>
                    <a:pt x="8696" y="624487"/>
                  </a:lnTo>
                  <a:lnTo>
                    <a:pt x="19282" y="670057"/>
                  </a:lnTo>
                  <a:lnTo>
                    <a:pt x="33771" y="714042"/>
                  </a:lnTo>
                  <a:lnTo>
                    <a:pt x="51973" y="756254"/>
                  </a:lnTo>
                  <a:lnTo>
                    <a:pt x="73697" y="796506"/>
                  </a:lnTo>
                  <a:lnTo>
                    <a:pt x="98753" y="834612"/>
                  </a:lnTo>
                  <a:lnTo>
                    <a:pt x="126951" y="870384"/>
                  </a:lnTo>
                  <a:lnTo>
                    <a:pt x="158099" y="903636"/>
                  </a:lnTo>
                  <a:lnTo>
                    <a:pt x="192006" y="934182"/>
                  </a:lnTo>
                  <a:lnTo>
                    <a:pt x="228483" y="961833"/>
                  </a:lnTo>
                  <a:lnTo>
                    <a:pt x="267339" y="986404"/>
                  </a:lnTo>
                  <a:lnTo>
                    <a:pt x="308383" y="1007707"/>
                  </a:lnTo>
                  <a:lnTo>
                    <a:pt x="351424" y="1025556"/>
                  </a:lnTo>
                  <a:lnTo>
                    <a:pt x="396272" y="1039764"/>
                  </a:lnTo>
                  <a:lnTo>
                    <a:pt x="442736" y="1050144"/>
                  </a:lnTo>
                  <a:lnTo>
                    <a:pt x="490625" y="1056508"/>
                  </a:lnTo>
                  <a:lnTo>
                    <a:pt x="539750" y="1058672"/>
                  </a:lnTo>
                  <a:lnTo>
                    <a:pt x="588894" y="1056508"/>
                  </a:lnTo>
                  <a:lnTo>
                    <a:pt x="636801" y="1050144"/>
                  </a:lnTo>
                  <a:lnTo>
                    <a:pt x="683281" y="1039764"/>
                  </a:lnTo>
                  <a:lnTo>
                    <a:pt x="728142" y="1025556"/>
                  </a:lnTo>
                  <a:lnTo>
                    <a:pt x="771195" y="1007707"/>
                  </a:lnTo>
                  <a:lnTo>
                    <a:pt x="812249" y="986404"/>
                  </a:lnTo>
                  <a:lnTo>
                    <a:pt x="851114" y="961833"/>
                  </a:lnTo>
                  <a:lnTo>
                    <a:pt x="887598" y="934182"/>
                  </a:lnTo>
                  <a:lnTo>
                    <a:pt x="921512" y="903636"/>
                  </a:lnTo>
                  <a:lnTo>
                    <a:pt x="952664" y="870384"/>
                  </a:lnTo>
                  <a:lnTo>
                    <a:pt x="980865" y="834612"/>
                  </a:lnTo>
                  <a:lnTo>
                    <a:pt x="1005924" y="796506"/>
                  </a:lnTo>
                  <a:lnTo>
                    <a:pt x="1027651" y="756254"/>
                  </a:lnTo>
                  <a:lnTo>
                    <a:pt x="1045854" y="714042"/>
                  </a:lnTo>
                  <a:lnTo>
                    <a:pt x="1060344" y="670057"/>
                  </a:lnTo>
                  <a:lnTo>
                    <a:pt x="1070929" y="624487"/>
                  </a:lnTo>
                  <a:lnTo>
                    <a:pt x="1077420" y="577517"/>
                  </a:lnTo>
                  <a:lnTo>
                    <a:pt x="1079627" y="529336"/>
                  </a:lnTo>
                  <a:lnTo>
                    <a:pt x="1077420" y="481154"/>
                  </a:lnTo>
                  <a:lnTo>
                    <a:pt x="1070929" y="434184"/>
                  </a:lnTo>
                  <a:lnTo>
                    <a:pt x="1060344" y="388614"/>
                  </a:lnTo>
                  <a:lnTo>
                    <a:pt x="1045854" y="344629"/>
                  </a:lnTo>
                  <a:lnTo>
                    <a:pt x="1027651" y="302417"/>
                  </a:lnTo>
                  <a:lnTo>
                    <a:pt x="1005924" y="262165"/>
                  </a:lnTo>
                  <a:lnTo>
                    <a:pt x="980865" y="224059"/>
                  </a:lnTo>
                  <a:lnTo>
                    <a:pt x="952664" y="188287"/>
                  </a:lnTo>
                  <a:lnTo>
                    <a:pt x="921512" y="155035"/>
                  </a:lnTo>
                  <a:lnTo>
                    <a:pt x="887598" y="124489"/>
                  </a:lnTo>
                  <a:lnTo>
                    <a:pt x="851114" y="96838"/>
                  </a:lnTo>
                  <a:lnTo>
                    <a:pt x="812249" y="72267"/>
                  </a:lnTo>
                  <a:lnTo>
                    <a:pt x="771195" y="50964"/>
                  </a:lnTo>
                  <a:lnTo>
                    <a:pt x="728142" y="33115"/>
                  </a:lnTo>
                  <a:lnTo>
                    <a:pt x="683281" y="18907"/>
                  </a:lnTo>
                  <a:lnTo>
                    <a:pt x="636801" y="8527"/>
                  </a:lnTo>
                  <a:lnTo>
                    <a:pt x="588894" y="2163"/>
                  </a:lnTo>
                  <a:lnTo>
                    <a:pt x="539750" y="0"/>
                  </a:lnTo>
                  <a:close/>
                </a:path>
              </a:pathLst>
            </a:custGeom>
            <a:solidFill>
              <a:srgbClr val="202020"/>
            </a:solid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06" name="Google Shape;106;p15"/>
            <p:cNvSpPr/>
            <p:nvPr/>
          </p:nvSpPr>
          <p:spPr>
            <a:xfrm>
              <a:off x="7158914" y="2114125"/>
              <a:ext cx="1438434" cy="1411357"/>
            </a:xfrm>
            <a:custGeom>
              <a:avLst/>
              <a:gdLst/>
              <a:ahLst/>
              <a:cxnLst/>
              <a:rect l="l" t="t" r="r" b="b"/>
              <a:pathLst>
                <a:path w="1079500" h="1059180" extrusionOk="0">
                  <a:moveTo>
                    <a:pt x="539750" y="0"/>
                  </a:moveTo>
                  <a:lnTo>
                    <a:pt x="490625" y="2163"/>
                  </a:lnTo>
                  <a:lnTo>
                    <a:pt x="442736" y="8527"/>
                  </a:lnTo>
                  <a:lnTo>
                    <a:pt x="396272" y="18907"/>
                  </a:lnTo>
                  <a:lnTo>
                    <a:pt x="351424" y="33115"/>
                  </a:lnTo>
                  <a:lnTo>
                    <a:pt x="308383" y="50964"/>
                  </a:lnTo>
                  <a:lnTo>
                    <a:pt x="267339" y="72267"/>
                  </a:lnTo>
                  <a:lnTo>
                    <a:pt x="228483" y="96838"/>
                  </a:lnTo>
                  <a:lnTo>
                    <a:pt x="192006" y="124489"/>
                  </a:lnTo>
                  <a:lnTo>
                    <a:pt x="158099" y="155035"/>
                  </a:lnTo>
                  <a:lnTo>
                    <a:pt x="126951" y="188287"/>
                  </a:lnTo>
                  <a:lnTo>
                    <a:pt x="98753" y="224059"/>
                  </a:lnTo>
                  <a:lnTo>
                    <a:pt x="73697" y="262165"/>
                  </a:lnTo>
                  <a:lnTo>
                    <a:pt x="51973" y="302417"/>
                  </a:lnTo>
                  <a:lnTo>
                    <a:pt x="33771" y="344629"/>
                  </a:lnTo>
                  <a:lnTo>
                    <a:pt x="19282" y="388614"/>
                  </a:lnTo>
                  <a:lnTo>
                    <a:pt x="8696" y="434184"/>
                  </a:lnTo>
                  <a:lnTo>
                    <a:pt x="2206" y="481154"/>
                  </a:lnTo>
                  <a:lnTo>
                    <a:pt x="0" y="529335"/>
                  </a:lnTo>
                  <a:lnTo>
                    <a:pt x="2206" y="577517"/>
                  </a:lnTo>
                  <a:lnTo>
                    <a:pt x="8696" y="624487"/>
                  </a:lnTo>
                  <a:lnTo>
                    <a:pt x="19282" y="670057"/>
                  </a:lnTo>
                  <a:lnTo>
                    <a:pt x="33771" y="714042"/>
                  </a:lnTo>
                  <a:lnTo>
                    <a:pt x="51973" y="756254"/>
                  </a:lnTo>
                  <a:lnTo>
                    <a:pt x="73697" y="796506"/>
                  </a:lnTo>
                  <a:lnTo>
                    <a:pt x="98753" y="834612"/>
                  </a:lnTo>
                  <a:lnTo>
                    <a:pt x="126951" y="870384"/>
                  </a:lnTo>
                  <a:lnTo>
                    <a:pt x="158099" y="903636"/>
                  </a:lnTo>
                  <a:lnTo>
                    <a:pt x="192006" y="934182"/>
                  </a:lnTo>
                  <a:lnTo>
                    <a:pt x="228483" y="961833"/>
                  </a:lnTo>
                  <a:lnTo>
                    <a:pt x="267339" y="986404"/>
                  </a:lnTo>
                  <a:lnTo>
                    <a:pt x="308383" y="1007707"/>
                  </a:lnTo>
                  <a:lnTo>
                    <a:pt x="351424" y="1025556"/>
                  </a:lnTo>
                  <a:lnTo>
                    <a:pt x="396272" y="1039764"/>
                  </a:lnTo>
                  <a:lnTo>
                    <a:pt x="442736" y="1050144"/>
                  </a:lnTo>
                  <a:lnTo>
                    <a:pt x="490625" y="1056508"/>
                  </a:lnTo>
                  <a:lnTo>
                    <a:pt x="539750" y="1058671"/>
                  </a:lnTo>
                  <a:lnTo>
                    <a:pt x="588874" y="1056508"/>
                  </a:lnTo>
                  <a:lnTo>
                    <a:pt x="636763" y="1050144"/>
                  </a:lnTo>
                  <a:lnTo>
                    <a:pt x="683227" y="1039764"/>
                  </a:lnTo>
                  <a:lnTo>
                    <a:pt x="728075" y="1025556"/>
                  </a:lnTo>
                  <a:lnTo>
                    <a:pt x="771116" y="1007707"/>
                  </a:lnTo>
                  <a:lnTo>
                    <a:pt x="812160" y="986404"/>
                  </a:lnTo>
                  <a:lnTo>
                    <a:pt x="851016" y="961833"/>
                  </a:lnTo>
                  <a:lnTo>
                    <a:pt x="887493" y="934182"/>
                  </a:lnTo>
                  <a:lnTo>
                    <a:pt x="921400" y="903636"/>
                  </a:lnTo>
                  <a:lnTo>
                    <a:pt x="952548" y="870384"/>
                  </a:lnTo>
                  <a:lnTo>
                    <a:pt x="980746" y="834612"/>
                  </a:lnTo>
                  <a:lnTo>
                    <a:pt x="1005802" y="796506"/>
                  </a:lnTo>
                  <a:lnTo>
                    <a:pt x="1027526" y="756254"/>
                  </a:lnTo>
                  <a:lnTo>
                    <a:pt x="1045728" y="714042"/>
                  </a:lnTo>
                  <a:lnTo>
                    <a:pt x="1060217" y="670057"/>
                  </a:lnTo>
                  <a:lnTo>
                    <a:pt x="1070803" y="624487"/>
                  </a:lnTo>
                  <a:lnTo>
                    <a:pt x="1077293" y="577517"/>
                  </a:lnTo>
                  <a:lnTo>
                    <a:pt x="1079500" y="529335"/>
                  </a:lnTo>
                  <a:lnTo>
                    <a:pt x="1077293" y="481154"/>
                  </a:lnTo>
                  <a:lnTo>
                    <a:pt x="1070803" y="434184"/>
                  </a:lnTo>
                  <a:lnTo>
                    <a:pt x="1060217" y="388614"/>
                  </a:lnTo>
                  <a:lnTo>
                    <a:pt x="1045728" y="344629"/>
                  </a:lnTo>
                  <a:lnTo>
                    <a:pt x="1027526" y="302417"/>
                  </a:lnTo>
                  <a:lnTo>
                    <a:pt x="1005802" y="262165"/>
                  </a:lnTo>
                  <a:lnTo>
                    <a:pt x="980746" y="224059"/>
                  </a:lnTo>
                  <a:lnTo>
                    <a:pt x="952548" y="188287"/>
                  </a:lnTo>
                  <a:lnTo>
                    <a:pt x="921400" y="155035"/>
                  </a:lnTo>
                  <a:lnTo>
                    <a:pt x="887493" y="124489"/>
                  </a:lnTo>
                  <a:lnTo>
                    <a:pt x="851016" y="96838"/>
                  </a:lnTo>
                  <a:lnTo>
                    <a:pt x="812160" y="72267"/>
                  </a:lnTo>
                  <a:lnTo>
                    <a:pt x="771116" y="50964"/>
                  </a:lnTo>
                  <a:lnTo>
                    <a:pt x="728075" y="33115"/>
                  </a:lnTo>
                  <a:lnTo>
                    <a:pt x="683227" y="18907"/>
                  </a:lnTo>
                  <a:lnTo>
                    <a:pt x="636763" y="8527"/>
                  </a:lnTo>
                  <a:lnTo>
                    <a:pt x="588874" y="2163"/>
                  </a:lnTo>
                  <a:lnTo>
                    <a:pt x="539750" y="0"/>
                  </a:lnTo>
                  <a:close/>
                </a:path>
              </a:pathLst>
            </a:custGeom>
            <a:solidFill>
              <a:srgbClr val="202020"/>
            </a:solid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07" name="Google Shape;107;p15"/>
            <p:cNvSpPr txBox="1"/>
            <p:nvPr/>
          </p:nvSpPr>
          <p:spPr>
            <a:xfrm>
              <a:off x="1597123" y="2536571"/>
              <a:ext cx="1219500" cy="509700"/>
            </a:xfrm>
            <a:prstGeom prst="rect">
              <a:avLst/>
            </a:prstGeom>
            <a:noFill/>
            <a:ln>
              <a:noFill/>
            </a:ln>
          </p:spPr>
          <p:txBody>
            <a:bodyPr spcFirstLastPara="1" wrap="square" lIns="0" tIns="16925" rIns="0" bIns="0" anchor="t" anchorCtr="0">
              <a:spAutoFit/>
            </a:bodyPr>
            <a:lstStyle/>
            <a:p>
              <a:pPr marL="17145" marR="6985" lvl="0" indent="12065" algn="ctr" rtl="0">
                <a:spcBef>
                  <a:spcPts val="0"/>
                </a:spcBef>
                <a:spcAft>
                  <a:spcPts val="0"/>
                </a:spcAft>
                <a:buClr>
                  <a:srgbClr val="FFFFFF"/>
                </a:buClr>
                <a:buSzPts val="1600"/>
                <a:buFont typeface="Arial" panose="020B0604020202020204"/>
                <a:buNone/>
              </a:pPr>
              <a:r>
                <a:rPr lang="en-ID" sz="1600" b="0" i="0" u="none" strike="noStrike" cap="none">
                  <a:solidFill>
                    <a:srgbClr val="FFFFFF"/>
                  </a:solidFill>
                  <a:latin typeface="Arial" panose="020B0604020202020204"/>
                  <a:ea typeface="Arial" panose="020B0604020202020204"/>
                  <a:cs typeface="Arial" panose="020B0604020202020204"/>
                  <a:sym typeface="Arial" panose="020B0604020202020204"/>
                </a:rPr>
                <a:t>Pembatasan  Masalah</a:t>
              </a:r>
              <a:endParaRPr sz="16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08" name="Google Shape;108;p15"/>
            <p:cNvSpPr txBox="1"/>
            <p:nvPr/>
          </p:nvSpPr>
          <p:spPr>
            <a:xfrm>
              <a:off x="3126570" y="3948685"/>
              <a:ext cx="1040553" cy="509541"/>
            </a:xfrm>
            <a:prstGeom prst="rect">
              <a:avLst/>
            </a:prstGeom>
            <a:noFill/>
            <a:ln>
              <a:noFill/>
            </a:ln>
          </p:spPr>
          <p:txBody>
            <a:bodyPr spcFirstLastPara="1" wrap="square" lIns="0" tIns="16925" rIns="0" bIns="0" anchor="t" anchorCtr="0">
              <a:spAutoFit/>
            </a:bodyPr>
            <a:lstStyle/>
            <a:p>
              <a:pPr marL="17145" marR="0" lvl="0" indent="0" algn="ctr" rtl="0">
                <a:spcBef>
                  <a:spcPts val="0"/>
                </a:spcBef>
                <a:spcAft>
                  <a:spcPts val="0"/>
                </a:spcAft>
                <a:buClr>
                  <a:srgbClr val="FFFFFF"/>
                </a:buClr>
                <a:buSzPts val="1600"/>
                <a:buFont typeface="Arial" panose="020B0604020202020204"/>
                <a:buNone/>
              </a:pPr>
              <a:r>
                <a:rPr lang="en-ID" sz="1600" b="0" i="0" u="none" strike="noStrike" cap="none">
                  <a:solidFill>
                    <a:srgbClr val="FFFFFF"/>
                  </a:solidFill>
                  <a:latin typeface="Arial" panose="020B0604020202020204"/>
                  <a:ea typeface="Arial" panose="020B0604020202020204"/>
                  <a:cs typeface="Arial" panose="020B0604020202020204"/>
                  <a:sym typeface="Arial" panose="020B0604020202020204"/>
                </a:rPr>
                <a:t>Akuisisi Data</a:t>
              </a:r>
              <a:endParaRPr sz="16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09" name="Google Shape;109;p15"/>
            <p:cNvSpPr txBox="1"/>
            <p:nvPr/>
          </p:nvSpPr>
          <p:spPr>
            <a:xfrm>
              <a:off x="4607547" y="2545746"/>
              <a:ext cx="1040400" cy="509700"/>
            </a:xfrm>
            <a:prstGeom prst="rect">
              <a:avLst/>
            </a:prstGeom>
            <a:noFill/>
            <a:ln>
              <a:noFill/>
            </a:ln>
          </p:spPr>
          <p:txBody>
            <a:bodyPr spcFirstLastPara="1" wrap="square" lIns="0" tIns="16925" rIns="0" bIns="0" anchor="t" anchorCtr="0">
              <a:spAutoFit/>
            </a:bodyPr>
            <a:lstStyle/>
            <a:p>
              <a:pPr marL="271145" marR="6985" lvl="0" indent="-254000" algn="l" rtl="0">
                <a:spcBef>
                  <a:spcPts val="0"/>
                </a:spcBef>
                <a:spcAft>
                  <a:spcPts val="0"/>
                </a:spcAft>
                <a:buClr>
                  <a:srgbClr val="FFFFFF"/>
                </a:buClr>
                <a:buSzPts val="1600"/>
                <a:buFont typeface="Arial" panose="020B0604020202020204"/>
                <a:buNone/>
              </a:pPr>
              <a:r>
                <a:rPr lang="en-ID" sz="1600" b="0" i="0" u="none" strike="noStrike" cap="none">
                  <a:solidFill>
                    <a:srgbClr val="FFFFFF"/>
                  </a:solidFill>
                  <a:latin typeface="Arial" panose="020B0604020202020204"/>
                  <a:ea typeface="Arial" panose="020B0604020202020204"/>
                  <a:cs typeface="Arial" panose="020B0604020202020204"/>
                  <a:sym typeface="Arial" panose="020B0604020202020204"/>
                </a:rPr>
                <a:t>Eksplorasi  Data</a:t>
              </a:r>
              <a:endParaRPr sz="16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10" name="Google Shape;110;p15"/>
            <p:cNvSpPr txBox="1"/>
            <p:nvPr/>
          </p:nvSpPr>
          <p:spPr>
            <a:xfrm>
              <a:off x="5927513" y="3962316"/>
              <a:ext cx="1164505" cy="263320"/>
            </a:xfrm>
            <a:prstGeom prst="rect">
              <a:avLst/>
            </a:prstGeom>
            <a:noFill/>
            <a:ln>
              <a:noFill/>
            </a:ln>
          </p:spPr>
          <p:txBody>
            <a:bodyPr spcFirstLastPara="1" wrap="square" lIns="0" tIns="16925" rIns="0" bIns="0" anchor="t" anchorCtr="0">
              <a:spAutoFit/>
            </a:bodyPr>
            <a:lstStyle/>
            <a:p>
              <a:pPr marL="17145" marR="0" lvl="0" indent="0" algn="l" rtl="0">
                <a:spcBef>
                  <a:spcPts val="0"/>
                </a:spcBef>
                <a:spcAft>
                  <a:spcPts val="0"/>
                </a:spcAft>
                <a:buClr>
                  <a:srgbClr val="FFFFFF"/>
                </a:buClr>
                <a:buSzPts val="1600"/>
                <a:buFont typeface="Arial" panose="020B0604020202020204"/>
                <a:buNone/>
              </a:pPr>
              <a:r>
                <a:rPr lang="en-ID" sz="1600" b="0" i="0" u="none" strike="noStrike" cap="none">
                  <a:solidFill>
                    <a:srgbClr val="FFFFFF"/>
                  </a:solidFill>
                  <a:latin typeface="Arial" panose="020B0604020202020204"/>
                  <a:ea typeface="Arial" panose="020B0604020202020204"/>
                  <a:cs typeface="Arial" panose="020B0604020202020204"/>
                  <a:sym typeface="Arial" panose="020B0604020202020204"/>
                </a:rPr>
                <a:t>Pemodelan</a:t>
              </a:r>
              <a:endParaRPr sz="16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11" name="Google Shape;111;p15"/>
            <p:cNvSpPr txBox="1"/>
            <p:nvPr/>
          </p:nvSpPr>
          <p:spPr>
            <a:xfrm>
              <a:off x="7423296" y="2667671"/>
              <a:ext cx="897900" cy="263400"/>
            </a:xfrm>
            <a:prstGeom prst="rect">
              <a:avLst/>
            </a:prstGeom>
            <a:noFill/>
            <a:ln>
              <a:noFill/>
            </a:ln>
          </p:spPr>
          <p:txBody>
            <a:bodyPr spcFirstLastPara="1" wrap="square" lIns="0" tIns="16925" rIns="0" bIns="0" anchor="t" anchorCtr="0">
              <a:spAutoFit/>
            </a:bodyPr>
            <a:lstStyle/>
            <a:p>
              <a:pPr marL="17145" marR="0" lvl="0" indent="0" algn="l" rtl="0">
                <a:spcBef>
                  <a:spcPts val="0"/>
                </a:spcBef>
                <a:spcAft>
                  <a:spcPts val="0"/>
                </a:spcAft>
                <a:buClr>
                  <a:srgbClr val="FFFFFF"/>
                </a:buClr>
                <a:buSzPts val="1600"/>
                <a:buFont typeface="Arial" panose="020B0604020202020204"/>
                <a:buNone/>
              </a:pPr>
              <a:r>
                <a:rPr lang="en-ID" sz="1600" b="0" i="0" u="none" strike="noStrike" cap="none">
                  <a:solidFill>
                    <a:srgbClr val="FFFFFF"/>
                  </a:solidFill>
                  <a:latin typeface="Arial" panose="020B0604020202020204"/>
                  <a:ea typeface="Arial" panose="020B0604020202020204"/>
                  <a:cs typeface="Arial" panose="020B0604020202020204"/>
                  <a:sym typeface="Arial" panose="020B0604020202020204"/>
                </a:rPr>
                <a:t>Evaluasi</a:t>
              </a:r>
              <a:endParaRPr sz="16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12" name="Google Shape;112;p15"/>
            <p:cNvSpPr/>
            <p:nvPr/>
          </p:nvSpPr>
          <p:spPr>
            <a:xfrm>
              <a:off x="8702041" y="3318933"/>
              <a:ext cx="1440180" cy="1412240"/>
            </a:xfrm>
            <a:custGeom>
              <a:avLst/>
              <a:gdLst/>
              <a:ahLst/>
              <a:cxnLst/>
              <a:rect l="l" t="t" r="r" b="b"/>
              <a:pathLst>
                <a:path w="1080134" h="1059179" extrusionOk="0">
                  <a:moveTo>
                    <a:pt x="539750" y="0"/>
                  </a:moveTo>
                  <a:lnTo>
                    <a:pt x="490625" y="2163"/>
                  </a:lnTo>
                  <a:lnTo>
                    <a:pt x="442736" y="8527"/>
                  </a:lnTo>
                  <a:lnTo>
                    <a:pt x="396272" y="18907"/>
                  </a:lnTo>
                  <a:lnTo>
                    <a:pt x="351424" y="33115"/>
                  </a:lnTo>
                  <a:lnTo>
                    <a:pt x="308383" y="50964"/>
                  </a:lnTo>
                  <a:lnTo>
                    <a:pt x="267339" y="72267"/>
                  </a:lnTo>
                  <a:lnTo>
                    <a:pt x="228483" y="96838"/>
                  </a:lnTo>
                  <a:lnTo>
                    <a:pt x="192006" y="124489"/>
                  </a:lnTo>
                  <a:lnTo>
                    <a:pt x="158099" y="155035"/>
                  </a:lnTo>
                  <a:lnTo>
                    <a:pt x="126951" y="188287"/>
                  </a:lnTo>
                  <a:lnTo>
                    <a:pt x="98753" y="224059"/>
                  </a:lnTo>
                  <a:lnTo>
                    <a:pt x="73697" y="262165"/>
                  </a:lnTo>
                  <a:lnTo>
                    <a:pt x="51973" y="302417"/>
                  </a:lnTo>
                  <a:lnTo>
                    <a:pt x="33771" y="344629"/>
                  </a:lnTo>
                  <a:lnTo>
                    <a:pt x="19282" y="388614"/>
                  </a:lnTo>
                  <a:lnTo>
                    <a:pt x="8696" y="434184"/>
                  </a:lnTo>
                  <a:lnTo>
                    <a:pt x="2206" y="481154"/>
                  </a:lnTo>
                  <a:lnTo>
                    <a:pt x="0" y="529336"/>
                  </a:lnTo>
                  <a:lnTo>
                    <a:pt x="2206" y="577517"/>
                  </a:lnTo>
                  <a:lnTo>
                    <a:pt x="8696" y="624487"/>
                  </a:lnTo>
                  <a:lnTo>
                    <a:pt x="19282" y="670057"/>
                  </a:lnTo>
                  <a:lnTo>
                    <a:pt x="33771" y="714042"/>
                  </a:lnTo>
                  <a:lnTo>
                    <a:pt x="51973" y="756254"/>
                  </a:lnTo>
                  <a:lnTo>
                    <a:pt x="73697" y="796506"/>
                  </a:lnTo>
                  <a:lnTo>
                    <a:pt x="98753" y="834612"/>
                  </a:lnTo>
                  <a:lnTo>
                    <a:pt x="126951" y="870384"/>
                  </a:lnTo>
                  <a:lnTo>
                    <a:pt x="158099" y="903636"/>
                  </a:lnTo>
                  <a:lnTo>
                    <a:pt x="192006" y="934182"/>
                  </a:lnTo>
                  <a:lnTo>
                    <a:pt x="228483" y="961833"/>
                  </a:lnTo>
                  <a:lnTo>
                    <a:pt x="267339" y="986404"/>
                  </a:lnTo>
                  <a:lnTo>
                    <a:pt x="308383" y="1007707"/>
                  </a:lnTo>
                  <a:lnTo>
                    <a:pt x="351424" y="1025556"/>
                  </a:lnTo>
                  <a:lnTo>
                    <a:pt x="396272" y="1039764"/>
                  </a:lnTo>
                  <a:lnTo>
                    <a:pt x="442736" y="1050144"/>
                  </a:lnTo>
                  <a:lnTo>
                    <a:pt x="490625" y="1056508"/>
                  </a:lnTo>
                  <a:lnTo>
                    <a:pt x="539750" y="1058672"/>
                  </a:lnTo>
                  <a:lnTo>
                    <a:pt x="588894" y="1056508"/>
                  </a:lnTo>
                  <a:lnTo>
                    <a:pt x="636801" y="1050144"/>
                  </a:lnTo>
                  <a:lnTo>
                    <a:pt x="683281" y="1039764"/>
                  </a:lnTo>
                  <a:lnTo>
                    <a:pt x="728142" y="1025556"/>
                  </a:lnTo>
                  <a:lnTo>
                    <a:pt x="771195" y="1007707"/>
                  </a:lnTo>
                  <a:lnTo>
                    <a:pt x="812249" y="986404"/>
                  </a:lnTo>
                  <a:lnTo>
                    <a:pt x="851114" y="961833"/>
                  </a:lnTo>
                  <a:lnTo>
                    <a:pt x="887598" y="934182"/>
                  </a:lnTo>
                  <a:lnTo>
                    <a:pt x="921512" y="903636"/>
                  </a:lnTo>
                  <a:lnTo>
                    <a:pt x="952664" y="870384"/>
                  </a:lnTo>
                  <a:lnTo>
                    <a:pt x="980865" y="834612"/>
                  </a:lnTo>
                  <a:lnTo>
                    <a:pt x="1005924" y="796506"/>
                  </a:lnTo>
                  <a:lnTo>
                    <a:pt x="1027651" y="756254"/>
                  </a:lnTo>
                  <a:lnTo>
                    <a:pt x="1045854" y="714042"/>
                  </a:lnTo>
                  <a:lnTo>
                    <a:pt x="1060344" y="670057"/>
                  </a:lnTo>
                  <a:lnTo>
                    <a:pt x="1070929" y="624487"/>
                  </a:lnTo>
                  <a:lnTo>
                    <a:pt x="1077420" y="577517"/>
                  </a:lnTo>
                  <a:lnTo>
                    <a:pt x="1079627" y="529336"/>
                  </a:lnTo>
                  <a:lnTo>
                    <a:pt x="1077420" y="481154"/>
                  </a:lnTo>
                  <a:lnTo>
                    <a:pt x="1070929" y="434184"/>
                  </a:lnTo>
                  <a:lnTo>
                    <a:pt x="1060344" y="388614"/>
                  </a:lnTo>
                  <a:lnTo>
                    <a:pt x="1045854" y="344629"/>
                  </a:lnTo>
                  <a:lnTo>
                    <a:pt x="1027651" y="302417"/>
                  </a:lnTo>
                  <a:lnTo>
                    <a:pt x="1005924" y="262165"/>
                  </a:lnTo>
                  <a:lnTo>
                    <a:pt x="980865" y="224059"/>
                  </a:lnTo>
                  <a:lnTo>
                    <a:pt x="952664" y="188287"/>
                  </a:lnTo>
                  <a:lnTo>
                    <a:pt x="921512" y="155035"/>
                  </a:lnTo>
                  <a:lnTo>
                    <a:pt x="887598" y="124489"/>
                  </a:lnTo>
                  <a:lnTo>
                    <a:pt x="851114" y="96838"/>
                  </a:lnTo>
                  <a:lnTo>
                    <a:pt x="812249" y="72267"/>
                  </a:lnTo>
                  <a:lnTo>
                    <a:pt x="771195" y="50964"/>
                  </a:lnTo>
                  <a:lnTo>
                    <a:pt x="728142" y="33115"/>
                  </a:lnTo>
                  <a:lnTo>
                    <a:pt x="683281" y="18907"/>
                  </a:lnTo>
                  <a:lnTo>
                    <a:pt x="636801" y="8527"/>
                  </a:lnTo>
                  <a:lnTo>
                    <a:pt x="588894" y="2163"/>
                  </a:lnTo>
                  <a:lnTo>
                    <a:pt x="539750" y="0"/>
                  </a:lnTo>
                  <a:close/>
                </a:path>
              </a:pathLst>
            </a:custGeom>
            <a:solidFill>
              <a:srgbClr val="202020"/>
            </a:solid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13" name="Google Shape;113;p15"/>
            <p:cNvSpPr txBox="1"/>
            <p:nvPr/>
          </p:nvSpPr>
          <p:spPr>
            <a:xfrm>
              <a:off x="8845464" y="3860461"/>
              <a:ext cx="1154853" cy="263320"/>
            </a:xfrm>
            <a:prstGeom prst="rect">
              <a:avLst/>
            </a:prstGeom>
            <a:noFill/>
            <a:ln>
              <a:noFill/>
            </a:ln>
          </p:spPr>
          <p:txBody>
            <a:bodyPr spcFirstLastPara="1" wrap="square" lIns="0" tIns="16925" rIns="0" bIns="0" anchor="t" anchorCtr="0">
              <a:spAutoFit/>
            </a:bodyPr>
            <a:lstStyle/>
            <a:p>
              <a:pPr marL="17145" marR="0" lvl="0" indent="0" algn="l" rtl="0">
                <a:spcBef>
                  <a:spcPts val="0"/>
                </a:spcBef>
                <a:spcAft>
                  <a:spcPts val="0"/>
                </a:spcAft>
                <a:buClr>
                  <a:srgbClr val="FFFFFF"/>
                </a:buClr>
                <a:buSzPts val="1600"/>
                <a:buFont typeface="Arial" panose="020B0604020202020204"/>
                <a:buNone/>
              </a:pPr>
              <a:r>
                <a:rPr lang="en-ID" sz="1600" b="0" i="0" u="none" strike="noStrike" cap="none">
                  <a:solidFill>
                    <a:srgbClr val="FFFFFF"/>
                  </a:solidFill>
                  <a:latin typeface="Arial" panose="020B0604020202020204"/>
                  <a:ea typeface="Arial" panose="020B0604020202020204"/>
                  <a:cs typeface="Arial" panose="020B0604020202020204"/>
                  <a:sym typeface="Arial" panose="020B0604020202020204"/>
                </a:rPr>
                <a:t>Deployment</a:t>
              </a:r>
              <a:endParaRPr sz="16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14" name="Google Shape;114;p15"/>
            <p:cNvSpPr/>
            <p:nvPr/>
          </p:nvSpPr>
          <p:spPr>
            <a:xfrm>
              <a:off x="2760132" y="3331802"/>
              <a:ext cx="327151" cy="330877"/>
            </a:xfrm>
            <a:prstGeom prst="rect">
              <a:avLst/>
            </a:prstGeom>
            <a:blipFill rotWithShape="1">
              <a:blip r:embed="rId1"/>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15" name="Google Shape;115;p15"/>
            <p:cNvSpPr/>
            <p:nvPr/>
          </p:nvSpPr>
          <p:spPr>
            <a:xfrm>
              <a:off x="5615939" y="3317578"/>
              <a:ext cx="327151" cy="331047"/>
            </a:xfrm>
            <a:prstGeom prst="rect">
              <a:avLst/>
            </a:prstGeom>
            <a:blipFill rotWithShape="1">
              <a:blip r:embed="rId2"/>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16" name="Google Shape;116;p15"/>
            <p:cNvSpPr/>
            <p:nvPr/>
          </p:nvSpPr>
          <p:spPr>
            <a:xfrm>
              <a:off x="8412311" y="3289301"/>
              <a:ext cx="326983" cy="330876"/>
            </a:xfrm>
            <a:prstGeom prst="rect">
              <a:avLst/>
            </a:prstGeom>
            <a:blipFill rotWithShape="1">
              <a:blip r:embed="rId3"/>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17" name="Google Shape;117;p15"/>
            <p:cNvSpPr/>
            <p:nvPr/>
          </p:nvSpPr>
          <p:spPr>
            <a:xfrm>
              <a:off x="4179483" y="3298443"/>
              <a:ext cx="331385" cy="326475"/>
            </a:xfrm>
            <a:prstGeom prst="rect">
              <a:avLst/>
            </a:prstGeom>
            <a:blipFill rotWithShape="1">
              <a:blip r:embed="rId4"/>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18" name="Google Shape;118;p15"/>
            <p:cNvSpPr/>
            <p:nvPr/>
          </p:nvSpPr>
          <p:spPr>
            <a:xfrm>
              <a:off x="7027840" y="3326045"/>
              <a:ext cx="331555" cy="326305"/>
            </a:xfrm>
            <a:prstGeom prst="rect">
              <a:avLst/>
            </a:prstGeom>
            <a:blipFill rotWithShape="1">
              <a:blip r:embed="rId5"/>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2400"/>
                <a:buFont typeface="Calibri" panose="020F0502020204030204"/>
                <a:buNone/>
              </a:pP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grpSp>
      <p:sp>
        <p:nvSpPr>
          <p:cNvPr id="119" name="Google Shape;119;p15"/>
          <p:cNvSpPr txBox="1"/>
          <p:nvPr/>
        </p:nvSpPr>
        <p:spPr>
          <a:xfrm>
            <a:off x="1373563" y="5429752"/>
            <a:ext cx="8070577" cy="27699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Clr>
                <a:schemeClr val="dk1"/>
              </a:buClr>
              <a:buSzPts val="1200"/>
              <a:buFont typeface="Roboto" panose="02000000000000000000"/>
              <a:buNone/>
            </a:pPr>
            <a:r>
              <a:rPr lang="en-ID" sz="1200" b="0" i="0" u="none" strike="noStrike" cap="none">
                <a:solidFill>
                  <a:schemeClr val="dk1"/>
                </a:solidFill>
                <a:latin typeface="Roboto" panose="02000000000000000000"/>
                <a:ea typeface="Roboto" panose="02000000000000000000"/>
                <a:cs typeface="Roboto" panose="02000000000000000000"/>
                <a:sym typeface="Roboto" panose="02000000000000000000"/>
              </a:rPr>
              <a:t>Reff: https://medium.com/@hannnfh/ai-project-cycle-ccd67c3dd21d</a:t>
            </a: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23" name="Shape 123"/>
        <p:cNvGrpSpPr/>
        <p:nvPr/>
      </p:nvGrpSpPr>
      <p:grpSpPr>
        <a:xfrm>
          <a:off x="0" y="0"/>
          <a:ext cx="0" cy="0"/>
          <a:chOff x="0" y="0"/>
          <a:chExt cx="0" cy="0"/>
        </a:xfrm>
      </p:grpSpPr>
      <p:sp>
        <p:nvSpPr>
          <p:cNvPr id="124" name="Google Shape;124;p16"/>
          <p:cNvSpPr txBox="1"/>
          <p:nvPr>
            <p:ph type="title"/>
          </p:nvPr>
        </p:nvSpPr>
        <p:spPr>
          <a:xfrm>
            <a:off x="838200" y="365125"/>
            <a:ext cx="95409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panose="020F0502020204030204"/>
              <a:buNone/>
            </a:pPr>
            <a:r>
              <a:rPr lang="en-ID"/>
              <a:t>Pembatasan Masalah</a:t>
            </a:r>
            <a:endParaRPr lang="en-ID"/>
          </a:p>
        </p:txBody>
      </p:sp>
      <p:sp>
        <p:nvSpPr>
          <p:cNvPr id="125" name="Google Shape;125;p16"/>
          <p:cNvSpPr txBox="1"/>
          <p:nvPr>
            <p:ph type="body" idx="1"/>
          </p:nvPr>
        </p:nvSpPr>
        <p:spPr>
          <a:xfrm>
            <a:off x="495000" y="1595175"/>
            <a:ext cx="11202000" cy="5032500"/>
          </a:xfrm>
          <a:prstGeom prst="rect">
            <a:avLst/>
          </a:prstGeom>
          <a:noFill/>
          <a:ln>
            <a:noFill/>
          </a:ln>
        </p:spPr>
        <p:txBody>
          <a:bodyPr spcFirstLastPara="1" wrap="square" lIns="91425" tIns="45700" rIns="91425" bIns="45700" anchor="t" anchorCtr="0">
            <a:normAutofit fontScale="25000" lnSpcReduction="20000"/>
          </a:bodyPr>
          <a:lstStyle/>
          <a:p>
            <a:pPr marL="228600" marR="0" lvl="0" indent="-203200" algn="l" rtl="0">
              <a:lnSpc>
                <a:spcPct val="107000"/>
              </a:lnSpc>
              <a:spcBef>
                <a:spcPts val="0"/>
              </a:spcBef>
              <a:spcAft>
                <a:spcPts val="0"/>
              </a:spcAft>
              <a:buClr>
                <a:schemeClr val="dk1"/>
              </a:buClr>
              <a:buSzPct val="100000"/>
              <a:buChar char="•"/>
            </a:pPr>
            <a:r>
              <a:rPr lang="en-ID" sz="5600">
                <a:solidFill>
                  <a:schemeClr val="dk1"/>
                </a:solidFill>
                <a:latin typeface="Calibri" panose="020F0502020204030204"/>
                <a:ea typeface="Calibri" panose="020F0502020204030204"/>
                <a:cs typeface="Calibri" panose="020F0502020204030204"/>
                <a:sym typeface="Calibri" panose="020F0502020204030204"/>
              </a:rPr>
              <a:t>Masalah apa yang ingin Anda cari penyelesaiannya?</a:t>
            </a:r>
            <a:endParaRPr sz="5600"/>
          </a:p>
          <a:p>
            <a:pPr marL="228600" lvl="0" indent="0" algn="l" rtl="0">
              <a:lnSpc>
                <a:spcPct val="107000"/>
              </a:lnSpc>
              <a:spcBef>
                <a:spcPts val="800"/>
              </a:spcBef>
              <a:spcAft>
                <a:spcPts val="0"/>
              </a:spcAft>
              <a:buClr>
                <a:schemeClr val="dk1"/>
              </a:buClr>
              <a:buSzPct val="50000"/>
              <a:buNone/>
            </a:pPr>
            <a:r>
              <a:rPr lang="en-ID" sz="5600">
                <a:solidFill>
                  <a:schemeClr val="dk1"/>
                </a:solidFill>
                <a:latin typeface="Calibri" panose="020F0502020204030204"/>
                <a:ea typeface="Calibri" panose="020F0502020204030204"/>
                <a:cs typeface="Calibri" panose="020F0502020204030204"/>
                <a:sym typeface="Calibri" panose="020F0502020204030204"/>
              </a:rPr>
              <a:t>	&lt;</a:t>
            </a:r>
            <a:r>
              <a:rPr lang="en-ID" sz="5600"/>
              <a:t>Siswa SMA sering mengalami kesulitan dalam menemukan buku pembelajaran yang sesuai dengan:</a:t>
            </a:r>
            <a:endParaRPr sz="5600"/>
          </a:p>
          <a:p>
            <a:pPr marL="228600" lvl="0" indent="0" algn="l" rtl="0">
              <a:lnSpc>
                <a:spcPct val="107000"/>
              </a:lnSpc>
              <a:spcBef>
                <a:spcPts val="800"/>
              </a:spcBef>
              <a:spcAft>
                <a:spcPts val="0"/>
              </a:spcAft>
              <a:buClr>
                <a:schemeClr val="dk1"/>
              </a:buClr>
              <a:buSzPct val="50000"/>
              <a:buNone/>
            </a:pPr>
            <a:r>
              <a:rPr lang="en-ID" sz="5600"/>
              <a:t>1.Mata pelajaran yang dipelajari</a:t>
            </a:r>
            <a:endParaRPr sz="5600"/>
          </a:p>
          <a:p>
            <a:pPr marL="228600" lvl="0" indent="0" algn="l" rtl="0">
              <a:lnSpc>
                <a:spcPct val="107000"/>
              </a:lnSpc>
              <a:spcBef>
                <a:spcPts val="800"/>
              </a:spcBef>
              <a:spcAft>
                <a:spcPts val="0"/>
              </a:spcAft>
              <a:buClr>
                <a:schemeClr val="dk1"/>
              </a:buClr>
              <a:buSzPts val="275"/>
              <a:buFont typeface="Arial" panose="020B0604020202020204"/>
              <a:buNone/>
            </a:pPr>
            <a:r>
              <a:rPr lang="en-ID" sz="5600"/>
              <a:t>2.Tingkat kelas</a:t>
            </a:r>
            <a:endParaRPr sz="5600"/>
          </a:p>
          <a:p>
            <a:pPr marL="228600" lvl="0" indent="0" algn="l" rtl="0">
              <a:lnSpc>
                <a:spcPct val="107000"/>
              </a:lnSpc>
              <a:spcBef>
                <a:spcPts val="800"/>
              </a:spcBef>
              <a:spcAft>
                <a:spcPts val="0"/>
              </a:spcAft>
              <a:buClr>
                <a:schemeClr val="dk1"/>
              </a:buClr>
              <a:buSzPts val="275"/>
              <a:buFont typeface="Arial" panose="020B0604020202020204"/>
              <a:buNone/>
            </a:pPr>
            <a:r>
              <a:rPr lang="en-ID" sz="5600"/>
              <a:t>3.Minat belajar</a:t>
            </a:r>
            <a:endParaRPr sz="5600"/>
          </a:p>
          <a:p>
            <a:pPr marL="228600" lvl="0" indent="0" algn="l" rtl="0">
              <a:lnSpc>
                <a:spcPct val="107000"/>
              </a:lnSpc>
              <a:spcBef>
                <a:spcPts val="800"/>
              </a:spcBef>
              <a:spcAft>
                <a:spcPts val="0"/>
              </a:spcAft>
              <a:buClr>
                <a:schemeClr val="dk1"/>
              </a:buClr>
              <a:buSzPts val="275"/>
              <a:buNone/>
            </a:pPr>
            <a:r>
              <a:rPr lang="en-ID" sz="5600"/>
              <a:t>4.Tingkat kesulitan materi</a:t>
            </a:r>
            <a:endParaRPr lang="en-ID" sz="5600"/>
          </a:p>
          <a:p>
            <a:pPr marL="0" lvl="0" indent="0" algn="l" rtl="0">
              <a:lnSpc>
                <a:spcPct val="115000"/>
              </a:lnSpc>
              <a:spcBef>
                <a:spcPts val="1200"/>
              </a:spcBef>
              <a:spcAft>
                <a:spcPts val="0"/>
              </a:spcAft>
              <a:buClr>
                <a:schemeClr val="dk1"/>
              </a:buClr>
              <a:buSzPts val="275"/>
              <a:buFont typeface="Arial" panose="020B0604020202020204"/>
              <a:buNone/>
            </a:pPr>
            <a:r>
              <a:rPr lang="en-ID" sz="5600"/>
              <a:t>Saat ini pemilihan buku masih bersifat umum dan tidak personal.</a:t>
            </a:r>
            <a:endParaRPr sz="5600"/>
          </a:p>
          <a:p>
            <a:pPr marL="0" lvl="0" indent="0" algn="l" rtl="0">
              <a:lnSpc>
                <a:spcPct val="115000"/>
              </a:lnSpc>
              <a:spcBef>
                <a:spcPts val="1200"/>
              </a:spcBef>
              <a:spcAft>
                <a:spcPts val="0"/>
              </a:spcAft>
              <a:buClr>
                <a:schemeClr val="dk1"/>
              </a:buClr>
              <a:buSzPts val="275"/>
              <a:buFont typeface="Arial" panose="020B0604020202020204"/>
              <a:buNone/>
            </a:pPr>
            <a:r>
              <a:rPr lang="en-ID" sz="5600"/>
              <a:t>Akibatnya:</a:t>
            </a:r>
            <a:endParaRPr sz="5600"/>
          </a:p>
          <a:p>
            <a:pPr marL="457200" lvl="0" indent="-317500" algn="l" rtl="0">
              <a:lnSpc>
                <a:spcPct val="115000"/>
              </a:lnSpc>
              <a:spcBef>
                <a:spcPts val="1200"/>
              </a:spcBef>
              <a:spcAft>
                <a:spcPts val="0"/>
              </a:spcAft>
              <a:buSzPct val="100000"/>
              <a:buChar char="●"/>
            </a:pPr>
            <a:r>
              <a:rPr lang="en-ID" sz="5600"/>
              <a:t>Minat baca menjadi menurun </a:t>
            </a:r>
            <a:br>
              <a:rPr lang="en-ID" sz="5600"/>
            </a:br>
            <a:endParaRPr sz="5600"/>
          </a:p>
          <a:p>
            <a:pPr marL="457200" lvl="0" indent="-317500" algn="l" rtl="0">
              <a:lnSpc>
                <a:spcPct val="115000"/>
              </a:lnSpc>
              <a:spcBef>
                <a:spcPts val="0"/>
              </a:spcBef>
              <a:spcAft>
                <a:spcPts val="0"/>
              </a:spcAft>
              <a:buSzPct val="100000"/>
              <a:buChar char="●"/>
            </a:pPr>
            <a:r>
              <a:rPr lang="en-ID" sz="5600"/>
              <a:t>Pembelajaran tidak optimal</a:t>
            </a:r>
            <a:br>
              <a:rPr lang="en-ID" sz="5600"/>
            </a:br>
            <a:endParaRPr sz="5600"/>
          </a:p>
          <a:p>
            <a:pPr marL="457200" lvl="0" indent="-317500" algn="l" rtl="0">
              <a:lnSpc>
                <a:spcPct val="115000"/>
              </a:lnSpc>
              <a:spcBef>
                <a:spcPts val="0"/>
              </a:spcBef>
              <a:spcAft>
                <a:spcPts val="0"/>
              </a:spcAft>
              <a:buSzPct val="100000"/>
              <a:buChar char="●"/>
            </a:pPr>
            <a:r>
              <a:rPr lang="en-ID" sz="5600"/>
              <a:t>Tidak ada sistem personalisasi belajar</a:t>
            </a:r>
            <a:endParaRPr sz="3600">
              <a:solidFill>
                <a:schemeClr val="dk1"/>
              </a:solidFill>
              <a:latin typeface="Calibri" panose="020F0502020204030204"/>
              <a:ea typeface="Calibri" panose="020F0502020204030204"/>
              <a:cs typeface="Calibri" panose="020F0502020204030204"/>
              <a:sym typeface="Calibri" panose="020F0502020204030204"/>
            </a:endParaRPr>
          </a:p>
          <a:p>
            <a:pPr marL="228600" marR="0" lvl="0" indent="-189865" algn="l" rtl="0">
              <a:lnSpc>
                <a:spcPct val="107000"/>
              </a:lnSpc>
              <a:spcBef>
                <a:spcPts val="800"/>
              </a:spcBef>
              <a:spcAft>
                <a:spcPts val="0"/>
              </a:spcAft>
              <a:buClr>
                <a:schemeClr val="dk1"/>
              </a:buClr>
              <a:buSzPct val="85000"/>
              <a:buChar char="•"/>
            </a:pPr>
            <a:r>
              <a:rPr lang="en-ID" sz="5600">
                <a:solidFill>
                  <a:schemeClr val="dk1"/>
                </a:solidFill>
                <a:latin typeface="Calibri" panose="020F0502020204030204"/>
                <a:ea typeface="Calibri" panose="020F0502020204030204"/>
                <a:cs typeface="Calibri" panose="020F0502020204030204"/>
                <a:sym typeface="Calibri" panose="020F0502020204030204"/>
              </a:rPr>
              <a:t>Solusi yang ingin Anda hasilkan?</a:t>
            </a:r>
            <a:endParaRPr sz="5600"/>
          </a:p>
          <a:p>
            <a:pPr marL="228600" lvl="0" indent="0" algn="l" rtl="0">
              <a:lnSpc>
                <a:spcPct val="107000"/>
              </a:lnSpc>
              <a:spcBef>
                <a:spcPts val="800"/>
              </a:spcBef>
              <a:spcAft>
                <a:spcPts val="0"/>
              </a:spcAft>
              <a:buClr>
                <a:schemeClr val="dk1"/>
              </a:buClr>
              <a:buSzPct val="50000"/>
              <a:buNone/>
            </a:pPr>
            <a:r>
              <a:rPr lang="en-ID" sz="5600"/>
              <a:t>Merancang sistem rekomendasi buku pembelajaran berbasis Artificial Intelligence yang:</a:t>
            </a:r>
            <a:endParaRPr sz="5600"/>
          </a:p>
          <a:p>
            <a:pPr marL="228600" lvl="0" indent="0" algn="l" rtl="0">
              <a:lnSpc>
                <a:spcPct val="107000"/>
              </a:lnSpc>
              <a:spcBef>
                <a:spcPts val="800"/>
              </a:spcBef>
              <a:spcAft>
                <a:spcPts val="0"/>
              </a:spcAft>
              <a:buClr>
                <a:schemeClr val="dk1"/>
              </a:buClr>
              <a:buSzPct val="50000"/>
              <a:buNone/>
            </a:pPr>
            <a:r>
              <a:rPr lang="en-ID" sz="5600"/>
              <a:t>1.Memberikan rekomendasi buku sesuai profil siswa</a:t>
            </a:r>
            <a:br>
              <a:rPr lang="en-ID" sz="5600"/>
            </a:br>
            <a:r>
              <a:rPr lang="en-ID" sz="5600"/>
              <a:t>2.Menggunakan pendekatan Content-Based Filtering</a:t>
            </a:r>
            <a:br>
              <a:rPr lang="en-ID" sz="5600"/>
            </a:br>
            <a:r>
              <a:rPr lang="en-ID" sz="5600"/>
              <a:t>3.Membantu siswa menemukan referensi belajar yang relevan</a:t>
            </a:r>
            <a:br>
              <a:rPr lang="en-ID" sz="5600"/>
            </a:br>
            <a:r>
              <a:rPr lang="en-ID" sz="5600"/>
              <a:t>4.Mendukung peningkatan kualitas pendidikan (SDG 4)</a:t>
            </a:r>
            <a:endParaRPr sz="5600"/>
          </a:p>
          <a:p>
            <a:pPr marL="228600" lvl="0" indent="0" algn="l" rtl="0">
              <a:lnSpc>
                <a:spcPct val="107000"/>
              </a:lnSpc>
              <a:spcBef>
                <a:spcPts val="800"/>
              </a:spcBef>
              <a:spcAft>
                <a:spcPts val="0"/>
              </a:spcAft>
              <a:buClr>
                <a:schemeClr val="dk1"/>
              </a:buClr>
              <a:buSzPct val="100000"/>
              <a:buNone/>
            </a:pPr>
          </a:p>
          <a:p>
            <a:pPr marL="0" lvl="0" indent="0" algn="l" rtl="0">
              <a:lnSpc>
                <a:spcPct val="90000"/>
              </a:lnSpc>
              <a:spcBef>
                <a:spcPts val="1000"/>
              </a:spcBef>
              <a:spcAft>
                <a:spcPts val="0"/>
              </a:spcAft>
              <a:buClr>
                <a:schemeClr val="dk1"/>
              </a:buClr>
              <a:buSzPct val="100000"/>
              <a:buNone/>
            </a:p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29" name="Shape 129"/>
        <p:cNvGrpSpPr/>
        <p:nvPr/>
      </p:nvGrpSpPr>
      <p:grpSpPr>
        <a:xfrm>
          <a:off x="0" y="0"/>
          <a:ext cx="0" cy="0"/>
          <a:chOff x="0" y="0"/>
          <a:chExt cx="0" cy="0"/>
        </a:xfrm>
      </p:grpSpPr>
      <p:sp>
        <p:nvSpPr>
          <p:cNvPr id="130" name="Google Shape;130;p17"/>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panose="020F0502020204030204"/>
              <a:buNone/>
            </a:pPr>
            <a:r>
              <a:rPr lang="en-ID"/>
              <a:t>Metode 4W Canvas</a:t>
            </a:r>
            <a:endParaRPr lang="en-ID"/>
          </a:p>
        </p:txBody>
      </p:sp>
      <p:graphicFrame>
        <p:nvGraphicFramePr>
          <p:cNvPr id="131" name="Google Shape;131;p17"/>
          <p:cNvGraphicFramePr/>
          <p:nvPr/>
        </p:nvGraphicFramePr>
        <p:xfrm>
          <a:off x="340659" y="1790011"/>
          <a:ext cx="11609275" cy="4171500"/>
        </p:xfrm>
        <a:graphic>
          <a:graphicData uri="http://schemas.openxmlformats.org/drawingml/2006/table">
            <a:tbl>
              <a:tblPr>
                <a:noFill/>
                <a:tableStyleId>{E505D6F2-9F4E-442A-A93D-EE256C943408}</a:tableStyleId>
              </a:tblPr>
              <a:tblGrid>
                <a:gridCol w="2967325"/>
                <a:gridCol w="7232575"/>
                <a:gridCol w="1409375"/>
              </a:tblGrid>
              <a:tr h="1044450">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Para</a:t>
                      </a:r>
                      <a:br>
                        <a:rPr lang="en-ID" sz="1800" u="none" strike="noStrike" cap="none">
                          <a:solidFill>
                            <a:srgbClr val="000000"/>
                          </a:solidFill>
                        </a:rPr>
                      </a:br>
                      <a:r>
                        <a:rPr lang="en-ID" sz="1800" u="none" strike="noStrike" cap="none">
                          <a:solidFill>
                            <a:srgbClr val="000000"/>
                          </a:solidFill>
                        </a:rPr>
                        <a:t>[stakeholders]</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175" marB="0" anchor="ctr"/>
                </a:tc>
                <a:tc>
                  <a:txBody>
                    <a:bodyPr/>
                    <a:lstStyle/>
                    <a:p>
                      <a:pPr marL="0" marR="0" lvl="0" indent="0" algn="l" rtl="0">
                        <a:spcBef>
                          <a:spcPts val="0"/>
                        </a:spcBef>
                        <a:spcAft>
                          <a:spcPts val="0"/>
                        </a:spcAft>
                        <a:buNone/>
                      </a:pPr>
                      <a:r>
                        <a:rPr lang="en-ID" sz="1800"/>
                        <a:t>Siswa SMA kelas 10–12</a:t>
                      </a:r>
                      <a:endParaRPr sz="1800"/>
                    </a:p>
                    <a:p>
                      <a:pPr marL="0" lvl="0" indent="0" algn="l" rtl="0">
                        <a:spcBef>
                          <a:spcPts val="0"/>
                        </a:spcBef>
                        <a:spcAft>
                          <a:spcPts val="0"/>
                        </a:spcAft>
                        <a:buClr>
                          <a:schemeClr val="dk1"/>
                        </a:buClr>
                        <a:buSzPts val="1100"/>
                        <a:buFont typeface="Arial" panose="020B0604020202020204"/>
                        <a:buNone/>
                      </a:pPr>
                      <a:r>
                        <a:rPr lang="en-ID" sz="1800"/>
                        <a:t>Guru</a:t>
                      </a:r>
                      <a:endParaRPr sz="1800"/>
                    </a:p>
                    <a:p>
                      <a:pPr marL="0" lvl="0" indent="0" algn="l" rtl="0">
                        <a:spcBef>
                          <a:spcPts val="0"/>
                        </a:spcBef>
                        <a:spcAft>
                          <a:spcPts val="0"/>
                        </a:spcAft>
                        <a:buClr>
                          <a:schemeClr val="dk1"/>
                        </a:buClr>
                        <a:buSzPts val="1100"/>
                        <a:buFont typeface="Arial" panose="020B0604020202020204"/>
                        <a:buNone/>
                      </a:pPr>
                      <a:r>
                        <a:rPr lang="en-ID" sz="1800"/>
                        <a:t>Pihak sekolah</a:t>
                      </a:r>
                      <a:endParaRPr sz="1800"/>
                    </a:p>
                    <a:p>
                      <a:pPr marL="0" marR="0" lvl="0" indent="0" algn="ctr" rtl="0">
                        <a:lnSpc>
                          <a:spcPct val="107000"/>
                        </a:lnSpc>
                        <a:spcBef>
                          <a:spcPts val="0"/>
                        </a:spcBef>
                        <a:spcAft>
                          <a:spcPts val="0"/>
                        </a:spcAft>
                        <a:buClr>
                          <a:schemeClr val="dk1"/>
                        </a:buClr>
                        <a:buSzPts val="1800"/>
                        <a:buFont typeface="Calibri" panose="020F0502020204030204"/>
                        <a:buNone/>
                      </a:pP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175" marB="0"/>
                </a:tc>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WHO</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175" marB="0" anchor="ctr"/>
                </a:tc>
              </a:tr>
              <a:tr h="1045650">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Masalah yang dihadapi</a:t>
                      </a:r>
                      <a:br>
                        <a:rPr lang="en-ID" sz="1800" u="none" strike="noStrike" cap="none">
                          <a:solidFill>
                            <a:srgbClr val="000000"/>
                          </a:solidFill>
                        </a:rPr>
                      </a:br>
                      <a:r>
                        <a:rPr lang="en-ID" sz="1800" u="none" strike="noStrike" cap="none">
                          <a:solidFill>
                            <a:srgbClr val="000000"/>
                          </a:solidFill>
                        </a:rPr>
                        <a:t>[isu, masalah, kebutuhan]</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nchor="ctr"/>
                </a:tc>
                <a:tc>
                  <a:txBody>
                    <a:bodyPr/>
                    <a:lstStyle/>
                    <a:p>
                      <a:pPr marL="0" marR="0" lvl="0" indent="0" algn="ctr" rtl="0">
                        <a:lnSpc>
                          <a:spcPct val="107000"/>
                        </a:lnSpc>
                        <a:spcBef>
                          <a:spcPts val="0"/>
                        </a:spcBef>
                        <a:spcAft>
                          <a:spcPts val="0"/>
                        </a:spcAft>
                        <a:buClr>
                          <a:schemeClr val="dk1"/>
                        </a:buClr>
                        <a:buSzPts val="1800"/>
                        <a:buFont typeface="Calibri" panose="020F0502020204030204"/>
                        <a:buNone/>
                      </a:pPr>
                      <a:r>
                        <a:rPr lang="en-ID" sz="1800"/>
                        <a:t>Kurangnya ada sebuah sistem untuk pencarian buku yang mencakup genre semua buku dan memiliki deskripsi singkat/sinopsis buku</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tc>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WHAT</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nchor="ctr"/>
                </a:tc>
              </a:tr>
              <a:tr h="1045325">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Ketika</a:t>
                      </a:r>
                      <a:br>
                        <a:rPr lang="en-ID" sz="1800" u="none" strike="noStrike" cap="none">
                          <a:solidFill>
                            <a:srgbClr val="000000"/>
                          </a:solidFill>
                        </a:rPr>
                      </a:br>
                      <a:r>
                        <a:rPr lang="en-ID" sz="1800" u="none" strike="noStrike" cap="none">
                          <a:solidFill>
                            <a:srgbClr val="000000"/>
                          </a:solidFill>
                        </a:rPr>
                        <a:t>[konteks dan situasi]</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nchor="ctr"/>
                </a:tc>
                <a:tc>
                  <a:txBody>
                    <a:bodyPr/>
                    <a:lstStyle/>
                    <a:p>
                      <a:pPr marL="0" marR="0" lvl="0" indent="0" algn="ctr" rtl="0">
                        <a:lnSpc>
                          <a:spcPct val="107000"/>
                        </a:lnSpc>
                        <a:spcBef>
                          <a:spcPts val="0"/>
                        </a:spcBef>
                        <a:spcAft>
                          <a:spcPts val="0"/>
                        </a:spcAft>
                        <a:buClr>
                          <a:schemeClr val="dk1"/>
                        </a:buClr>
                        <a:buSzPts val="1800"/>
                        <a:buFont typeface="Calibri" panose="020F0502020204030204"/>
                        <a:buNone/>
                      </a:pPr>
                      <a:r>
                        <a:rPr lang="en-ID" sz="1800"/>
                        <a:t>Lingkungan sekolah menengah atas (SMA)</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tc>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WHERE</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nchor="ctr"/>
                </a:tc>
              </a:tr>
              <a:tr h="1036075">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Solusi yang diharapkan</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nchor="ctr"/>
                </a:tc>
                <a:tc>
                  <a:txBody>
                    <a:bodyPr/>
                    <a:lstStyle/>
                    <a:p>
                      <a:pPr marL="0" marR="0" lvl="0" indent="0" algn="ctr" rtl="0">
                        <a:lnSpc>
                          <a:spcPct val="107000"/>
                        </a:lnSpc>
                        <a:spcBef>
                          <a:spcPts val="0"/>
                        </a:spcBef>
                        <a:spcAft>
                          <a:spcPts val="0"/>
                        </a:spcAft>
                        <a:buClr>
                          <a:schemeClr val="dk1"/>
                        </a:buClr>
                        <a:buSzPts val="1800"/>
                        <a:buFont typeface="Calibri" panose="020F0502020204030204"/>
                        <a:buNone/>
                      </a:pPr>
                      <a:r>
                        <a:rPr lang="en-ID" sz="1800" u="none" strike="noStrike" cap="none"/>
                        <a:t> Siswa/i dapat </a:t>
                      </a:r>
                      <a:r>
                        <a:rPr lang="en-ID" sz="1800"/>
                        <a:t>menggunakan</a:t>
                      </a:r>
                      <a:r>
                        <a:rPr lang="en-ID" sz="1800"/>
                        <a:t> sistem untuk membantu mencari/meminta rekomendasi  buku yang mereka ingini dan meningkatkan minat belajar dan minat membaca</a:t>
                      </a:r>
                      <a:endParaRPr sz="1800"/>
                    </a:p>
                  </a:txBody>
                  <a:tcPr marL="9525" marR="9525" marT="177800" marB="0"/>
                </a:tc>
                <a:tc>
                  <a:txBody>
                    <a:bodyPr/>
                    <a:lstStyle/>
                    <a:p>
                      <a:pPr marL="0" marR="0" lvl="0" indent="0" algn="ctr" rtl="0">
                        <a:lnSpc>
                          <a:spcPct val="107000"/>
                        </a:lnSpc>
                        <a:spcBef>
                          <a:spcPts val="0"/>
                        </a:spcBef>
                        <a:spcAft>
                          <a:spcPts val="0"/>
                        </a:spcAft>
                        <a:buClr>
                          <a:srgbClr val="000000"/>
                        </a:buClr>
                        <a:buSzPts val="1800"/>
                        <a:buFont typeface="Calibri" panose="020F0502020204030204"/>
                        <a:buNone/>
                      </a:pPr>
                      <a:r>
                        <a:rPr lang="en-ID" sz="1800" u="none" strike="noStrike" cap="none">
                          <a:solidFill>
                            <a:srgbClr val="000000"/>
                          </a:solidFill>
                        </a:rPr>
                        <a:t>WHY</a:t>
                      </a:r>
                      <a:endParaRPr sz="1800" u="none" strike="noStrike" cap="none">
                        <a:latin typeface="Calibri" panose="020F0502020204030204"/>
                        <a:ea typeface="Calibri" panose="020F0502020204030204"/>
                        <a:cs typeface="Calibri" panose="020F0502020204030204"/>
                        <a:sym typeface="Calibri" panose="020F0502020204030204"/>
                      </a:endParaRPr>
                    </a:p>
                  </a:txBody>
                  <a:tcPr marL="9525" marR="9525" marT="177800" marB="0" anchor="ct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35" name="Shape 135"/>
        <p:cNvGrpSpPr/>
        <p:nvPr/>
      </p:nvGrpSpPr>
      <p:grpSpPr>
        <a:xfrm>
          <a:off x="0" y="0"/>
          <a:ext cx="0" cy="0"/>
          <a:chOff x="0" y="0"/>
          <a:chExt cx="0" cy="0"/>
        </a:xfrm>
      </p:grpSpPr>
      <p:sp>
        <p:nvSpPr>
          <p:cNvPr id="136" name="Google Shape;136;p18"/>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panose="020F0502020204030204"/>
              <a:buNone/>
            </a:pPr>
            <a:r>
              <a:rPr lang="en-ID"/>
              <a:t>Akuisisi Data</a:t>
            </a:r>
            <a:endParaRPr lang="en-ID"/>
          </a:p>
        </p:txBody>
      </p:sp>
      <p:sp>
        <p:nvSpPr>
          <p:cNvPr id="137" name="Google Shape;137;p18"/>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77500" lnSpcReduction="20000"/>
          </a:bodyPr>
          <a:lstStyle/>
          <a:p>
            <a:pPr marL="228600" lvl="0" indent="-228600" algn="l" rtl="0">
              <a:lnSpc>
                <a:spcPct val="90000"/>
              </a:lnSpc>
              <a:spcBef>
                <a:spcPts val="0"/>
              </a:spcBef>
              <a:spcAft>
                <a:spcPts val="0"/>
              </a:spcAft>
              <a:buClr>
                <a:schemeClr val="dk1"/>
              </a:buClr>
              <a:buSzPct val="100000"/>
              <a:buChar char="•"/>
            </a:pPr>
            <a:r>
              <a:rPr lang="en-ID"/>
              <a:t>Proses mengumpulkan data-data yang dibutuhkan untuk membuat proyek AI. Hal ini merupakan dasar atau bahan yang selanjutnya diolah untuk dianalisis sesuai masalah dan diamati agar bisa menghasilkan solusi terbaik. Sering disebut dengan data collecting.</a:t>
            </a:r>
            <a:endParaRPr lang="en-ID"/>
          </a:p>
          <a:p>
            <a:pPr marL="228600" lvl="0" indent="-228600" algn="l" rtl="0">
              <a:lnSpc>
                <a:spcPct val="90000"/>
              </a:lnSpc>
              <a:spcBef>
                <a:spcPts val="1000"/>
              </a:spcBef>
              <a:spcAft>
                <a:spcPts val="0"/>
              </a:spcAft>
              <a:buClr>
                <a:schemeClr val="dk1"/>
              </a:buClr>
              <a:buSzPct val="100000"/>
              <a:buChar char="•"/>
            </a:pPr>
            <a:r>
              <a:rPr lang="en-ID"/>
              <a:t>Data yang dikumpulkan bisa berupa data yang dianalisa ataupun data berupa literatur yang mendasari solusi bisa memungkin untuk digunakan.</a:t>
            </a:r>
            <a:endParaRPr lang="en-ID"/>
          </a:p>
          <a:p>
            <a:pPr marL="228600" lvl="0" indent="-90805" algn="l" rtl="0">
              <a:lnSpc>
                <a:spcPct val="90000"/>
              </a:lnSpc>
              <a:spcBef>
                <a:spcPts val="1000"/>
              </a:spcBef>
              <a:spcAft>
                <a:spcPts val="0"/>
              </a:spcAft>
              <a:buClr>
                <a:schemeClr val="dk1"/>
              </a:buClr>
              <a:buSzPct val="100000"/>
              <a:buNone/>
            </a:pPr>
          </a:p>
          <a:p>
            <a:pPr marL="228600" lvl="0" indent="-228600" algn="l" rtl="0">
              <a:lnSpc>
                <a:spcPct val="90000"/>
              </a:lnSpc>
              <a:spcBef>
                <a:spcPts val="1000"/>
              </a:spcBef>
              <a:spcAft>
                <a:spcPts val="0"/>
              </a:spcAft>
              <a:buClr>
                <a:schemeClr val="dk1"/>
              </a:buClr>
              <a:buSzPct val="100000"/>
              <a:buChar char="•"/>
            </a:pPr>
            <a:r>
              <a:rPr lang="en-ID"/>
              <a:t>Ada beberapa cara untuk mendapatkan data:</a:t>
            </a:r>
            <a:endParaRPr lang="en-ID"/>
          </a:p>
          <a:p>
            <a:pPr marL="228600" lvl="0" indent="-228600" algn="l" rtl="0">
              <a:lnSpc>
                <a:spcPct val="90000"/>
              </a:lnSpc>
              <a:spcBef>
                <a:spcPts val="1000"/>
              </a:spcBef>
              <a:spcAft>
                <a:spcPts val="0"/>
              </a:spcAft>
              <a:buClr>
                <a:schemeClr val="dk1"/>
              </a:buClr>
              <a:buSzPct val="100000"/>
              <a:buChar char="•"/>
            </a:pPr>
            <a:r>
              <a:rPr lang="en-ID"/>
              <a:t>Data primer:</a:t>
            </a:r>
            <a:endParaRPr lang="en-ID"/>
          </a:p>
          <a:p>
            <a:pPr marL="685800" lvl="1" indent="-228600" algn="l" rtl="0">
              <a:lnSpc>
                <a:spcPct val="90000"/>
              </a:lnSpc>
              <a:spcBef>
                <a:spcPts val="500"/>
              </a:spcBef>
              <a:spcAft>
                <a:spcPts val="0"/>
              </a:spcAft>
              <a:buClr>
                <a:schemeClr val="dk1"/>
              </a:buClr>
              <a:buSzPct val="100000"/>
              <a:buChar char="•"/>
            </a:pPr>
            <a:r>
              <a:rPr lang="en-ID"/>
              <a:t>Melalui Tools/Alat (IoT)	: Kamera, Microphone dan Sensor</a:t>
            </a:r>
            <a:endParaRPr lang="en-ID"/>
          </a:p>
          <a:p>
            <a:pPr marL="685800" lvl="1" indent="-228600" algn="l" rtl="0">
              <a:lnSpc>
                <a:spcPct val="90000"/>
              </a:lnSpc>
              <a:spcBef>
                <a:spcPts val="500"/>
              </a:spcBef>
              <a:spcAft>
                <a:spcPts val="0"/>
              </a:spcAft>
              <a:buClr>
                <a:schemeClr val="dk1"/>
              </a:buClr>
              <a:buSzPct val="100000"/>
              <a:buChar char="•"/>
            </a:pPr>
            <a:r>
              <a:rPr lang="en-ID"/>
              <a:t>Observasi (formulir pengisian)	: Survei, Penelitian</a:t>
            </a:r>
            <a:endParaRPr lang="en-ID"/>
          </a:p>
          <a:p>
            <a:pPr marL="228600" lvl="0" indent="-228600" algn="l" rtl="0">
              <a:lnSpc>
                <a:spcPct val="90000"/>
              </a:lnSpc>
              <a:spcBef>
                <a:spcPts val="1000"/>
              </a:spcBef>
              <a:spcAft>
                <a:spcPts val="0"/>
              </a:spcAft>
              <a:buClr>
                <a:schemeClr val="dk1"/>
              </a:buClr>
              <a:buSzPct val="100000"/>
              <a:buChar char="•"/>
            </a:pPr>
            <a:r>
              <a:rPr lang="en-ID"/>
              <a:t>Data sekunder:</a:t>
            </a:r>
            <a:endParaRPr lang="en-ID"/>
          </a:p>
          <a:p>
            <a:pPr marL="685800" lvl="1" indent="-228600" algn="l" rtl="0">
              <a:lnSpc>
                <a:spcPct val="90000"/>
              </a:lnSpc>
              <a:spcBef>
                <a:spcPts val="500"/>
              </a:spcBef>
              <a:spcAft>
                <a:spcPts val="0"/>
              </a:spcAft>
              <a:buClr>
                <a:schemeClr val="dk1"/>
              </a:buClr>
              <a:buSzPct val="100000"/>
              <a:buChar char="•"/>
            </a:pPr>
            <a:r>
              <a:rPr lang="en-ID"/>
              <a:t>Open Data	: BPS, AWS, Kaggle, API (REST API, Twitter API, Youtube API)</a:t>
            </a:r>
            <a:endParaRPr lang="en-ID"/>
          </a:p>
          <a:p>
            <a:pPr marL="685800" lvl="1" indent="-228600" algn="l" rtl="0">
              <a:lnSpc>
                <a:spcPct val="90000"/>
              </a:lnSpc>
              <a:spcBef>
                <a:spcPts val="500"/>
              </a:spcBef>
              <a:spcAft>
                <a:spcPts val="0"/>
              </a:spcAft>
              <a:buClr>
                <a:schemeClr val="dk1"/>
              </a:buClr>
              <a:buSzPct val="100000"/>
              <a:buChar char="•"/>
            </a:pPr>
            <a:r>
              <a:rPr lang="en-ID"/>
              <a:t>Web Scraping/Crawling.</a:t>
            </a:r>
            <a:endParaRPr lang="en-I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900" name="Shape 900"/>
        <p:cNvGrpSpPr/>
        <p:nvPr/>
      </p:nvGrpSpPr>
      <p:grpSpPr>
        <a:xfrm>
          <a:off x="0" y="0"/>
          <a:ext cx="0" cy="0"/>
          <a:chOff x="0" y="0"/>
          <a:chExt cx="0" cy="0"/>
        </a:xfrm>
      </p:grpSpPr>
      <p:sp>
        <p:nvSpPr>
          <p:cNvPr id="901" name="Title"/>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None/>
            </a:pPr>
            <a:r>
              <a:rPr lang="en-ID"/>
              <a:t>Akuisisi Data – Dataset yang Digunakan</a:t>
            </a:r>
            <a:endParaRPr lang="en-ID"/>
          </a:p>
        </p:txBody>
      </p:sp>
      <p:sp>
        <p:nvSpPr>
          <p:cNvPr id="902" name="Body"/>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67500" lnSpcReduction="20000"/>
          </a:bodyPr>
          <a:lstStyle/>
          <a:p>
            <a:pPr marL="228600" lvl="0" indent="-228600" algn="l" rtl="0">
              <a:lnSpc>
                <a:spcPct val="90000"/>
              </a:lnSpc>
              <a:spcBef>
                <a:spcPts val="1000"/>
              </a:spcBef>
              <a:spcAft>
                <a:spcPts val="0"/>
              </a:spcAft>
              <a:buClr>
                <a:schemeClr val="dk1"/>
              </a:buClr>
              <a:buSzPct val="100000"/>
              <a:buChar char="•"/>
            </a:pPr>
            <a:r>
              <a:rPr lang="en-ID" b="1"/>
              <a:t>Jenis Data: Data Sekunder (dikurasi secara manual)</a:t>
            </a:r>
            <a:endParaRPr lang="en-ID" b="1"/>
          </a:p>
          <a:p>
            <a:pPr marL="685800" lvl="1" indent="-228600" algn="l" rtl="0">
              <a:lnSpc>
                <a:spcPct val="90000"/>
              </a:lnSpc>
              <a:spcBef>
                <a:spcPts val="500"/>
              </a:spcBef>
              <a:spcAft>
                <a:spcPts val="0"/>
              </a:spcAft>
              <a:buClr>
                <a:schemeClr val="dk1"/>
              </a:buClr>
              <a:buSzPct val="100000"/>
              <a:buChar char="•"/>
            </a:pPr>
            <a:r>
              <a:rPr lang="en-ID"/>
              <a:t>Data </a:t>
            </a:r>
            <a:r>
              <a:rPr lang="en-US" altLang="en-ID"/>
              <a:t>tidak</a:t>
            </a:r>
            <a:r>
              <a:rPr lang="en-ID"/>
              <a:t> diambil dari Kaggle atau open dataset eksternal</a:t>
            </a:r>
            <a:endParaRPr lang="en-ID"/>
          </a:p>
          <a:p>
            <a:pPr marL="685800" lvl="1" indent="-228600" algn="l" rtl="0">
              <a:lnSpc>
                <a:spcPct val="90000"/>
              </a:lnSpc>
              <a:spcBef>
                <a:spcPts val="500"/>
              </a:spcBef>
              <a:spcAft>
                <a:spcPts val="0"/>
              </a:spcAft>
              <a:buClr>
                <a:schemeClr val="dk1"/>
              </a:buClr>
              <a:buSzPct val="100000"/>
              <a:buChar char="•"/>
            </a:pPr>
            <a:r>
              <a:rPr lang="en-ID"/>
              <a:t>Database buku dibuat secara manual oleh tim berdasarkan buku pelajaran SMA resmi (Kurikulum Merdeka)</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Isi Database Buku (books_database dalam main.py):</a:t>
            </a:r>
            <a:endParaRPr lang="en-ID" b="1"/>
          </a:p>
          <a:p>
            <a:pPr marL="685800" lvl="1" indent="-228600" algn="l" rtl="0">
              <a:lnSpc>
                <a:spcPct val="90000"/>
              </a:lnSpc>
              <a:spcBef>
                <a:spcPts val="500"/>
              </a:spcBef>
              <a:spcAft>
                <a:spcPts val="0"/>
              </a:spcAft>
              <a:buClr>
                <a:schemeClr val="dk1"/>
              </a:buClr>
              <a:buSzPct val="100000"/>
              <a:buChar char="•"/>
            </a:pPr>
            <a:r>
              <a:rPr lang="en-ID"/>
              <a:t>Total: 50 buku pelajaran SMA yang dikurasi secara langsung</a:t>
            </a:r>
            <a:endParaRPr lang="en-ID"/>
          </a:p>
          <a:p>
            <a:pPr marL="685800" lvl="1" indent="-228600" algn="l" rtl="0">
              <a:lnSpc>
                <a:spcPct val="90000"/>
              </a:lnSpc>
              <a:spcBef>
                <a:spcPts val="500"/>
              </a:spcBef>
              <a:spcAft>
                <a:spcPts val="0"/>
              </a:spcAft>
              <a:buClr>
                <a:schemeClr val="dk1"/>
              </a:buClr>
              <a:buSzPct val="100000"/>
              <a:buChar char="•"/>
            </a:pPr>
            <a:r>
              <a:rPr lang="en-ID"/>
              <a:t>Mencakup semua tingkat kelas: Kelas X (Kelas 10), Kelas XI (Kelas 11), Kelas XII (Kelas 12)</a:t>
            </a:r>
            <a:endParaRPr lang="en-ID"/>
          </a:p>
          <a:p>
            <a:pPr marL="685800" lvl="1" indent="-228600" algn="l" rtl="0">
              <a:lnSpc>
                <a:spcPct val="90000"/>
              </a:lnSpc>
              <a:spcBef>
                <a:spcPts val="500"/>
              </a:spcBef>
              <a:spcAft>
                <a:spcPts val="0"/>
              </a:spcAft>
              <a:buClr>
                <a:schemeClr val="dk1"/>
              </a:buClr>
              <a:buSzPct val="100000"/>
              <a:buChar char="•"/>
            </a:pPr>
            <a:r>
              <a:rPr lang="en-ID"/>
              <a:t>Mata pelajaran yang dicakup: Matematika, Bahasa Indonesia, Bahasa Inggris, Fisika, Kimia, Biologi, Sejarah, Geografi, Sosiologi, Ekonomi, Informatika, PPKn, Seni Budaya, PJOK, Antropologi, Prakarya</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Atribut Setiap Buku:</a:t>
            </a:r>
            <a:endParaRPr lang="en-ID" b="1"/>
          </a:p>
          <a:p>
            <a:pPr marL="685800" lvl="1" indent="-228600" algn="l" rtl="0">
              <a:lnSpc>
                <a:spcPct val="90000"/>
              </a:lnSpc>
              <a:spcBef>
                <a:spcPts val="500"/>
              </a:spcBef>
              <a:spcAft>
                <a:spcPts val="0"/>
              </a:spcAft>
              <a:buClr>
                <a:schemeClr val="dk1"/>
              </a:buClr>
              <a:buSzPct val="100000"/>
              <a:buChar char="•"/>
            </a:pPr>
            <a:r>
              <a:rPr lang="en-ID"/>
              <a:t>title – Judul lengkap buku pelajaran beserta kelas</a:t>
            </a:r>
            <a:endParaRPr lang="en-ID"/>
          </a:p>
          <a:p>
            <a:pPr marL="685800" lvl="1" indent="-228600" algn="l" rtl="0">
              <a:lnSpc>
                <a:spcPct val="90000"/>
              </a:lnSpc>
              <a:spcBef>
                <a:spcPts val="500"/>
              </a:spcBef>
              <a:spcAft>
                <a:spcPts val="0"/>
              </a:spcAft>
              <a:buClr>
                <a:schemeClr val="dk1"/>
              </a:buClr>
              <a:buSzPct val="100000"/>
              <a:buChar char="•"/>
            </a:pPr>
            <a:r>
              <a:rPr lang="en-ID"/>
              <a:t>author – Nama penulis/pengarang buku</a:t>
            </a:r>
            <a:endParaRPr lang="en-ID"/>
          </a:p>
          <a:p>
            <a:pPr marL="685800" lvl="1" indent="-228600" algn="l" rtl="0">
              <a:lnSpc>
                <a:spcPct val="90000"/>
              </a:lnSpc>
              <a:spcBef>
                <a:spcPts val="500"/>
              </a:spcBef>
              <a:spcAft>
                <a:spcPts val="0"/>
              </a:spcAft>
              <a:buClr>
                <a:schemeClr val="dk1"/>
              </a:buClr>
              <a:buSzPct val="100000"/>
              <a:buChar char="•"/>
            </a:pPr>
            <a:r>
              <a:rPr lang="en-ID"/>
              <a:t>desc – Deskripsi/sinopsis isi buku (teks bebas, digunakan sebagai dasar pencocokan AI)</a:t>
            </a:r>
            <a:endParaRPr lang="en-I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900" name="Shape 900"/>
        <p:cNvGrpSpPr/>
        <p:nvPr/>
      </p:nvGrpSpPr>
      <p:grpSpPr>
        <a:xfrm>
          <a:off x="0" y="0"/>
          <a:ext cx="0" cy="0"/>
          <a:chOff x="0" y="0"/>
          <a:chExt cx="0" cy="0"/>
        </a:xfrm>
      </p:grpSpPr>
      <p:sp>
        <p:nvSpPr>
          <p:cNvPr id="901" name="Title"/>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None/>
            </a:pPr>
            <a:r>
              <a:rPr lang="en-ID"/>
              <a:t>Eksplorasi Data</a:t>
            </a:r>
            <a:endParaRPr lang="en-ID"/>
          </a:p>
        </p:txBody>
      </p:sp>
      <p:sp>
        <p:nvSpPr>
          <p:cNvPr id="902" name="Body"/>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77500" lnSpcReduction="20000"/>
          </a:bodyPr>
          <a:lstStyle/>
          <a:p>
            <a:pPr marL="228600" lvl="0" indent="-228600" algn="l" rtl="0">
              <a:lnSpc>
                <a:spcPct val="90000"/>
              </a:lnSpc>
              <a:spcBef>
                <a:spcPts val="1000"/>
              </a:spcBef>
              <a:spcAft>
                <a:spcPts val="0"/>
              </a:spcAft>
              <a:buClr>
                <a:schemeClr val="dk1"/>
              </a:buClr>
              <a:buSzPct val="100000"/>
              <a:buChar char="•"/>
            </a:pPr>
            <a:r>
              <a:rPr lang="en-ID" b="1"/>
              <a:t>Parameter / Fitur Dataset:</a:t>
            </a:r>
            <a:endParaRPr lang="en-ID" b="1"/>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a:t>No. 1  |  title (Judul Buku)  |  Input  |  Teks</a:t>
            </a:r>
            <a:endParaRPr lang="en-ID"/>
          </a:p>
          <a:p>
            <a:pPr marL="228600" lvl="0" indent="-228600" algn="l" rtl="0">
              <a:lnSpc>
                <a:spcPct val="90000"/>
              </a:lnSpc>
              <a:spcBef>
                <a:spcPts val="1000"/>
              </a:spcBef>
              <a:spcAft>
                <a:spcPts val="0"/>
              </a:spcAft>
              <a:buClr>
                <a:schemeClr val="dk1"/>
              </a:buClr>
              <a:buSzPct val="100000"/>
              <a:buChar char="•"/>
            </a:pPr>
            <a:r>
              <a:rPr lang="en-ID"/>
              <a:t>No. 2  |  author (Penulis)  |  Input  |  Teks</a:t>
            </a:r>
            <a:endParaRPr lang="en-ID"/>
          </a:p>
          <a:p>
            <a:pPr marL="228600" lvl="0" indent="-228600" algn="l" rtl="0">
              <a:lnSpc>
                <a:spcPct val="90000"/>
              </a:lnSpc>
              <a:spcBef>
                <a:spcPts val="1000"/>
              </a:spcBef>
              <a:spcAft>
                <a:spcPts val="0"/>
              </a:spcAft>
              <a:buClr>
                <a:schemeClr val="dk1"/>
              </a:buClr>
              <a:buSzPct val="100000"/>
              <a:buChar char="•"/>
            </a:pPr>
            <a:r>
              <a:rPr lang="en-ID"/>
              <a:t>No. 3  |  desc (Deskripsi Isi Buku)  |  Input  |  Teks (utama untuk AI matching)</a:t>
            </a:r>
            <a:endParaRPr lang="en-ID"/>
          </a:p>
          <a:p>
            <a:pPr marL="228600" lvl="0" indent="-228600" algn="l" rtl="0">
              <a:lnSpc>
                <a:spcPct val="90000"/>
              </a:lnSpc>
              <a:spcBef>
                <a:spcPts val="1000"/>
              </a:spcBef>
              <a:spcAft>
                <a:spcPts val="0"/>
              </a:spcAft>
              <a:buClr>
                <a:schemeClr val="dk1"/>
              </a:buClr>
              <a:buSzPct val="100000"/>
              <a:buChar char="•"/>
            </a:pPr>
            <a:r>
              <a:rPr lang="en-ID"/>
              <a:t>No. 4  |  Rekomendasi Buku  |  Output  |  List Objek (title, author, desc, match)</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Karakteristik Data:</a:t>
            </a:r>
            <a:endParaRPr lang="en-ID" b="1"/>
          </a:p>
          <a:p>
            <a:pPr marL="685800" lvl="1" indent="-228600" algn="l" rtl="0">
              <a:lnSpc>
                <a:spcPct val="90000"/>
              </a:lnSpc>
              <a:spcBef>
                <a:spcPts val="500"/>
              </a:spcBef>
              <a:spcAft>
                <a:spcPts val="0"/>
              </a:spcAft>
              <a:buClr>
                <a:schemeClr val="dk1"/>
              </a:buClr>
              <a:buSzPct val="100000"/>
              <a:buChar char="•"/>
            </a:pPr>
            <a:r>
              <a:rPr lang="en-ID"/>
              <a:t>Semua data bertipe teks – tidak ada data numerik atau kategorikal terstruktur</a:t>
            </a:r>
            <a:endParaRPr lang="en-ID"/>
          </a:p>
          <a:p>
            <a:pPr marL="685800" lvl="1" indent="-228600" algn="l" rtl="0">
              <a:lnSpc>
                <a:spcPct val="90000"/>
              </a:lnSpc>
              <a:spcBef>
                <a:spcPts val="500"/>
              </a:spcBef>
              <a:spcAft>
                <a:spcPts val="0"/>
              </a:spcAft>
              <a:buClr>
                <a:schemeClr val="dk1"/>
              </a:buClr>
              <a:buSzPct val="100000"/>
              <a:buChar char="•"/>
            </a:pPr>
            <a:r>
              <a:rPr lang="en-ID"/>
              <a:t>Kolom desc adalah kolom kunci: AI membandingkan query siswa dengan deskripsi setiap buku</a:t>
            </a:r>
            <a:endParaRPr lang="en-ID"/>
          </a:p>
          <a:p>
            <a:pPr marL="685800" lvl="1" indent="-228600" algn="l" rtl="0">
              <a:lnSpc>
                <a:spcPct val="90000"/>
              </a:lnSpc>
              <a:spcBef>
                <a:spcPts val="500"/>
              </a:spcBef>
              <a:spcAft>
                <a:spcPts val="0"/>
              </a:spcAft>
              <a:buClr>
                <a:schemeClr val="dk1"/>
              </a:buClr>
              <a:buSzPct val="100000"/>
              <a:buChar char="•"/>
            </a:pPr>
            <a:r>
              <a:rPr lang="en-ID"/>
              <a:t>Tidak ada preprocessing khusus (tokenisasi/stemming) – model Sentence Transformer menangani langsung teks mentah</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Distribusi Buku dalam Database:</a:t>
            </a:r>
            <a:endParaRPr lang="en-ID" b="1"/>
          </a:p>
          <a:p>
            <a:pPr marL="685800" lvl="1" indent="-228600" algn="l" rtl="0">
              <a:lnSpc>
                <a:spcPct val="90000"/>
              </a:lnSpc>
              <a:spcBef>
                <a:spcPts val="500"/>
              </a:spcBef>
              <a:spcAft>
                <a:spcPts val="0"/>
              </a:spcAft>
              <a:buClr>
                <a:schemeClr val="dk1"/>
              </a:buClr>
              <a:buSzPct val="100000"/>
              <a:buChar char="•"/>
            </a:pPr>
            <a:r>
              <a:rPr lang="en-ID"/>
              <a:t>Kelas X: 15 buku – Kelas XI: 18 buku – Kelas XII: 17 buku</a:t>
            </a:r>
            <a:endParaRPr lang="en-ID"/>
          </a:p>
          <a:p>
            <a:pPr marL="685800" lvl="1" indent="-228600" algn="l" rtl="0">
              <a:lnSpc>
                <a:spcPct val="90000"/>
              </a:lnSpc>
              <a:spcBef>
                <a:spcPts val="500"/>
              </a:spcBef>
              <a:spcAft>
                <a:spcPts val="0"/>
              </a:spcAft>
              <a:buClr>
                <a:schemeClr val="dk1"/>
              </a:buClr>
              <a:buSzPct val="100000"/>
              <a:buChar char="•"/>
            </a:pPr>
            <a:r>
              <a:rPr lang="en-ID"/>
              <a:t>Mata pelajaran terbanyak: IPA (Fisika/Kimia/Biologi), IPS (Sejarah/Geo/Sos/Eko), Bahasa</a:t>
            </a:r>
            <a:endParaRPr lang="en-ID"/>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900" name="Shape 900"/>
        <p:cNvGrpSpPr/>
        <p:nvPr/>
      </p:nvGrpSpPr>
      <p:grpSpPr>
        <a:xfrm>
          <a:off x="0" y="0"/>
          <a:ext cx="0" cy="0"/>
          <a:chOff x="0" y="0"/>
          <a:chExt cx="0" cy="0"/>
        </a:xfrm>
      </p:grpSpPr>
      <p:sp>
        <p:nvSpPr>
          <p:cNvPr id="901" name="Title"/>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None/>
            </a:pPr>
            <a:r>
              <a:rPr lang="en-ID"/>
              <a:t>Eksplorasi Data – Visualisasi &amp; Cara Kerja Embedding</a:t>
            </a:r>
            <a:endParaRPr lang="en-ID"/>
          </a:p>
        </p:txBody>
      </p:sp>
      <p:sp>
        <p:nvSpPr>
          <p:cNvPr id="902" name="Body"/>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77500" lnSpcReduction="20000"/>
          </a:bodyPr>
          <a:lstStyle/>
          <a:p>
            <a:pPr marL="228600" lvl="0" indent="-228600" algn="l" rtl="0">
              <a:lnSpc>
                <a:spcPct val="90000"/>
              </a:lnSpc>
              <a:spcBef>
                <a:spcPts val="1000"/>
              </a:spcBef>
              <a:spcAft>
                <a:spcPts val="0"/>
              </a:spcAft>
              <a:buClr>
                <a:schemeClr val="dk1"/>
              </a:buClr>
              <a:buSzPct val="100000"/>
              <a:buChar char="•"/>
            </a:pPr>
            <a:r>
              <a:rPr lang="en-ID" b="1"/>
              <a:t>Cara Model Memproses Teks (Tanpa Preprocessing Manual):</a:t>
            </a:r>
            <a:endParaRPr lang="en-ID" b="1"/>
          </a:p>
          <a:p>
            <a:pPr marL="685800" lvl="1" indent="-228600" algn="l" rtl="0">
              <a:lnSpc>
                <a:spcPct val="90000"/>
              </a:lnSpc>
              <a:spcBef>
                <a:spcPts val="500"/>
              </a:spcBef>
              <a:spcAft>
                <a:spcPts val="0"/>
              </a:spcAft>
              <a:buClr>
                <a:schemeClr val="dk1"/>
              </a:buClr>
              <a:buSzPct val="100000"/>
              <a:buChar char="•"/>
            </a:pPr>
            <a:r>
              <a:rPr lang="en-ID"/>
              <a:t>Model Sentence Transformer (all-MiniLM-L6-v2) langsung menerima teks mentah</a:t>
            </a:r>
            <a:endParaRPr lang="en-ID"/>
          </a:p>
          <a:p>
            <a:pPr marL="685800" lvl="1" indent="-228600" algn="l" rtl="0">
              <a:lnSpc>
                <a:spcPct val="90000"/>
              </a:lnSpc>
              <a:spcBef>
                <a:spcPts val="500"/>
              </a:spcBef>
              <a:spcAft>
                <a:spcPts val="0"/>
              </a:spcAft>
              <a:buClr>
                <a:schemeClr val="dk1"/>
              </a:buClr>
              <a:buSzPct val="100000"/>
              <a:buChar char="•"/>
            </a:pPr>
            <a:r>
              <a:rPr lang="en-ID"/>
              <a:t>Tidak perlu tokenisasi manual, stopword removal, atau stemming</a:t>
            </a:r>
            <a:endParaRPr lang="en-ID"/>
          </a:p>
          <a:p>
            <a:pPr marL="685800" lvl="1" indent="-228600" algn="l" rtl="0">
              <a:lnSpc>
                <a:spcPct val="90000"/>
              </a:lnSpc>
              <a:spcBef>
                <a:spcPts val="500"/>
              </a:spcBef>
              <a:spcAft>
                <a:spcPts val="0"/>
              </a:spcAft>
              <a:buClr>
                <a:schemeClr val="dk1"/>
              </a:buClr>
              <a:buSzPct val="100000"/>
              <a:buChar char="•"/>
            </a:pPr>
            <a:r>
              <a:rPr lang="en-ID"/>
              <a:t>Model sudah dilatih untuk memahami makna kalimat secara semantik (bukan hanya kata per kata)</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Proses Encoding (book_embeddings dalam main.py):</a:t>
            </a:r>
            <a:endParaRPr lang="en-ID" b="1"/>
          </a:p>
          <a:p>
            <a:pPr marL="685800" lvl="1" indent="-228600" algn="l" rtl="0">
              <a:lnSpc>
                <a:spcPct val="90000"/>
              </a:lnSpc>
              <a:spcBef>
                <a:spcPts val="500"/>
              </a:spcBef>
              <a:spcAft>
                <a:spcPts val="0"/>
              </a:spcAft>
              <a:buClr>
                <a:schemeClr val="dk1"/>
              </a:buClr>
              <a:buSzPct val="100000"/>
              <a:buChar char="•"/>
            </a:pPr>
            <a:r>
              <a:rPr lang="en-ID"/>
              <a:t>Saat server FastAPI dinyalakan, seluruh 50 deskripsi buku langsung di-encode menjadi vektor</a:t>
            </a:r>
            <a:endParaRPr lang="en-ID"/>
          </a:p>
          <a:p>
            <a:pPr marL="685800" lvl="1" indent="-228600" algn="l" rtl="0">
              <a:lnSpc>
                <a:spcPct val="90000"/>
              </a:lnSpc>
              <a:spcBef>
                <a:spcPts val="500"/>
              </a:spcBef>
              <a:spcAft>
                <a:spcPts val="0"/>
              </a:spcAft>
              <a:buClr>
                <a:schemeClr val="dk1"/>
              </a:buClr>
              <a:buSzPct val="100000"/>
              <a:buChar char="•"/>
            </a:pPr>
            <a:r>
              <a:rPr lang="en-ID"/>
              <a:t>Hasil encoding disimpan di memori (book_embeddings) sebagai tensor</a:t>
            </a:r>
            <a:endParaRPr lang="en-ID"/>
          </a:p>
          <a:p>
            <a:pPr marL="685800" lvl="1" indent="-228600" algn="l" rtl="0">
              <a:lnSpc>
                <a:spcPct val="90000"/>
              </a:lnSpc>
              <a:spcBef>
                <a:spcPts val="500"/>
              </a:spcBef>
              <a:spcAft>
                <a:spcPts val="0"/>
              </a:spcAft>
              <a:buClr>
                <a:schemeClr val="dk1"/>
              </a:buClr>
              <a:buSzPct val="100000"/>
              <a:buChar char="•"/>
            </a:pPr>
            <a:r>
              <a:rPr lang="en-ID"/>
              <a:t>Proses ini hanya terjadi sekali – efisien karena tidak perlu encode ulang setiap ada permintaan</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Metode Kemiripan yang Digunakan:</a:t>
            </a:r>
            <a:endParaRPr lang="en-ID" b="1"/>
          </a:p>
          <a:p>
            <a:pPr marL="685800" lvl="1" indent="-228600" algn="l" rtl="0">
              <a:lnSpc>
                <a:spcPct val="90000"/>
              </a:lnSpc>
              <a:spcBef>
                <a:spcPts val="500"/>
              </a:spcBef>
              <a:spcAft>
                <a:spcPts val="0"/>
              </a:spcAft>
              <a:buClr>
                <a:schemeClr val="dk1"/>
              </a:buClr>
              <a:buSzPct val="100000"/>
              <a:buChar char="•"/>
            </a:pPr>
            <a:r>
              <a:rPr lang="en-ID"/>
              <a:t>Cosine Similarity antar vektor embedding – bukan TF-IDF</a:t>
            </a:r>
            <a:endParaRPr lang="en-ID"/>
          </a:p>
          <a:p>
            <a:pPr marL="685800" lvl="1" indent="-228600" algn="l" rtl="0">
              <a:lnSpc>
                <a:spcPct val="90000"/>
              </a:lnSpc>
              <a:spcBef>
                <a:spcPts val="500"/>
              </a:spcBef>
              <a:spcAft>
                <a:spcPts val="0"/>
              </a:spcAft>
              <a:buClr>
                <a:schemeClr val="dk1"/>
              </a:buClr>
              <a:buSzPct val="100000"/>
              <a:buChar char="•"/>
            </a:pPr>
            <a:r>
              <a:rPr lang="en-ID"/>
              <a:t>Nilai kemiripan dihitung menggunakan util.cos_sim() dari library sentence_transformers</a:t>
            </a:r>
            <a:endParaRPr lang="en-ID"/>
          </a:p>
          <a:p>
            <a:pPr marL="685800" lvl="1" indent="-228600" algn="l" rtl="0">
              <a:lnSpc>
                <a:spcPct val="90000"/>
              </a:lnSpc>
              <a:spcBef>
                <a:spcPts val="500"/>
              </a:spcBef>
              <a:spcAft>
                <a:spcPts val="0"/>
              </a:spcAft>
              <a:buClr>
                <a:schemeClr val="dk1"/>
              </a:buClr>
              <a:buSzPct val="100000"/>
              <a:buChar char="•"/>
            </a:pPr>
            <a:r>
              <a:rPr lang="en-ID"/>
              <a:t>Pendekatan ini berbasis Semantic Search – mampu menangkap makna, bukan sekadar kecocokan kata</a:t>
            </a:r>
            <a:endParaRPr lang="en-ID"/>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900" name="Shape 900"/>
        <p:cNvGrpSpPr/>
        <p:nvPr/>
      </p:nvGrpSpPr>
      <p:grpSpPr>
        <a:xfrm>
          <a:off x="0" y="0"/>
          <a:ext cx="0" cy="0"/>
          <a:chOff x="0" y="0"/>
          <a:chExt cx="0" cy="0"/>
        </a:xfrm>
      </p:grpSpPr>
      <p:sp>
        <p:nvSpPr>
          <p:cNvPr id="901" name="Title"/>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None/>
            </a:pPr>
            <a:r>
              <a:rPr lang="en-ID"/>
              <a:t>Metode – Sentence Transformers &amp; Semantic Search</a:t>
            </a:r>
            <a:endParaRPr lang="en-ID"/>
          </a:p>
        </p:txBody>
      </p:sp>
      <p:sp>
        <p:nvSpPr>
          <p:cNvPr id="902" name="Body"/>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77500" lnSpcReduction="20000"/>
          </a:bodyPr>
          <a:lstStyle/>
          <a:p>
            <a:pPr marL="228600" lvl="0" indent="-228600" algn="l" rtl="0">
              <a:lnSpc>
                <a:spcPct val="90000"/>
              </a:lnSpc>
              <a:spcBef>
                <a:spcPts val="1000"/>
              </a:spcBef>
              <a:spcAft>
                <a:spcPts val="0"/>
              </a:spcAft>
              <a:buClr>
                <a:schemeClr val="dk1"/>
              </a:buClr>
              <a:buSzPct val="100000"/>
              <a:buChar char="•"/>
            </a:pPr>
            <a:r>
              <a:rPr lang="en-ID" b="1"/>
              <a:t>Model AI yang Digunakan: all-MiniLM-L6-v2 (Sentence Transformers)</a:t>
            </a:r>
            <a:endParaRPr lang="en-ID" b="1"/>
          </a:p>
          <a:p>
            <a:pPr marL="685800" lvl="1" indent="-228600" algn="l" rtl="0">
              <a:lnSpc>
                <a:spcPct val="90000"/>
              </a:lnSpc>
              <a:spcBef>
                <a:spcPts val="500"/>
              </a:spcBef>
              <a:spcAft>
                <a:spcPts val="0"/>
              </a:spcAft>
              <a:buClr>
                <a:schemeClr val="dk1"/>
              </a:buClr>
              <a:buSzPct val="100000"/>
              <a:buChar char="•"/>
            </a:pPr>
            <a:r>
              <a:rPr lang="en-ID"/>
              <a:t>Library: sentence-transformers (berbasis HuggingFace / PyTorch)</a:t>
            </a:r>
            <a:endParaRPr lang="en-ID"/>
          </a:p>
          <a:p>
            <a:pPr marL="685800" lvl="1" indent="-228600" algn="l" rtl="0">
              <a:lnSpc>
                <a:spcPct val="90000"/>
              </a:lnSpc>
              <a:spcBef>
                <a:spcPts val="500"/>
              </a:spcBef>
              <a:spcAft>
                <a:spcPts val="0"/>
              </a:spcAft>
              <a:buClr>
                <a:schemeClr val="dk1"/>
              </a:buClr>
              <a:buSzPct val="100000"/>
              <a:buChar char="•"/>
            </a:pPr>
            <a:r>
              <a:rPr lang="en-ID"/>
              <a:t>Model ringan dan cepat: hanya 22 MB, cocok untuk deployment lokal maupun server</a:t>
            </a:r>
            <a:endParaRPr lang="en-ID"/>
          </a:p>
          <a:p>
            <a:pPr marL="685800" lvl="1" indent="-228600" algn="l" rtl="0">
              <a:lnSpc>
                <a:spcPct val="90000"/>
              </a:lnSpc>
              <a:spcBef>
                <a:spcPts val="500"/>
              </a:spcBef>
              <a:spcAft>
                <a:spcPts val="0"/>
              </a:spcAft>
              <a:buClr>
                <a:schemeClr val="dk1"/>
              </a:buClr>
              <a:buSzPct val="100000"/>
              <a:buChar char="•"/>
            </a:pPr>
            <a:r>
              <a:rPr lang="en-ID"/>
              <a:t>Diunduh otomatis dari HuggingFace saat pertama kali server dijalankan</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Cara Kerja Model:</a:t>
            </a:r>
            <a:endParaRPr lang="en-ID" b="1"/>
          </a:p>
          <a:p>
            <a:pPr marL="685800" lvl="1" indent="-228600" algn="l" rtl="0">
              <a:lnSpc>
                <a:spcPct val="90000"/>
              </a:lnSpc>
              <a:spcBef>
                <a:spcPts val="500"/>
              </a:spcBef>
              <a:spcAft>
                <a:spcPts val="0"/>
              </a:spcAft>
              <a:buClr>
                <a:schemeClr val="dk1"/>
              </a:buClr>
              <a:buSzPct val="100000"/>
              <a:buChar char="•"/>
            </a:pPr>
            <a:r>
              <a:rPr lang="en-ID"/>
              <a:t>Setiap teks (query siswa maupun deskripsi buku) diubah menjadi vektor berdimensi 384</a:t>
            </a:r>
            <a:endParaRPr lang="en-ID"/>
          </a:p>
          <a:p>
            <a:pPr marL="685800" lvl="1" indent="-228600" algn="l" rtl="0">
              <a:lnSpc>
                <a:spcPct val="90000"/>
              </a:lnSpc>
              <a:spcBef>
                <a:spcPts val="500"/>
              </a:spcBef>
              <a:spcAft>
                <a:spcPts val="0"/>
              </a:spcAft>
              <a:buClr>
                <a:schemeClr val="dk1"/>
              </a:buClr>
              <a:buSzPct val="100000"/>
              <a:buChar char="•"/>
            </a:pPr>
            <a:r>
              <a:rPr lang="en-ID"/>
              <a:t>Vektor merepresentasikan makna semantik teks, bukan hanya kata-kata yang cocok</a:t>
            </a:r>
            <a:endParaRPr lang="en-ID"/>
          </a:p>
          <a:p>
            <a:pPr marL="685800" lvl="1" indent="-228600" algn="l" rtl="0">
              <a:lnSpc>
                <a:spcPct val="90000"/>
              </a:lnSpc>
              <a:spcBef>
                <a:spcPts val="500"/>
              </a:spcBef>
              <a:spcAft>
                <a:spcPts val="0"/>
              </a:spcAft>
              <a:buClr>
                <a:schemeClr val="dk1"/>
              </a:buClr>
              <a:buSzPct val="100000"/>
              <a:buChar char="•"/>
            </a:pPr>
            <a:r>
              <a:rPr lang="en-ID"/>
              <a:t>Contoh: query 'rumus kecepatan' akan cocok dengan buku fisika meski kata persis tidak sama</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Algoritma Kemiripan: Cosine Similarity</a:t>
            </a:r>
            <a:endParaRPr lang="en-ID" b="1"/>
          </a:p>
          <a:p>
            <a:pPr marL="685800" lvl="1" indent="-228600" algn="l" rtl="0">
              <a:lnSpc>
                <a:spcPct val="90000"/>
              </a:lnSpc>
              <a:spcBef>
                <a:spcPts val="500"/>
              </a:spcBef>
              <a:spcAft>
                <a:spcPts val="0"/>
              </a:spcAft>
              <a:buClr>
                <a:schemeClr val="dk1"/>
              </a:buClr>
              <a:buSzPct val="100000"/>
              <a:buChar char="•"/>
            </a:pPr>
            <a:r>
              <a:rPr lang="en-ID"/>
              <a:t>Menghitung sudut antar dua vektor – semakin kecil sudutnya, semakin mirip maknanya</a:t>
            </a:r>
            <a:endParaRPr lang="en-ID"/>
          </a:p>
          <a:p>
            <a:pPr marL="685800" lvl="1" indent="-228600" algn="l" rtl="0">
              <a:lnSpc>
                <a:spcPct val="90000"/>
              </a:lnSpc>
              <a:spcBef>
                <a:spcPts val="500"/>
              </a:spcBef>
              <a:spcAft>
                <a:spcPts val="0"/>
              </a:spcAft>
              <a:buClr>
                <a:schemeClr val="dk1"/>
              </a:buClr>
              <a:buSzPct val="100000"/>
              <a:buChar char="•"/>
            </a:pPr>
            <a:r>
              <a:rPr lang="en-ID"/>
              <a:t>Nilai berkisar 0.0 (tidak mirip) hingga 1.0 (identik)</a:t>
            </a:r>
            <a:endParaRPr lang="en-ID"/>
          </a:p>
          <a:p>
            <a:pPr marL="685800" lvl="1" indent="-228600" algn="l" rtl="0">
              <a:lnSpc>
                <a:spcPct val="90000"/>
              </a:lnSpc>
              <a:spcBef>
                <a:spcPts val="500"/>
              </a:spcBef>
              <a:spcAft>
                <a:spcPts val="0"/>
              </a:spcAft>
              <a:buClr>
                <a:schemeClr val="dk1"/>
              </a:buClr>
              <a:buSzPct val="100000"/>
              <a:buChar char="•"/>
            </a:pPr>
            <a:r>
              <a:rPr lang="en-ID"/>
              <a:t>Top-3 buku dengan skor tertinggi dikembalikan sebagai rekomendasi (top_results[:3])</a:t>
            </a:r>
            <a:endParaRPr lang="en-ID"/>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900" name="Shape 900"/>
        <p:cNvGrpSpPr/>
        <p:nvPr/>
      </p:nvGrpSpPr>
      <p:grpSpPr>
        <a:xfrm>
          <a:off x="0" y="0"/>
          <a:ext cx="0" cy="0"/>
          <a:chOff x="0" y="0"/>
          <a:chExt cx="0" cy="0"/>
        </a:xfrm>
      </p:grpSpPr>
      <p:sp>
        <p:nvSpPr>
          <p:cNvPr id="901" name="Title"/>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None/>
            </a:pPr>
            <a:r>
              <a:rPr lang="en-ID"/>
              <a:t>Pemodelan – Alur Sistem &amp; Arsitektur Aplikasi</a:t>
            </a:r>
            <a:endParaRPr lang="en-ID"/>
          </a:p>
        </p:txBody>
      </p:sp>
      <p:sp>
        <p:nvSpPr>
          <p:cNvPr id="902" name="Body"/>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77500" lnSpcReduction="20000"/>
          </a:bodyPr>
          <a:lstStyle/>
          <a:p>
            <a:pPr marL="228600" lvl="0" indent="-228600" algn="l" rtl="0">
              <a:lnSpc>
                <a:spcPct val="90000"/>
              </a:lnSpc>
              <a:spcBef>
                <a:spcPts val="1000"/>
              </a:spcBef>
              <a:spcAft>
                <a:spcPts val="0"/>
              </a:spcAft>
              <a:buClr>
                <a:schemeClr val="dk1"/>
              </a:buClr>
              <a:buSzPct val="100000"/>
              <a:buChar char="•"/>
            </a:pPr>
            <a:r>
              <a:rPr lang="en-ID" b="1"/>
              <a:t>Arsitektur Sistem:</a:t>
            </a:r>
            <a:endParaRPr lang="en-ID" b="1"/>
          </a:p>
          <a:p>
            <a:pPr marL="685800" lvl="1" indent="-228600" algn="l" rtl="0">
              <a:lnSpc>
                <a:spcPct val="90000"/>
              </a:lnSpc>
              <a:spcBef>
                <a:spcPts val="500"/>
              </a:spcBef>
              <a:spcAft>
                <a:spcPts val="0"/>
              </a:spcAft>
              <a:buClr>
                <a:schemeClr val="dk1"/>
              </a:buClr>
              <a:buSzPct val="100000"/>
              <a:buChar char="•"/>
            </a:pPr>
            <a:r>
              <a:rPr lang="en-ID"/>
              <a:t>Backend: FastAPI (Python) – menyediakan REST API endpoint POST /recommend</a:t>
            </a:r>
            <a:endParaRPr lang="en-ID"/>
          </a:p>
          <a:p>
            <a:pPr marL="685800" lvl="1" indent="-228600" algn="l" rtl="0">
              <a:lnSpc>
                <a:spcPct val="90000"/>
              </a:lnSpc>
              <a:spcBef>
                <a:spcPts val="500"/>
              </a:spcBef>
              <a:spcAft>
                <a:spcPts val="0"/>
              </a:spcAft>
              <a:buClr>
                <a:schemeClr val="dk1"/>
              </a:buClr>
              <a:buSzPct val="100000"/>
              <a:buChar char="•"/>
            </a:pPr>
            <a:r>
              <a:rPr lang="en-ID"/>
              <a:t>Frontend: File HTML terpisah yang mengirim request ke API FastAPI via JavaScript (fetch/AJAX)</a:t>
            </a:r>
            <a:endParaRPr lang="en-ID"/>
          </a:p>
          <a:p>
            <a:pPr marL="685800" lvl="1" indent="-228600" algn="l" rtl="0">
              <a:lnSpc>
                <a:spcPct val="90000"/>
              </a:lnSpc>
              <a:spcBef>
                <a:spcPts val="500"/>
              </a:spcBef>
              <a:spcAft>
                <a:spcPts val="0"/>
              </a:spcAft>
              <a:buClr>
                <a:schemeClr val="dk1"/>
              </a:buClr>
              <a:buSzPct val="100000"/>
              <a:buChar char="•"/>
            </a:pPr>
            <a:r>
              <a:rPr lang="en-ID"/>
              <a:t>CORS Middleware diaktifkan agar frontend bisa mengakses API dari browser (allow_origins=["*"])</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Alur Kerja Program (main.py):</a:t>
            </a:r>
            <a:endParaRPr lang="en-ID" b="1"/>
          </a:p>
          <a:p>
            <a:pPr marL="685800" lvl="1" indent="-228600" algn="l" rtl="0">
              <a:lnSpc>
                <a:spcPct val="90000"/>
              </a:lnSpc>
              <a:spcBef>
                <a:spcPts val="500"/>
              </a:spcBef>
              <a:spcAft>
                <a:spcPts val="0"/>
              </a:spcAft>
              <a:buClr>
                <a:schemeClr val="dk1"/>
              </a:buClr>
              <a:buSzPct val="100000"/>
              <a:buChar char="•"/>
            </a:pPr>
            <a:r>
              <a:rPr lang="en-ID"/>
              <a:t>Server start → model all-MiniLM-L6-v2 dimuat → 50 deskripsi buku di-encode jadi tensor (book_embeddings)</a:t>
            </a:r>
            <a:endParaRPr lang="en-ID"/>
          </a:p>
          <a:p>
            <a:pPr marL="685800" lvl="1" indent="-228600" algn="l" rtl="0">
              <a:lnSpc>
                <a:spcPct val="90000"/>
              </a:lnSpc>
              <a:spcBef>
                <a:spcPts val="500"/>
              </a:spcBef>
              <a:spcAft>
                <a:spcPts val="0"/>
              </a:spcAft>
              <a:buClr>
                <a:schemeClr val="dk1"/>
              </a:buClr>
              <a:buSzPct val="100000"/>
              <a:buChar char="•"/>
            </a:pPr>
            <a:r>
              <a:rPr lang="en-ID"/>
              <a:t>Siswa mengetikkan query teks di frontend → dikirim ke POST /recommend sebagai JSON {text: ...}</a:t>
            </a:r>
            <a:endParaRPr lang="en-ID"/>
          </a:p>
          <a:p>
            <a:pPr marL="685800" lvl="1" indent="-228600" algn="l" rtl="0">
              <a:lnSpc>
                <a:spcPct val="90000"/>
              </a:lnSpc>
              <a:spcBef>
                <a:spcPts val="500"/>
              </a:spcBef>
              <a:spcAft>
                <a:spcPts val="0"/>
              </a:spcAft>
              <a:buClr>
                <a:schemeClr val="dk1"/>
              </a:buClr>
              <a:buSzPct val="100000"/>
              <a:buChar char="•"/>
            </a:pPr>
            <a:r>
              <a:rPr lang="en-ID"/>
              <a:t>Server encode query siswa → hitung cosine similarity dengan semua book_embeddings</a:t>
            </a:r>
            <a:endParaRPr lang="en-ID"/>
          </a:p>
          <a:p>
            <a:pPr marL="685800" lvl="1" indent="-228600" algn="l" rtl="0">
              <a:lnSpc>
                <a:spcPct val="90000"/>
              </a:lnSpc>
              <a:spcBef>
                <a:spcPts val="500"/>
              </a:spcBef>
              <a:spcAft>
                <a:spcPts val="0"/>
              </a:spcAft>
              <a:buClr>
                <a:schemeClr val="dk1"/>
              </a:buClr>
              <a:buSzPct val="100000"/>
              <a:buChar char="•"/>
            </a:pPr>
            <a:r>
              <a:rPr lang="en-ID"/>
              <a:t>Hasil diurutkan descending → ambil 3 teratas → kembalikan sebagai JSON {results: [...]}</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Output Setiap Rekomendasi:</a:t>
            </a:r>
            <a:endParaRPr lang="en-ID" b="1"/>
          </a:p>
          <a:p>
            <a:pPr marL="685800" lvl="1" indent="-228600" algn="l" rtl="0">
              <a:lnSpc>
                <a:spcPct val="90000"/>
              </a:lnSpc>
              <a:spcBef>
                <a:spcPts val="500"/>
              </a:spcBef>
              <a:spcAft>
                <a:spcPts val="0"/>
              </a:spcAft>
              <a:buClr>
                <a:schemeClr val="dk1"/>
              </a:buClr>
              <a:buSzPct val="100000"/>
              <a:buChar char="•"/>
            </a:pPr>
            <a:r>
              <a:rPr lang="en-ID"/>
              <a:t>title – judul buku, author – penulis, desc – deskripsi, match – skor kemiripan (integer)</a:t>
            </a:r>
            <a:endParaRPr lang="en-ID"/>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900" name="Shape 900"/>
        <p:cNvGrpSpPr/>
        <p:nvPr/>
      </p:nvGrpSpPr>
      <p:grpSpPr>
        <a:xfrm>
          <a:off x="0" y="0"/>
          <a:ext cx="0" cy="0"/>
          <a:chOff x="0" y="0"/>
          <a:chExt cx="0" cy="0"/>
        </a:xfrm>
      </p:grpSpPr>
      <p:sp>
        <p:nvSpPr>
          <p:cNvPr id="901" name="Title"/>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None/>
            </a:pPr>
            <a:r>
              <a:rPr lang="en-ID"/>
              <a:t>Evaluasi Model</a:t>
            </a:r>
            <a:endParaRPr lang="en-ID"/>
          </a:p>
        </p:txBody>
      </p:sp>
      <p:sp>
        <p:nvSpPr>
          <p:cNvPr id="902" name="Body"/>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77500" lnSpcReduction="20000"/>
          </a:bodyPr>
          <a:lstStyle/>
          <a:p>
            <a:pPr marL="228600" lvl="0" indent="-228600" algn="l" rtl="0">
              <a:lnSpc>
                <a:spcPct val="90000"/>
              </a:lnSpc>
              <a:spcBef>
                <a:spcPts val="1000"/>
              </a:spcBef>
              <a:spcAft>
                <a:spcPts val="0"/>
              </a:spcAft>
              <a:buClr>
                <a:schemeClr val="dk1"/>
              </a:buClr>
              <a:buSzPct val="100000"/>
              <a:buChar char="•"/>
            </a:pPr>
            <a:r>
              <a:rPr lang="en-ID" b="1"/>
              <a:t>Metode Evaluasi yang Digunakan:</a:t>
            </a:r>
            <a:endParaRPr lang="en-ID" b="1"/>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Evaluasi 1 – Relevansi Rekomendasi (Kualitatif):</a:t>
            </a:r>
            <a:endParaRPr lang="en-ID" b="1"/>
          </a:p>
          <a:p>
            <a:pPr marL="685800" lvl="1" indent="-228600" algn="l" rtl="0">
              <a:lnSpc>
                <a:spcPct val="90000"/>
              </a:lnSpc>
              <a:spcBef>
                <a:spcPts val="500"/>
              </a:spcBef>
              <a:spcAft>
                <a:spcPts val="0"/>
              </a:spcAft>
              <a:buClr>
                <a:schemeClr val="dk1"/>
              </a:buClr>
              <a:buSzPct val="100000"/>
              <a:buChar char="•"/>
            </a:pPr>
            <a:r>
              <a:rPr lang="en-ID"/>
              <a:t>Menilai apakah 3 buku yang direkomendasikan sesuai dengan topik yang ditanyakan siswa</a:t>
            </a:r>
            <a:endParaRPr lang="en-ID"/>
          </a:p>
          <a:p>
            <a:pPr marL="685800" lvl="1" indent="-228600" algn="l" rtl="0">
              <a:lnSpc>
                <a:spcPct val="90000"/>
              </a:lnSpc>
              <a:spcBef>
                <a:spcPts val="500"/>
              </a:spcBef>
              <a:spcAft>
                <a:spcPts val="0"/>
              </a:spcAft>
              <a:buClr>
                <a:schemeClr val="dk1"/>
              </a:buClr>
              <a:buSzPct val="100000"/>
              <a:buChar char="•"/>
            </a:pPr>
            <a:r>
              <a:rPr lang="en-ID"/>
              <a:t>Diuji dengan berbagai query: nama mata pelajaran, topik materi, atau deskripsi kebutuhan belajar</a:t>
            </a:r>
            <a:endParaRPr lang="en-ID"/>
          </a:p>
          <a:p>
            <a:pPr marL="685800" lvl="1" indent="-228600" algn="l" rtl="0">
              <a:lnSpc>
                <a:spcPct val="90000"/>
              </a:lnSpc>
              <a:spcBef>
                <a:spcPts val="500"/>
              </a:spcBef>
              <a:spcAft>
                <a:spcPts val="0"/>
              </a:spcAft>
              <a:buClr>
                <a:schemeClr val="dk1"/>
              </a:buClr>
              <a:buSzPct val="100000"/>
              <a:buChar char="•"/>
            </a:pPr>
            <a:r>
              <a:rPr lang="en-ID"/>
              <a:t>Contoh query uji: 'rumus fisika kelas 11', 'cerpen dan drama', 'bakteri dan ekosistem'</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Evaluasi 2 – Skor Cosine Similarity:</a:t>
            </a:r>
            <a:endParaRPr lang="en-ID" b="1"/>
          </a:p>
          <a:p>
            <a:pPr marL="685800" lvl="1" indent="-228600" algn="l" rtl="0">
              <a:lnSpc>
                <a:spcPct val="90000"/>
              </a:lnSpc>
              <a:spcBef>
                <a:spcPts val="500"/>
              </a:spcBef>
              <a:spcAft>
                <a:spcPts val="0"/>
              </a:spcAft>
              <a:buClr>
                <a:schemeClr val="dk1"/>
              </a:buClr>
              <a:buSzPct val="100000"/>
              <a:buChar char="•"/>
            </a:pPr>
            <a:r>
              <a:rPr lang="en-ID"/>
              <a:t>Setiap hasil rekomendasi disertai nilai match (skor kemiripan cosine similarity)</a:t>
            </a:r>
            <a:endParaRPr lang="en-ID"/>
          </a:p>
          <a:p>
            <a:pPr marL="685800" lvl="1" indent="-228600" algn="l" rtl="0">
              <a:lnSpc>
                <a:spcPct val="90000"/>
              </a:lnSpc>
              <a:spcBef>
                <a:spcPts val="500"/>
              </a:spcBef>
              <a:spcAft>
                <a:spcPts val="0"/>
              </a:spcAft>
              <a:buClr>
                <a:schemeClr val="dk1"/>
              </a:buClr>
              <a:buSzPct val="100000"/>
              <a:buChar char="•"/>
            </a:pPr>
            <a:r>
              <a:rPr lang="en-ID"/>
              <a:t>Skor diharapkan bernilai positif dan relevan dengan konteks kueri yang diberikan</a:t>
            </a:r>
            <a:endParaRPr lang="en-ID"/>
          </a:p>
          <a:p>
            <a:pPr marL="685800" lvl="1" indent="-228600" algn="l" rtl="0">
              <a:lnSpc>
                <a:spcPct val="90000"/>
              </a:lnSpc>
              <a:spcBef>
                <a:spcPts val="500"/>
              </a:spcBef>
              <a:spcAft>
                <a:spcPts val="0"/>
              </a:spcAft>
              <a:buClr>
                <a:schemeClr val="dk1"/>
              </a:buClr>
              <a:buSzPct val="100000"/>
              <a:buChar char="•"/>
            </a:pPr>
            <a:r>
              <a:rPr lang="en-ID"/>
              <a:t>Semakin tinggi skor, semakin kuat kemiripan semantik antara query dan buku</a:t>
            </a:r>
            <a:endParaRPr lang="en-ID"/>
          </a:p>
          <a:p>
            <a:pPr marL="0" lvl="0" indent="0" algn="l" rtl="0">
              <a:lnSpc>
                <a:spcPct val="90000"/>
              </a:lnSpc>
              <a:spcBef>
                <a:spcPts val="800"/>
              </a:spcBef>
              <a:spcAft>
                <a:spcPts val="0"/>
              </a:spcAft>
              <a:buNone/>
            </a:pPr>
          </a:p>
          <a:p>
            <a:pPr marL="228600" lvl="0" indent="-228600" algn="l" rtl="0">
              <a:lnSpc>
                <a:spcPct val="90000"/>
              </a:lnSpc>
              <a:spcBef>
                <a:spcPts val="1000"/>
              </a:spcBef>
              <a:spcAft>
                <a:spcPts val="0"/>
              </a:spcAft>
              <a:buClr>
                <a:schemeClr val="dk1"/>
              </a:buClr>
              <a:buSzPct val="100000"/>
              <a:buChar char="•"/>
            </a:pPr>
            <a:r>
              <a:rPr lang="en-ID" b="1"/>
              <a:t>Evaluasi 3 – Uji Coba oleh Pengguna (User Testing):</a:t>
            </a:r>
            <a:endParaRPr lang="en-ID" b="1"/>
          </a:p>
          <a:p>
            <a:pPr marL="685800" lvl="1" indent="-228600" algn="l" rtl="0">
              <a:lnSpc>
                <a:spcPct val="90000"/>
              </a:lnSpc>
              <a:spcBef>
                <a:spcPts val="500"/>
              </a:spcBef>
              <a:spcAft>
                <a:spcPts val="0"/>
              </a:spcAft>
              <a:buClr>
                <a:schemeClr val="dk1"/>
              </a:buClr>
              <a:buSzPct val="100000"/>
              <a:buChar char="•"/>
            </a:pPr>
            <a:r>
              <a:rPr lang="en-ID"/>
              <a:t>Siswa SMA diminta mencoba sistem dan menilai kualitas rekomendasi</a:t>
            </a:r>
            <a:endParaRPr lang="en-ID"/>
          </a:p>
          <a:p>
            <a:pPr marL="685800" lvl="1" indent="-228600" algn="l" rtl="0">
              <a:lnSpc>
                <a:spcPct val="90000"/>
              </a:lnSpc>
              <a:spcBef>
                <a:spcPts val="500"/>
              </a:spcBef>
              <a:spcAft>
                <a:spcPts val="0"/>
              </a:spcAft>
              <a:buClr>
                <a:schemeClr val="dk1"/>
              </a:buClr>
              <a:buSzPct val="100000"/>
              <a:buChar char="•"/>
            </a:pPr>
            <a:r>
              <a:rPr lang="en-ID"/>
              <a:t>Penilaian menggunakan skala kepuasan 1–5 terhadap relevansi dan kemudahan penggunaan</a:t>
            </a:r>
            <a:endParaRPr lang="en-ID"/>
          </a:p>
          <a:p>
            <a:pPr marL="685800" lvl="1" indent="-228600" algn="l" rtl="0">
              <a:lnSpc>
                <a:spcPct val="90000"/>
              </a:lnSpc>
              <a:spcBef>
                <a:spcPts val="500"/>
              </a:spcBef>
              <a:spcAft>
                <a:spcPts val="0"/>
              </a:spcAft>
              <a:buClr>
                <a:schemeClr val="dk1"/>
              </a:buClr>
              <a:buSzPct val="100000"/>
              <a:buChar char="•"/>
            </a:pPr>
            <a:r>
              <a:rPr lang="en-ID"/>
              <a:t>Target: minimal 80% pengguna merasa rekomendasi relevan dengan kebutuhan belajar mereka</a:t>
            </a:r>
            <a:endParaRPr lang="en-ID"/>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900" name="Shape 900"/>
        <p:cNvGrpSpPr/>
        <p:nvPr/>
      </p:nvGrpSpPr>
      <p:grpSpPr>
        <a:xfrm>
          <a:off x="0" y="0"/>
          <a:ext cx="0" cy="0"/>
          <a:chOff x="0" y="0"/>
          <a:chExt cx="0" cy="0"/>
        </a:xfrm>
      </p:grpSpPr>
      <p:sp>
        <p:nvSpPr>
          <p:cNvPr id="901" name="Title"/>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None/>
            </a:pPr>
            <a:r>
              <a:rPr lang="en-ID"/>
              <a:t>Hasil Program – BookVibe AI</a:t>
            </a:r>
            <a:endParaRPr lang="en-ID"/>
          </a:p>
        </p:txBody>
      </p:sp>
      <p:sp>
        <p:nvSpPr>
          <p:cNvPr id="902" name="Body"/>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75000" lnSpcReduction="20000"/>
          </a:bodyPr>
          <a:lstStyle/>
          <a:p>
            <a:pPr marL="228600" lvl="0" indent="-228600" algn="l" rtl="0">
              <a:lnSpc>
                <a:spcPct val="90000"/>
              </a:lnSpc>
              <a:spcBef>
                <a:spcPts val="800"/>
              </a:spcBef>
              <a:spcAft>
                <a:spcPts val="0"/>
              </a:spcAft>
              <a:buClr>
                <a:schemeClr val="dk1"/>
              </a:buClr>
              <a:buSzPct val="100000"/>
              <a:buChar char="•"/>
            </a:pPr>
            <a:r>
              <a:rPr lang="en-ID" b="1"/>
              <a:t>Nama Aplikasi: BookVibe – Rekomendasi Buku Pelajaran SMA Berbasis AI</a:t>
            </a:r>
            <a:endParaRPr lang="en-ID" b="1"/>
          </a:p>
          <a:p>
            <a:pPr marL="685800" lvl="1" indent="-228600" algn="l" rtl="0">
              <a:lnSpc>
                <a:spcPct val="90000"/>
              </a:lnSpc>
              <a:spcBef>
                <a:spcPts val="400"/>
              </a:spcBef>
              <a:spcAft>
                <a:spcPts val="0"/>
              </a:spcAft>
              <a:buClr>
                <a:schemeClr val="dk1"/>
              </a:buClr>
              <a:buSzPct val="100000"/>
              <a:buChar char="•"/>
            </a:pPr>
            <a:r>
              <a:rPr lang="en-ID"/>
              <a:t>Aplikasi web yang merekomendasikan buku pelajaran berdasarkan deskripsi bebas dari siswa</a:t>
            </a:r>
            <a:endParaRPr lang="en-ID"/>
          </a:p>
          <a:p>
            <a:pPr marL="685800" lvl="1" indent="-228600" algn="l" rtl="0">
              <a:lnSpc>
                <a:spcPct val="90000"/>
              </a:lnSpc>
              <a:spcBef>
                <a:spcPts val="400"/>
              </a:spcBef>
              <a:spcAft>
                <a:spcPts val="0"/>
              </a:spcAft>
              <a:buClr>
                <a:schemeClr val="dk1"/>
              </a:buClr>
              <a:buSzPct val="100000"/>
              <a:buChar char="•"/>
            </a:pPr>
            <a:r>
              <a:rPr lang="en-ID"/>
              <a:t>Stack: Frontend (HTML + CSS + JavaScript) + Backend FastAPI (Python) + Sentence Transformers</a:t>
            </a:r>
            <a:endParaRPr lang="en-ID"/>
          </a:p>
          <a:p>
            <a:pPr marL="0" lvl="0" indent="0" algn="l" rtl="0">
              <a:lnSpc>
                <a:spcPct val="90000"/>
              </a:lnSpc>
              <a:spcBef>
                <a:spcPts val="600"/>
              </a:spcBef>
              <a:spcAft>
                <a:spcPts val="0"/>
              </a:spcAft>
              <a:buNone/>
            </a:pPr>
          </a:p>
          <a:p>
            <a:pPr marL="228600" lvl="0" indent="-228600" algn="l" rtl="0">
              <a:lnSpc>
                <a:spcPct val="90000"/>
              </a:lnSpc>
              <a:spcBef>
                <a:spcPts val="800"/>
              </a:spcBef>
              <a:spcAft>
                <a:spcPts val="0"/>
              </a:spcAft>
              <a:buClr>
                <a:schemeClr val="dk1"/>
              </a:buClr>
              <a:buSzPct val="100000"/>
              <a:buChar char="•"/>
            </a:pPr>
            <a:r>
              <a:rPr lang="en-ID" b="1"/>
              <a:t>INPUT – Apa yang Dimasukkan Siswa:</a:t>
            </a:r>
            <a:endParaRPr lang="en-ID" b="1"/>
          </a:p>
          <a:p>
            <a:pPr marL="685800" lvl="1" indent="-228600" algn="l" rtl="0">
              <a:lnSpc>
                <a:spcPct val="90000"/>
              </a:lnSpc>
              <a:spcBef>
                <a:spcPts val="400"/>
              </a:spcBef>
              <a:spcAft>
                <a:spcPts val="0"/>
              </a:spcAft>
              <a:buClr>
                <a:schemeClr val="dk1"/>
              </a:buClr>
              <a:buSzPct val="100000"/>
              <a:buChar char="•"/>
            </a:pPr>
            <a:r>
              <a:rPr lang="en-ID"/>
              <a:t>Siswa menuliskan kebutuhan belajar dalam bentuk kalimat bebas di kolom textarea</a:t>
            </a:r>
            <a:endParaRPr lang="en-ID"/>
          </a:p>
          <a:p>
            <a:pPr marL="685800" lvl="1" indent="-228600" algn="l" rtl="0">
              <a:lnSpc>
                <a:spcPct val="90000"/>
              </a:lnSpc>
              <a:spcBef>
                <a:spcPts val="400"/>
              </a:spcBef>
              <a:spcAft>
                <a:spcPts val="0"/>
              </a:spcAft>
              <a:buClr>
                <a:schemeClr val="dk1"/>
              </a:buClr>
              <a:buSzPct val="100000"/>
              <a:buChar char="•"/>
            </a:pPr>
            <a:r>
              <a:rPr lang="en-ID"/>
              <a:t>Contoh: “Saya ingin belajar tentang sel, jaringan tubuh, dan sistem pencernaan manusia”</a:t>
            </a:r>
            <a:endParaRPr lang="en-ID"/>
          </a:p>
          <a:p>
            <a:pPr marL="685800" lvl="1" indent="-228600" algn="l" rtl="0">
              <a:lnSpc>
                <a:spcPct val="90000"/>
              </a:lnSpc>
              <a:spcBef>
                <a:spcPts val="400"/>
              </a:spcBef>
              <a:spcAft>
                <a:spcPts val="0"/>
              </a:spcAft>
              <a:buClr>
                <a:schemeClr val="dk1"/>
              </a:buClr>
              <a:buSzPct val="100000"/>
              <a:buChar char="•"/>
            </a:pPr>
            <a:r>
              <a:rPr lang="en-ID"/>
              <a:t>Tidak perlu memilih kategori atau kelas – cukup deskripsikan topik yang ingin dipelajari</a:t>
            </a:r>
            <a:endParaRPr lang="en-ID"/>
          </a:p>
          <a:p>
            <a:pPr marL="685800" lvl="1" indent="-228600" algn="l" rtl="0">
              <a:lnSpc>
                <a:spcPct val="90000"/>
              </a:lnSpc>
              <a:spcBef>
                <a:spcPts val="400"/>
              </a:spcBef>
              <a:spcAft>
                <a:spcPts val="0"/>
              </a:spcAft>
              <a:buClr>
                <a:schemeClr val="dk1"/>
              </a:buClr>
              <a:buSzPct val="100000"/>
              <a:buChar char="•"/>
            </a:pPr>
            <a:r>
              <a:rPr lang="en-ID"/>
              <a:t>Teks dikirim ke backend via HTTP POST /recommend sebagai JSON: { "text": "..." }</a:t>
            </a:r>
            <a:endParaRPr lang="en-ID"/>
          </a:p>
          <a:p>
            <a:pPr marL="0" lvl="0" indent="0" algn="l" rtl="0">
              <a:lnSpc>
                <a:spcPct val="90000"/>
              </a:lnSpc>
              <a:spcBef>
                <a:spcPts val="600"/>
              </a:spcBef>
              <a:spcAft>
                <a:spcPts val="0"/>
              </a:spcAft>
              <a:buNone/>
            </a:pPr>
          </a:p>
          <a:p>
            <a:pPr marL="228600" lvl="0" indent="-228600" algn="l" rtl="0">
              <a:lnSpc>
                <a:spcPct val="90000"/>
              </a:lnSpc>
              <a:spcBef>
                <a:spcPts val="800"/>
              </a:spcBef>
              <a:spcAft>
                <a:spcPts val="0"/>
              </a:spcAft>
              <a:buClr>
                <a:schemeClr val="dk1"/>
              </a:buClr>
              <a:buSzPct val="100000"/>
              <a:buChar char="•"/>
            </a:pPr>
            <a:r>
              <a:rPr lang="en-ID" b="1"/>
              <a:t>PROSES – Yang Terjadi di Backend (main.py):</a:t>
            </a:r>
            <a:endParaRPr lang="en-ID" b="1"/>
          </a:p>
          <a:p>
            <a:pPr marL="685800" lvl="1" indent="-228600" algn="l" rtl="0">
              <a:lnSpc>
                <a:spcPct val="90000"/>
              </a:lnSpc>
              <a:spcBef>
                <a:spcPts val="400"/>
              </a:spcBef>
              <a:spcAft>
                <a:spcPts val="0"/>
              </a:spcAft>
              <a:buClr>
                <a:schemeClr val="dk1"/>
              </a:buClr>
              <a:buSzPct val="100000"/>
              <a:buChar char="•"/>
            </a:pPr>
            <a:r>
              <a:rPr lang="en-ID"/>
              <a:t>Model all-MiniLM-L6-v2 mengubah teks query menjadi vektor embedding berdimensi 384</a:t>
            </a:r>
            <a:endParaRPr lang="en-ID"/>
          </a:p>
          <a:p>
            <a:pPr marL="685800" lvl="1" indent="-228600" algn="l" rtl="0">
              <a:lnSpc>
                <a:spcPct val="90000"/>
              </a:lnSpc>
              <a:spcBef>
                <a:spcPts val="400"/>
              </a:spcBef>
              <a:spcAft>
                <a:spcPts val="0"/>
              </a:spcAft>
              <a:buClr>
                <a:schemeClr val="dk1"/>
              </a:buClr>
              <a:buSzPct val="100000"/>
              <a:buChar char="•"/>
            </a:pPr>
            <a:r>
              <a:rPr lang="en-ID"/>
              <a:t>Cosine similarity dihitung antara vektor query dan 50 vektor deskripsi buku dalam database</a:t>
            </a:r>
            <a:endParaRPr lang="en-ID"/>
          </a:p>
          <a:p>
            <a:pPr marL="685800" lvl="1" indent="-228600" algn="l" rtl="0">
              <a:lnSpc>
                <a:spcPct val="90000"/>
              </a:lnSpc>
              <a:spcBef>
                <a:spcPts val="400"/>
              </a:spcBef>
              <a:spcAft>
                <a:spcPts val="0"/>
              </a:spcAft>
              <a:buClr>
                <a:schemeClr val="dk1"/>
              </a:buClr>
              <a:buSzPct val="100000"/>
              <a:buChar char="•"/>
            </a:pPr>
            <a:r>
              <a:rPr lang="en-ID"/>
              <a:t>Hasil diurutkan dari tertinggi ke terendah, 3 buku teratas dipilih sebagai rekomendasi</a:t>
            </a:r>
            <a:endParaRPr lang="en-ID"/>
          </a:p>
          <a:p>
            <a:pPr marL="0" lvl="0" indent="0" algn="l" rtl="0">
              <a:lnSpc>
                <a:spcPct val="90000"/>
              </a:lnSpc>
              <a:spcBef>
                <a:spcPts val="600"/>
              </a:spcBef>
              <a:spcAft>
                <a:spcPts val="0"/>
              </a:spcAft>
              <a:buNone/>
            </a:pPr>
          </a:p>
          <a:p>
            <a:pPr marL="228600" lvl="0" indent="-228600" algn="l" rtl="0">
              <a:lnSpc>
                <a:spcPct val="90000"/>
              </a:lnSpc>
              <a:spcBef>
                <a:spcPts val="800"/>
              </a:spcBef>
              <a:spcAft>
                <a:spcPts val="0"/>
              </a:spcAft>
              <a:buClr>
                <a:schemeClr val="dk1"/>
              </a:buClr>
              <a:buSzPct val="100000"/>
              <a:buChar char="•"/>
            </a:pPr>
            <a:r>
              <a:rPr lang="en-ID" b="1"/>
              <a:t>OUTPUT – Apa yang Ditampilkan ke Siswa:</a:t>
            </a:r>
            <a:endParaRPr lang="en-ID" b="1"/>
          </a:p>
          <a:p>
            <a:pPr marL="685800" lvl="1" indent="-228600" algn="l" rtl="0">
              <a:lnSpc>
                <a:spcPct val="90000"/>
              </a:lnSpc>
              <a:spcBef>
                <a:spcPts val="400"/>
              </a:spcBef>
              <a:spcAft>
                <a:spcPts val="0"/>
              </a:spcAft>
              <a:buClr>
                <a:schemeClr val="dk1"/>
              </a:buClr>
              <a:buSzPct val="100000"/>
              <a:buChar char="•"/>
            </a:pPr>
            <a:r>
              <a:rPr lang="en-ID"/>
              <a:t>3 kartu buku ditampilkan: judul, penulis, deskripsi isi buku, dan persentase kemiripan (match)</a:t>
            </a:r>
            <a:endParaRPr lang="en-ID"/>
          </a:p>
          <a:p>
            <a:pPr marL="685800" lvl="1" indent="-228600" algn="l" rtl="0">
              <a:lnSpc>
                <a:spcPct val="90000"/>
              </a:lnSpc>
              <a:spcBef>
                <a:spcPts val="400"/>
              </a:spcBef>
              <a:spcAft>
                <a:spcPts val="0"/>
              </a:spcAft>
              <a:buClr>
                <a:schemeClr val="dk1"/>
              </a:buClr>
              <a:buSzPct val="100000"/>
              <a:buChar char="•"/>
            </a:pPr>
            <a:r>
              <a:rPr lang="en-ID"/>
              <a:t>Skor match dihitung: int(cosine_score * 100)% – contoh: skor 0.72 → ditampilkan sebagai "72%"</a:t>
            </a:r>
            <a:endParaRPr lang="en-ID"/>
          </a:p>
          <a:p>
            <a:pPr marL="685800" lvl="1" indent="-228600" algn="l" rtl="0">
              <a:lnSpc>
                <a:spcPct val="90000"/>
              </a:lnSpc>
              <a:spcBef>
                <a:spcPts val="400"/>
              </a:spcBef>
              <a:spcAft>
                <a:spcPts val="0"/>
              </a:spcAft>
              <a:buClr>
                <a:schemeClr val="dk1"/>
              </a:buClr>
              <a:buSzPct val="100000"/>
              <a:buChar char="•"/>
            </a:pPr>
            <a:r>
              <a:rPr lang="en-ID"/>
              <a:t>Contoh hasil untuk query biologi: Biologi Kelas XI (72%), Biologi Kelas XII (68%), Biologi Kelas X (61%)</a:t>
            </a:r>
            <a:endParaRPr lang="en-ID"/>
          </a:p>
          <a:p>
            <a:pPr marL="685800" lvl="1" indent="-228600" algn="l" rtl="0">
              <a:lnSpc>
                <a:spcPct val="90000"/>
              </a:lnSpc>
              <a:spcBef>
                <a:spcPts val="400"/>
              </a:spcBef>
              <a:spcAft>
                <a:spcPts val="0"/>
              </a:spcAft>
              <a:buClr>
                <a:schemeClr val="dk1"/>
              </a:buClr>
              <a:buSzPct val="100000"/>
              <a:buChar char="•"/>
            </a:pPr>
            <a:r>
              <a:rPr lang="en-ID"/>
              <a:t>Tampilan responsif – dapat diakses dari browser desktop maupun mobile</a:t>
            </a:r>
            <a:endParaRPr lang="en-ID"/>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202" name="Shape 202"/>
        <p:cNvGrpSpPr/>
        <p:nvPr/>
      </p:nvGrpSpPr>
      <p:grpSpPr>
        <a:xfrm>
          <a:off x="0" y="0"/>
          <a:ext cx="0" cy="0"/>
          <a:chOff x="0" y="0"/>
          <a:chExt cx="0" cy="0"/>
        </a:xfrm>
      </p:grpSpPr>
      <p:sp>
        <p:nvSpPr>
          <p:cNvPr id="203" name="Google Shape;203;p26"/>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panose="020F0502020204030204"/>
              <a:buNone/>
            </a:pPr>
            <a:r>
              <a:rPr lang="en-ID"/>
              <a:t>Kesimpulan</a:t>
            </a:r>
            <a:endParaRPr lang="en-ID"/>
          </a:p>
        </p:txBody>
      </p:sp>
      <p:sp>
        <p:nvSpPr>
          <p:cNvPr id="204" name="Google Shape;204;p26"/>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lnSpcReduction="20000"/>
          </a:bodyPr>
          <a:lstStyle/>
          <a:p>
            <a:pPr marL="228600" lvl="0" indent="0" algn="l" rtl="0">
              <a:spcBef>
                <a:spcPts val="1000"/>
              </a:spcBef>
              <a:spcAft>
                <a:spcPts val="0"/>
              </a:spcAft>
              <a:buClr>
                <a:schemeClr val="dk1"/>
              </a:buClr>
              <a:buSzPts val="1100"/>
              <a:buFont typeface="Arial" panose="020B0604020202020204"/>
              <a:buNone/>
            </a:pPr>
            <a:r>
              <a:rPr lang="en-ID"/>
              <a:t>1.</a:t>
            </a:r>
            <a:r>
              <a:rPr lang="en-ID"/>
              <a:t>Sistem rekomendasi dapat membantu siswa menemukan buku yang sesuai kebutuhan belajar.</a:t>
            </a:r>
            <a:br>
              <a:rPr lang="en-ID"/>
            </a:br>
            <a:endParaRPr lang="en-ID"/>
          </a:p>
          <a:p>
            <a:pPr marL="228600" lvl="0" indent="0" algn="l" rtl="0">
              <a:spcBef>
                <a:spcPts val="1000"/>
              </a:spcBef>
              <a:spcAft>
                <a:spcPts val="0"/>
              </a:spcAft>
              <a:buClr>
                <a:schemeClr val="dk1"/>
              </a:buClr>
              <a:buSzPts val="1100"/>
              <a:buFont typeface="Arial" panose="020B0604020202020204"/>
              <a:buNone/>
            </a:pPr>
            <a:r>
              <a:rPr lang="en-ID"/>
              <a:t>2.Content-Based Filtering efektif untuk personalisasi berbasis konten buku.</a:t>
            </a:r>
            <a:br>
              <a:rPr lang="en-ID"/>
            </a:br>
            <a:endParaRPr lang="en-ID"/>
          </a:p>
          <a:p>
            <a:pPr marL="228600" lvl="0" indent="0" algn="l" rtl="0">
              <a:spcBef>
                <a:spcPts val="1000"/>
              </a:spcBef>
              <a:spcAft>
                <a:spcPts val="0"/>
              </a:spcAft>
              <a:buNone/>
            </a:pPr>
            <a:r>
              <a:rPr lang="en-ID"/>
              <a:t>3.Solusi ini mendukung SDG 4 – Quality Education dari United Nations.</a:t>
            </a:r>
            <a:endParaRPr lang="en-ID"/>
          </a:p>
          <a:p>
            <a:pPr marL="228600" lvl="0" indent="0" algn="l" rtl="0">
              <a:spcBef>
                <a:spcPts val="1000"/>
              </a:spcBef>
              <a:spcAft>
                <a:spcPts val="0"/>
              </a:spcAft>
              <a:buClr>
                <a:schemeClr val="dk1"/>
              </a:buClr>
              <a:buSzPts val="1100"/>
              <a:buFont typeface="Arial" panose="020B0604020202020204"/>
              <a:buNone/>
            </a:pPr>
          </a:p>
          <a:p>
            <a:pPr marL="228600" lvl="0" indent="0" algn="l" rtl="0">
              <a:spcBef>
                <a:spcPts val="1000"/>
              </a:spcBef>
              <a:spcAft>
                <a:spcPts val="0"/>
              </a:spcAft>
              <a:buClr>
                <a:schemeClr val="dk1"/>
              </a:buClr>
              <a:buSzPts val="1100"/>
              <a:buFont typeface="Arial" panose="020B0604020202020204"/>
              <a:buNone/>
            </a:pPr>
            <a:r>
              <a:rPr lang="en-ID"/>
              <a:t>4.AI dapat digunakan untuk meningkatkan kualitas dan akses pembelajaran.</a:t>
            </a:r>
            <a:endParaRPr lang="en-ID"/>
          </a:p>
          <a:p>
            <a:pPr marL="228600" lvl="0" indent="0" algn="l" rtl="0">
              <a:lnSpc>
                <a:spcPct val="90000"/>
              </a:lnSpc>
              <a:spcBef>
                <a:spcPts val="1000"/>
              </a:spcBef>
              <a:spcAft>
                <a:spcPts val="0"/>
              </a:spcAft>
              <a:buNone/>
            </a:p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208" name="Shape 208"/>
        <p:cNvGrpSpPr/>
        <p:nvPr/>
      </p:nvGrpSpPr>
      <p:grpSpPr>
        <a:xfrm>
          <a:off x="0" y="0"/>
          <a:ext cx="0" cy="0"/>
          <a:chOff x="0" y="0"/>
          <a:chExt cx="0" cy="0"/>
        </a:xfrm>
      </p:grpSpPr>
      <p:sp>
        <p:nvSpPr>
          <p:cNvPr id="209" name="Google Shape;209;p27"/>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panose="020F0502020204030204"/>
              <a:buNone/>
            </a:pPr>
            <a:r>
              <a:rPr lang="en-ID"/>
              <a:t>Progam</a:t>
            </a:r>
            <a:endParaRPr lang="en-ID"/>
          </a:p>
        </p:txBody>
      </p:sp>
      <p:sp>
        <p:nvSpPr>
          <p:cNvPr id="210" name="Google Shape;210;p27"/>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ID"/>
              <a:t>&lt;link github&gt;</a:t>
            </a:r>
            <a:endParaRPr lang="en-ID"/>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9366</Words>
  <Application>WPS Presentation</Application>
  <PresentationFormat/>
  <Paragraphs>231</Paragraphs>
  <Slides>15</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15</vt:i4>
      </vt:variant>
    </vt:vector>
  </HeadingPairs>
  <TitlesOfParts>
    <vt:vector size="24" baseType="lpstr">
      <vt:lpstr>Arial</vt:lpstr>
      <vt:lpstr>SimSun</vt:lpstr>
      <vt:lpstr>Wingdings</vt:lpstr>
      <vt:lpstr>Arial</vt:lpstr>
      <vt:lpstr>Calibri</vt:lpstr>
      <vt:lpstr>Roboto</vt:lpstr>
      <vt:lpstr>Microsoft YaHei</vt:lpstr>
      <vt:lpstr>Arial Unicode MS</vt:lpstr>
      <vt:lpstr>Office Theme</vt:lpstr>
      <vt:lpstr>&lt;&lt;Perancangan Sistem Rekomendasi Buku Pembelajaran Berbasis Content-Based Filtering untuk Meningkatkan Kualitas Belajar Siswa SMA”&gt;&gt;</vt:lpstr>
      <vt:lpstr>Petunjuk Pengisian</vt:lpstr>
      <vt:lpstr>AI Project Cycle</vt:lpstr>
      <vt:lpstr>Pembatasan Masalah</vt:lpstr>
      <vt:lpstr>Metode 4W Canvas</vt:lpstr>
      <vt:lpstr>Akuisisi Data</vt:lpstr>
      <vt:lpstr>Akuisisi Data – Dataset yang Digunakan</vt:lpstr>
      <vt:lpstr>Eksplorasi Data</vt:lpstr>
      <vt:lpstr>Eksplorasi Data – Visualisasi &amp; Cara Kerja Embedding</vt:lpstr>
      <vt:lpstr>Metode – Sentence Transformers &amp; Semantic Search</vt:lpstr>
      <vt:lpstr>Pemodelan – Alur Sistem &amp; Arsitektur Aplikasi</vt:lpstr>
      <vt:lpstr>Evaluasi Model</vt:lpstr>
      <vt:lpstr>Hasil Program – BookVibe AI</vt:lpstr>
      <vt:lpstr>Kesimpulan</vt:lpstr>
      <vt:lpstr>Progam</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&lt;&lt;Perancangan Sistem Rekomendasi Buku Pembelajaran Berbasis Content-Based Filtering untuk Meningkatkan Kualitas Belajar Siswa SMA”&gt;&gt;</dc:title>
  <dc:creator/>
  <cp:lastModifiedBy>ROG</cp:lastModifiedBy>
  <cp:revision>1</cp:revision>
  <dcterms:created xsi:type="dcterms:W3CDTF">2026-06-13T07:32:48Z</dcterms:created>
  <dcterms:modified xsi:type="dcterms:W3CDTF">2026-06-13T07:32:50Z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1033-12.1.0.26880</vt:lpwstr>
  </property>
  <property fmtid="{D5CDD505-2E9C-101B-9397-08002B2CF9AE}" pid="3" name="ICV">
    <vt:lpwstr>1169C2FD6CEF47CBBC849BCE0F0765A4_12</vt:lpwstr>
  </property>
</Properties>
</file>